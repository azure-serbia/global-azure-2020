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9914" r:id="rId3"/>
    <p:sldId id="9913" r:id="rId4"/>
    <p:sldId id="9900" r:id="rId5"/>
    <p:sldId id="9911" r:id="rId6"/>
    <p:sldId id="8558" r:id="rId7"/>
    <p:sldId id="9922" r:id="rId8"/>
    <p:sldId id="9916" r:id="rId9"/>
    <p:sldId id="9910" r:id="rId10"/>
    <p:sldId id="9906" r:id="rId11"/>
    <p:sldId id="9918" r:id="rId12"/>
    <p:sldId id="9919" r:id="rId13"/>
    <p:sldId id="9921" r:id="rId14"/>
    <p:sldId id="8611" r:id="rId15"/>
    <p:sldId id="9902" r:id="rId16"/>
    <p:sldId id="8559" r:id="rId17"/>
    <p:sldId id="9904" r:id="rId18"/>
    <p:sldId id="258" r:id="rId19"/>
    <p:sldId id="9908" r:id="rId20"/>
    <p:sldId id="9912" r:id="rId21"/>
    <p:sldId id="9915" r:id="rId22"/>
    <p:sldId id="257" r:id="rId23"/>
    <p:sldId id="9905" r:id="rId24"/>
    <p:sldId id="992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5" autoAdjust="0"/>
    <p:restoredTop sz="94660"/>
  </p:normalViewPr>
  <p:slideViewPr>
    <p:cSldViewPr snapToGrid="0">
      <p:cViewPr varScale="1">
        <p:scale>
          <a:sx n="62" d="100"/>
          <a:sy n="62" d="100"/>
        </p:scale>
        <p:origin x="8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5:24:10.228"/>
    </inkml:context>
    <inkml:brush xml:id="br0">
      <inkml:brushProperty name="width" value="0.05" units="cm"/>
      <inkml:brushProperty name="height" value="0.05" units="cm"/>
    </inkml:brush>
  </inkml:definitions>
  <inkml:trace contextRef="#ctx0" brushRef="#br0">25 1 5569,'-15'20'-344,"5"-8"768,10-3-2152,13-3 216,4-6-41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0:58.979"/>
    </inkml:context>
    <inkml:brush xml:id="br0">
      <inkml:brushProperty name="width" value="0.2" units="cm"/>
      <inkml:brushProperty name="height" value="0.2" units="cm"/>
    </inkml:brush>
  </inkml:definitions>
  <inkml:trace contextRef="#ctx0" brushRef="#br0">1 3445 8570,'5'-17'138,"0"1"-1,1 0 1,1 0 0,1 1 0,0 0 0,1 0-1,1 1 1,0 0 0,1 0 0,1 1 0,0 1 0,9-8-138,4-2 175,43-37 496,30-18-671,319-227 954,-169 118-332,-93 68-277,294-202 212,29 1-503,-19 12 315,-18-2 162,-63 12-254,-366 287-262,327-267 692,-256 207-541,143-118 73,-113 102-286,123-72 47,-211 144-6,-2 1 11,0-2 0,0 0-5,-17 11 1,-1-1 1,0 1-1,0-1 0,-1 1 1,1-1-1,-1-1 1,0 1-1,0-1 0,-1 1 1,2-4-2,-4 7-91,0 0 0,0 0 1,0 0-1,1 0 0,-1 0 1,1 0-1,-1 1 0,1-1 1,1-1 90,11-2-3696,-5 8 725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0.275"/>
    </inkml:context>
    <inkml:brush xml:id="br0">
      <inkml:brushProperty name="width" value="0.2" units="cm"/>
      <inkml:brushProperty name="height" value="0.2" units="cm"/>
    </inkml:brush>
  </inkml:definitions>
  <inkml:trace contextRef="#ctx0" brushRef="#br0">0 1 6249,'0'1'108,"1"1"0,-1 0 1,0-1-1,1 1 0,-1-1 0,1 1 0,0-1 0,-1 0 0,1 1 0,0-1 0,0 1 0,0-1 0,0 0 0,0 0 0,0 0 0,0 0 1,0 1-1,1-1 0,-1-1 0,1 2-108,32 13 681,-21-10-838,30 12 148,2-2 0,0-1-1,1-3 1,0-2 0,13 1 9,6-4 463,1-3 1,-1-3 0,7-3-464,242-31 1531,-168 17-1247,-145 17-284,-1 0 1,0 0-1,0 0 1,0 0-1,0 0 1,1 0-1,-1 0 1,0 0-1,0 0 1,0 0-1,0 0 1,1 0-1,-1 0 1,0 0-1,0 0 1,0 0-1,0 0 1,0 0-1,1 0 1,-1 1-1,0-1 1,0 0 0,0 0-1,0 0 1,0 0-1,0 0 1,0 0-1,1 1 1,-1-1-1,0 0 1,0 0-1,0 0 1,0 0-1,0 0 1,0 1-1,0-1 1,0 0-1,0 0 1,0 0-1,0 0 1,0 1-1,0-1 1,0 0-1,0 0 1,0 0-1,0 0 1,0 1-1,0-1 1,0 0 0,0 0-1,0 0 1,0 0-1,-1 1 1,1-1-1,0 0 1,0 0-1,0 0 1,0 0-1,0 0 1,0 0-1,0 1 1,-1-1-1,1 0 1,0 0-1,0 0 1,0 0-1,0 0 1,-1 0-1,-9 12 8,9-11-6,-9 11-1,0 1 0,0 1 1,1-1-1,1 1 0,0 1 0,1 0 1,-4 9-2,-7 29 5,-7 35-5,4-16 1,-171 549 55,190-615-43,0 1 0,0 0 0,1 0 0,0 1 0,0-1 0,1 0 0,0 5-13,0-11-75,0 1 1,0 0 0,1 0-1,-1 0 1,1-1 0,-1 1 0,1 0-1,0-1 1,-1 1 0,1-1 0,0 1-1,0 0 1,0-1 0,1 0-1,-1 1 1,0-1 0,0 0 0,1 0-1,-1 1 1,1-1 0,-1 0-1,1-1 1,-1 1 0,1 0 0,0 0-1,-1-1 1,1 1 0,0-1 0,1 1 73,15 0-2304,-3-6-424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1.492"/>
    </inkml:context>
    <inkml:brush xml:id="br0">
      <inkml:brushProperty name="width" value="0.2" units="cm"/>
      <inkml:brushProperty name="height" value="0.2" units="cm"/>
    </inkml:brush>
  </inkml:definitions>
  <inkml:trace contextRef="#ctx0" brushRef="#br0">69 559 3345,'-67'10'5229,"67"-9"-5224,0-1 0,0 0 1,-1 0-1,1 0 0,0 1 1,0-1-1,0 0 0,0 0 1,0 0-1,0 1 0,0-1 1,0 0-1,0 0 0,0 1 1,0-1-1,0 0 0,0 0 1,0 1-1,0-1 0,0 0 1,0 0-1,0 0 0,0 1 1,0-1-1,0 0 0,0 0 1,0 1-1,1-1 0,-1 0 1,0 0-1,0 0 0,0 0 1,0 1-1,1-1 0,-1 0 1,0 0-1,0 0 0,0 0 1,0 0-1,1 1 0,-1-1 1,0 0-1,0 0 0,1 0 1,-1 0-1,0 0 0,0 0 1,0 0-1,1 0-5,12 10-65,-2-3 57,1-1 1,0 0-1,0-1 0,1 0 1,0-1-1,-1-1 1,2 0-1,-1 0 1,3-1 7,10 0 67,-1-2 1,0 0 0,1-2 0,16-3-68,207-42 569,-64 9-148,30 6 504,41 6-925,128 7 469,-215 13-358,418-34 69,-378 13 565,160-43-745,160-53 1366,-20 16-883,-376 87-465,-36 7-111,-92 12-40,1 0 0,-1 0-1,1-1 1,-1 1 0,4-3 133,-7 3-191,-1 0 0,0 1 1,0-1-1,1 0 0,-1 0 0,0 0 1,0 0-1,0 0 0,0 0 0,0 0 1,0-1-1,0 1 0,-1 0 1,1 0-1,0-1 0,-1 1 0,1-1 1,-1 1-1,1 0 0,-1-1 0,0 1 1,1-1 190,0-20-2856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1.881"/>
    </inkml:context>
    <inkml:brush xml:id="br0">
      <inkml:brushProperty name="width" value="0.2" units="cm"/>
      <inkml:brushProperty name="height" value="0.2" units="cm"/>
    </inkml:brush>
  </inkml:definitions>
  <inkml:trace contextRef="#ctx0" brushRef="#br0">0 0 9626,'27'11'1165,"1"-1"0,0-2 1,0-1-1,20 3-1165,31 7 149,63 22-536,-2 6 0,76 39 387,-132-47-67,-3 4 0,-1 4 0,-2 3 0,53 44 67,-116-81 52,-1 0 0,-1 1 0,0 0 0,0 2 0,-2-1 0,4 6-52,-14-17 19,1 0 0,-1 1 0,1 0 0,-1-1 0,0 1 0,0 0 0,0-1 0,-1 1 0,1 0 0,-1 0 0,1 0 0,-1 0 0,0 0 0,0 0 0,0 0 0,0-1 0,-1 1 0,1 0 0,-1 0 1,0 0-1,0 0 0,0-1 0,0 1 0,0 0 0,-1-1 0,1 1 0,-1-1 0,1 1 0,-1-1 0,0 0 0,0 0 0,0 0 0,0 0 0,-1 0-19,-9 8 69,0 0-1,-1-1 0,0 0 1,-1-1-1,-10 4-68,24-12 0,-67 31 81,-1-2 1,-2-3-1,-56 12-81,-220 40-279,263-61 49,15-3-139,-107 25-2890,76-13 515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2.544"/>
    </inkml:context>
    <inkml:brush xml:id="br0">
      <inkml:brushProperty name="width" value="0.2" units="cm"/>
      <inkml:brushProperty name="height" value="0.2" units="cm"/>
    </inkml:brush>
  </inkml:definitions>
  <inkml:trace contextRef="#ctx0" brushRef="#br0">6 31 5361,'-1'-1'66,"0"1"1,1-1-1,0 0 0,-1 1 0,1-1 1,-1 0-1,1 1 0,0-1 1,0 0-1,-1 1 0,1-1 0,0 0 1,0 0-1,0 1 0,0-1 0,0 0 1,0 0-1,0 1 0,0-1 0,0 0 1,0 0-1,0 1 0,0-1 1,0 0-1,1 1 0,-1-1 0,0 0 1,1 1-1,-1-1 0,0 0 0,1 1 1,-1-1-1,1 0 0,-1 1 0,1-1 1,-1 1-1,1-1 0,0 1 1,-1-1-1,1 1 0,-1 0 0,1-1 1,0 1-1,-1 0 0,1-1 0,0 1 1,0 0-1,-1 0 0,1 0 0,0 0 1,0-1-1,-1 1 0,1 0-66,7 0 40,0 0 0,1 0 0,-1 0-1,0 1 1,1 1-40,-6-2 21,43 8 145,0 2 0,0 2 0,43 19-166,128 61 877,182 115 685,-399-207-1560,477 270 1474,-346-200-914,3-6 0,140 45-562,-26-34 394,117 13-394,26-10 110,-200-42-69,250 59 40,-232-49-46,-155-35-545,0-2 1,1-3 0,0-2 0,0-3 0,0-2-1,33-5 510,12-2-4867,-57 5 1690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2.941"/>
    </inkml:context>
    <inkml:brush xml:id="br0">
      <inkml:brushProperty name="width" value="0.2" units="cm"/>
      <inkml:brushProperty name="height" value="0.2" units="cm"/>
    </inkml:brush>
  </inkml:definitions>
  <inkml:trace contextRef="#ctx0" brushRef="#br0">675 1 10010,'4'6'404,"-1"1"1,1-1-1,1 0 0,-1 0 0,1 0 0,0-1 1,1 0-1,-1 0 0,1 0 0,0-1 0,3 3-404,21 17-144,5 9-90,-1 2 0,-2 2 0,-2 1 0,-2 1 0,-1 1 0,-2 1 0,-1 2 0,7 22 234,-10-15-23,-3-1 0,-1 2 0,-3 1 0,-2-1 0,-3 2 0,-1 0 0,-1 36 23,-6-65 255,0 0-1,-2-1 1,-1 1 0,0 0 0,-2-1 0,-1 0 0,-5 14-255,8-32 79,0 0 1,0 0-1,-1 0 0,0-1 0,0 1 1,0-1-1,0 0 0,-1 0 1,0 0-1,0 0 0,0-1 1,0 0-1,0 1 0,-2-1-79,-3 2 67,0 0 0,0-1 0,-1 0 1,1-1-1,-1 0 0,0 0 0,-5 0-67,-14 0 39,-1 0-1,1-2 1,-1-1 0,-20-3-39,-68-11-320,-100-25 320,63 9-548,-109-11-4519,203 31 2053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3.627"/>
    </inkml:context>
    <inkml:brush xml:id="br0">
      <inkml:brushProperty name="width" value="0.2" units="cm"/>
      <inkml:brushProperty name="height" value="0.2" units="cm"/>
    </inkml:brush>
  </inkml:definitions>
  <inkml:trace contextRef="#ctx0" brushRef="#br0">1 5 6217,'1'0'139,"-1"-1"0,1 1 1,0-1-1,-1 1 0,1 0 0,0-1 0,-1 1 0,1 0 0,0-1 0,0 1 0,-1 0 0,1 0 0,0 0 0,0-1 0,0 1 0,0 0 1,-1 0-1,1 0 0,0 0 0,0 1 0,0-1 0,-1 0 0,1 0 0,0 0 0,0 1-139,19 13 1533,-12-9-1586,47 41 640,-2 1-1,12 17-586,97 112 838,-53-57-229,-90-99-502,84 90 792,5-4 0,39 24-899,9-10 707,4-6-1,33 9-706,-67-52 388,36 10-388,138 49 210,305 115-71,-51-11-127,-171-62 7,-216-89-86,43 34 67,-164-88-96,-21-12-272,0-1 0,2-2 0,23 11 368,-45-24-295,0 0 0,0 1 1,-1-1-1,1-1 0,0 1 0,0-1 0,0 0 1,0 0-1,0 0 0,0-1 0,0 0 0,0 0 1,-1 0-1,1 0 0,0-1 0,-1 0 1,1 0-1,-1 0 0,1 0 0,-1-1 0,0 0 1,0 0-1,0 0 0,0-1 295,30-30-3769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1-15T06:31:04.177"/>
    </inkml:context>
    <inkml:brush xml:id="br0">
      <inkml:brushProperty name="width" value="0.2" units="cm"/>
      <inkml:brushProperty name="height" value="0.2" units="cm"/>
    </inkml:brush>
  </inkml:definitions>
  <inkml:trace contextRef="#ctx0" brushRef="#br0">1452 0 7106,'4'52'1449,"3"0"0,1 0 0,7 15-1449,46 152-306,-26-102 631,4 19-314,34 133-13,41 298 3121,-114-545-2891,0-21-226,0-1 0,0 1 0,0-1 0,0 0 1,0 1-1,-1-1 0,1 0 0,0 1 1,0-1-1,-1 0 0,1 1 0,0-1 0,0 0 1,-1 0-1,1 1 0,0-1 0,-1 0 0,1 0 1,0 1-1,-1-1 0,1 0 0,-1 0 0,1 0 1,0 0-1,-1 0 0,1 1 0,-1-1-2,-2-1-4,0 1 0,-1-1-1,1 0 1,0 0 0,0 0-1,0 0 1,0 0 0,0-1 0,-1 0 4,1 1 2,-59-32-1,1-2-1,4 2 234,-18-6-234,23 17 182,-1 2 1,-1 3-1,0 2 0,-4 2-182,-226-34 609,78 15-311,103 13-225,-186-29 517,225 42-1046,0 2 0,0 3 0,-44 5 456,93-2-490,9-1-159,0-1 0,0 1 0,-1-1-1,1 0 1,-2-1 649,8 1-48,0 0 0,0 0 0,0 0-1,0 0 1,0 0 0,0 0 0,0 0-1,0 0 1,0 0 0,-1 0 0,1 0 0,0 0-1,0 0 1,0 0 0,0 0 0,0 0-1,0 0 1,0 0 0,0 0 0,0 0-1,0 0 1,0 0 0,-1 0 0,1 0 0,0 0-1,0 0 1,0 0 0,0-1 0,0 1-1,0 0 1,0 0 0,0 0 0,0 0 0,0 0-1,0 0 1,0 0 0,0 0 0,0 0-1,0 0 1,0 0 0,0-1 0,0 1-1,0 0 1,0 0 0,0 0 0,0 0 0,0 0-1,0 0 1,0 0 0,0 0 0,0 0-1,0 0 1,0-1 0,0 1 0,0 0-1,0 0 1,0 0 0,0 0 0,0 0 0,0 0-1,0 0 1,0 0 0,0 0 0,0 0-1,0 0 1,1 0 0,-1 0 48,7-7-3705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46902-D847-41FF-AE18-DE0DC84FDDDD}" type="datetimeFigureOut">
              <a:rPr lang="en-US" smtClean="0"/>
              <a:t>4/22/2020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2768FD-CBDA-4FD6-8688-AD534C4631A5}" type="slidenum">
              <a:rPr lang="en-US" smtClean="0"/>
              <a:t>‹#›</a:t>
            </a:fld>
            <a:endParaRPr lang="en-US"/>
          </a:p>
        </p:txBody>
      </p:sp>
    </p:spTree>
    <p:extLst>
      <p:ext uri="{BB962C8B-B14F-4D97-AF65-F5344CB8AC3E}">
        <p14:creationId xmlns:p14="http://schemas.microsoft.com/office/powerpoint/2010/main" val="2391885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containers exist somewhere between hosts and applications where neither application performance monitoring nor traditional infrastructure monitoring are effective.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Why </a:t>
            </a:r>
            <a:r>
              <a:rPr lang="en-US" sz="1200" b="0" i="0" kern="1200">
                <a:solidFill>
                  <a:schemeClr val="tx1"/>
                </a:solidFill>
                <a:effectLst/>
                <a:latin typeface="+mn-lt"/>
                <a:ea typeface="+mn-ea"/>
                <a:cs typeface="+mn-cs"/>
              </a:rPr>
              <a:t>is that</a:t>
            </a:r>
            <a:r>
              <a:rPr lang="en-US" sz="1200" b="0" i="0" kern="1200" dirty="0">
                <a:solidFill>
                  <a:schemeClr val="tx1"/>
                </a:solidFill>
                <a:effectLst/>
                <a:latin typeface="+mn-lt"/>
                <a:ea typeface="+mn-ea"/>
                <a:cs typeface="+mn-cs"/>
              </a:rPr>
              <a:t>? Containers are created to provide isolation and portability.  Container does not expose any metrics or logs to regular </a:t>
            </a:r>
            <a:r>
              <a:rPr lang="en-US" sz="1200" b="0" i="0" kern="1200" dirty="0" err="1">
                <a:solidFill>
                  <a:schemeClr val="tx1"/>
                </a:solidFill>
                <a:effectLst/>
                <a:latin typeface="+mn-lt"/>
                <a:ea typeface="+mn-ea"/>
                <a:cs typeface="+mn-cs"/>
              </a:rPr>
              <a:t>apm</a:t>
            </a:r>
            <a:r>
              <a:rPr lang="en-US" sz="1200" b="0" i="0" kern="1200" dirty="0">
                <a:solidFill>
                  <a:schemeClr val="tx1"/>
                </a:solidFill>
                <a:effectLst/>
                <a:latin typeface="+mn-lt"/>
                <a:ea typeface="+mn-ea"/>
                <a:cs typeface="+mn-cs"/>
              </a:rPr>
              <a:t> or host performance tools. If you using docker, docker metrics are exposed thru </a:t>
            </a:r>
            <a:r>
              <a:rPr lang="en-US" sz="1200" b="0" i="0" kern="1200" dirty="0" err="1">
                <a:solidFill>
                  <a:schemeClr val="tx1"/>
                </a:solidFill>
                <a:effectLst/>
                <a:latin typeface="+mn-lt"/>
                <a:ea typeface="+mn-ea"/>
                <a:cs typeface="+mn-cs"/>
              </a:rPr>
              <a:t>dockerd</a:t>
            </a:r>
            <a:r>
              <a:rPr lang="en-US" sz="1200" b="0" i="0" kern="1200" dirty="0">
                <a:solidFill>
                  <a:schemeClr val="tx1"/>
                </a:solidFill>
                <a:effectLst/>
                <a:latin typeface="+mn-lt"/>
                <a:ea typeface="+mn-ea"/>
                <a:cs typeface="+mn-cs"/>
              </a:rPr>
              <a:t> and you will need another monitoring tools for this. </a:t>
            </a:r>
            <a:endParaRPr lang="en-US" dirty="0"/>
          </a:p>
        </p:txBody>
      </p:sp>
      <p:sp>
        <p:nvSpPr>
          <p:cNvPr id="4" name="Slide Number Placeholder 3"/>
          <p:cNvSpPr>
            <a:spLocks noGrp="1"/>
          </p:cNvSpPr>
          <p:nvPr>
            <p:ph type="sldNum" sz="quarter" idx="10"/>
          </p:nvPr>
        </p:nvSpPr>
        <p:spPr/>
        <p:txBody>
          <a:bodyPr/>
          <a:lstStyle/>
          <a:p>
            <a:fld id="{F0D49101-BF6D-4950-99E3-0907E920F2DF}" type="slidenum">
              <a:rPr lang="en-US" smtClean="0"/>
              <a:t>9</a:t>
            </a:fld>
            <a:endParaRPr lang="en-US"/>
          </a:p>
        </p:txBody>
      </p:sp>
    </p:spTree>
    <p:extLst>
      <p:ext uri="{BB962C8B-B14F-4D97-AF65-F5344CB8AC3E}">
        <p14:creationId xmlns:p14="http://schemas.microsoft.com/office/powerpoint/2010/main" val="1364306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D49101-BF6D-4950-99E3-0907E920F2DF}" type="slidenum">
              <a:rPr lang="en-US" smtClean="0"/>
              <a:t>11</a:t>
            </a:fld>
            <a:endParaRPr lang="en-US"/>
          </a:p>
        </p:txBody>
      </p:sp>
    </p:spTree>
    <p:extLst>
      <p:ext uri="{BB962C8B-B14F-4D97-AF65-F5344CB8AC3E}">
        <p14:creationId xmlns:p14="http://schemas.microsoft.com/office/powerpoint/2010/main" val="27321290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0D49101-BF6D-4950-99E3-0907E920F2DF}" type="slidenum">
              <a:rPr lang="en-US" smtClean="0"/>
              <a:t>12</a:t>
            </a:fld>
            <a:endParaRPr lang="en-US"/>
          </a:p>
        </p:txBody>
      </p:sp>
    </p:spTree>
    <p:extLst>
      <p:ext uri="{BB962C8B-B14F-4D97-AF65-F5344CB8AC3E}">
        <p14:creationId xmlns:p14="http://schemas.microsoft.com/office/powerpoint/2010/main" val="76473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AppInfra</a:t>
            </a:r>
            <a:endParaRPr lang="en-US"/>
          </a:p>
        </p:txBody>
      </p:sp>
      <p:sp>
        <p:nvSpPr>
          <p:cNvPr id="4" name="Slide Number Placeholder 3"/>
          <p:cNvSpPr>
            <a:spLocks noGrp="1"/>
          </p:cNvSpPr>
          <p:nvPr>
            <p:ph type="sldNum" sz="quarter" idx="5"/>
          </p:nvPr>
        </p:nvSpPr>
        <p:spPr/>
        <p:txBody>
          <a:bodyPr/>
          <a:lstStyle/>
          <a:p>
            <a:fld id="{2642ABED-EDB0-453C-8B62-D96449B1430E}" type="slidenum">
              <a:rPr lang="en-US" smtClean="0"/>
              <a:t>14</a:t>
            </a:fld>
            <a:endParaRPr lang="en-US"/>
          </a:p>
        </p:txBody>
      </p:sp>
    </p:spTree>
    <p:extLst>
      <p:ext uri="{BB962C8B-B14F-4D97-AF65-F5344CB8AC3E}">
        <p14:creationId xmlns:p14="http://schemas.microsoft.com/office/powerpoint/2010/main" val="2602455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Container Insights have integrated with Prometheus. Using </a:t>
            </a:r>
            <a:r>
              <a:rPr lang="en-US" err="1"/>
              <a:t>configmap</a:t>
            </a:r>
            <a:r>
              <a:rPr lang="en-US"/>
              <a:t> settings, customer can scrap metrics from the Prometheus end-points by specifying pod annotation, URL/</a:t>
            </a:r>
            <a:r>
              <a:rPr lang="en-US" err="1"/>
              <a:t>ipaddress</a:t>
            </a:r>
            <a:r>
              <a:rPr lang="en-US"/>
              <a:t>, Kubernetes services without setting up a Prometheus server. This way, you can collect the Prometheus metrics without managing Prometheus server and the same Log Analytics agent will collect the rest of the monitoring data such as logs, events, </a:t>
            </a:r>
            <a:r>
              <a:rPr lang="en-US" err="1"/>
              <a:t>kubernetes</a:t>
            </a:r>
            <a:r>
              <a:rPr lang="en-US"/>
              <a:t> inventory, </a:t>
            </a:r>
            <a:r>
              <a:rPr lang="en-US" altLang="ja-JP"/>
              <a:t>and</a:t>
            </a:r>
            <a:r>
              <a:rPr lang="en-US"/>
              <a:t> etc. </a:t>
            </a:r>
          </a:p>
        </p:txBody>
      </p:sp>
      <p:sp>
        <p:nvSpPr>
          <p:cNvPr id="4" name="Slide Number Placeholder 3"/>
          <p:cNvSpPr>
            <a:spLocks noGrp="1"/>
          </p:cNvSpPr>
          <p:nvPr>
            <p:ph type="sldNum" sz="quarter" idx="5"/>
          </p:nvPr>
        </p:nvSpPr>
        <p:spPr/>
        <p:txBody>
          <a:bodyPr/>
          <a:lstStyle/>
          <a:p>
            <a:fld id="{10C0DB65-8681-4713-BFF6-CDAB1EA21285}" type="slidenum">
              <a:rPr lang="en-US" smtClean="0"/>
              <a:t>18</a:t>
            </a:fld>
            <a:endParaRPr lang="en-US"/>
          </a:p>
        </p:txBody>
      </p:sp>
    </p:spTree>
    <p:extLst>
      <p:ext uri="{BB962C8B-B14F-4D97-AF65-F5344CB8AC3E}">
        <p14:creationId xmlns:p14="http://schemas.microsoft.com/office/powerpoint/2010/main" val="1139648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13CEB-6C6B-401A-8C4D-2C71DAD2E5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187177-A8B0-4F96-B83F-B43661CB28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05889D-1E84-47E8-B1A0-1E36774FE2B5}"/>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40F56D31-3D80-4400-87C1-0DED0C4DC1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CAD844-6834-4920-87CE-0A77AD811AE6}"/>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2823957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A3080-1B6B-4E34-98CB-7AEE387F92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AE376B-482D-4202-97CB-F8F132228F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C4C8F1-DBD2-48F9-B84C-D4C63A88951A}"/>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1F3430B6-39E5-4620-9963-6060444F8D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BCA57-B5B5-4843-A999-89A9E65F9570}"/>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867811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A655E-C17E-49E0-815B-6A3F43542E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B300CF-7E8D-4752-88EE-CFA4B82A6C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77EDCA-6E54-44CE-AE43-128B28ABDA03}"/>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4A6E9E49-204F-4C73-BD28-5258E633E7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A6EF7-5003-4415-AA16-4A2AF8BA9F68}"/>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3701003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95E0D-1EF1-42BF-8AF1-599D691A8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4644D4-0B70-4DA8-90FC-28E98A5E72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8EC61B-6D21-4496-B31C-F0B8FE39C0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1389B9-00AB-4E02-A79D-030E5C4CC291}"/>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6" name="Footer Placeholder 5">
            <a:extLst>
              <a:ext uri="{FF2B5EF4-FFF2-40B4-BE49-F238E27FC236}">
                <a16:creationId xmlns:a16="http://schemas.microsoft.com/office/drawing/2014/main" id="{60080741-6F88-4C0E-814E-28C9AEDFC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633C02-7DFC-48FB-BED4-19A99EDABEB4}"/>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3678909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23A67-BF7E-43E2-8C61-CAC12432CE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2A27481-C862-4822-987D-734AB7771D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FF2F2A-B34E-4D45-B308-708E05B485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B7FD4E-293C-4116-AE6D-25B7BE130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E93E81-18B7-42D6-80EB-B1DA6E67BA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69D361-C5BC-4B18-82F3-A81F651A882F}"/>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8" name="Footer Placeholder 7">
            <a:extLst>
              <a:ext uri="{FF2B5EF4-FFF2-40B4-BE49-F238E27FC236}">
                <a16:creationId xmlns:a16="http://schemas.microsoft.com/office/drawing/2014/main" id="{6DBE1D2F-CC55-41ED-B6DB-89A9644E58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6C737CB-8C2C-4EA9-B947-535A0CD08688}"/>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4123068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FDCC2-B809-4D3F-96F8-7DF9262098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0FEBD2-9A21-4A76-BC3E-0DECEC9224CE}"/>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4" name="Footer Placeholder 3">
            <a:extLst>
              <a:ext uri="{FF2B5EF4-FFF2-40B4-BE49-F238E27FC236}">
                <a16:creationId xmlns:a16="http://schemas.microsoft.com/office/drawing/2014/main" id="{4225844D-38C4-49B5-8193-154442323F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53F7E1-8AFF-4139-9BA0-1147190D3005}"/>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379404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2DB219-A44A-4B48-9A0B-CC414637A257}"/>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3" name="Footer Placeholder 2">
            <a:extLst>
              <a:ext uri="{FF2B5EF4-FFF2-40B4-BE49-F238E27FC236}">
                <a16:creationId xmlns:a16="http://schemas.microsoft.com/office/drawing/2014/main" id="{EF5FD760-0C38-4A28-AEFE-F4883A5C68C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A34ED6B-4003-4140-8426-1A98DE702365}"/>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737083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593AC-BAC2-46AD-9B4B-513AE1B7F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79D307-BCD4-4E84-881C-C3EC7C9565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86D5E6-F376-4770-9B96-62BB89557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C83203-6363-4E6D-9085-F19BC89BD744}"/>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6" name="Footer Placeholder 5">
            <a:extLst>
              <a:ext uri="{FF2B5EF4-FFF2-40B4-BE49-F238E27FC236}">
                <a16:creationId xmlns:a16="http://schemas.microsoft.com/office/drawing/2014/main" id="{EB96F560-8079-43B2-9C7F-9108FD7B96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1813B1-FAC2-42CB-AD42-3B101F963628}"/>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5060328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CAE1E-137A-4891-A502-F6ACE86C0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BD65E7-6C2F-496E-B6EA-FBF0C602B7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87783C-08E9-43C5-912B-6ACD218E04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7CF371-25C1-4EEB-8A04-904649D9B8FE}"/>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6" name="Footer Placeholder 5">
            <a:extLst>
              <a:ext uri="{FF2B5EF4-FFF2-40B4-BE49-F238E27FC236}">
                <a16:creationId xmlns:a16="http://schemas.microsoft.com/office/drawing/2014/main" id="{71CED79D-8333-49FC-9351-54B3E6D087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72144A-DFAF-4B60-8792-29332B08DAFC}"/>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3116688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4BD30-7328-4032-8D51-44C9C7296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FB4702-0DAA-4B35-84E7-ED83C8F612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7C8D9B-9F0F-4833-80A6-3778AD137EA0}"/>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06E5EC4F-B83E-4F85-A974-CAF4D8991E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8E4BC-DE40-4A3F-B61C-7CCAA6007524}"/>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126409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049124-31B0-4B33-A32B-4DAF5676E0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4CB96C-D029-4172-B2CC-6762E3024E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BC8BAD-0B11-480E-A271-02CE21FEFCFF}"/>
              </a:ext>
            </a:extLst>
          </p:cNvPr>
          <p:cNvSpPr>
            <a:spLocks noGrp="1"/>
          </p:cNvSpPr>
          <p:nvPr>
            <p:ph type="dt" sz="half" idx="10"/>
          </p:nvPr>
        </p:nvSpPr>
        <p:spPr/>
        <p:txBody>
          <a:body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C9108B94-CD3C-4078-89FB-00978D6AD3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6AFAB3-43FE-4A52-84F9-55C41401E849}"/>
              </a:ext>
            </a:extLst>
          </p:cNvPr>
          <p:cNvSpPr>
            <a:spLocks noGrp="1"/>
          </p:cNvSpPr>
          <p:nvPr>
            <p:ph type="sldNum" sz="quarter" idx="12"/>
          </p:nvPr>
        </p:nvSpPr>
        <p:spPr/>
        <p:txBody>
          <a:bodyPr/>
          <a:lstStyle/>
          <a:p>
            <a:fld id="{FB753F95-3926-445D-84FA-5DB747464B70}" type="slidenum">
              <a:rPr lang="en-US" smtClean="0"/>
              <a:t>‹#›</a:t>
            </a:fld>
            <a:endParaRPr lang="en-US"/>
          </a:p>
        </p:txBody>
      </p:sp>
    </p:spTree>
    <p:extLst>
      <p:ext uri="{BB962C8B-B14F-4D97-AF65-F5344CB8AC3E}">
        <p14:creationId xmlns:p14="http://schemas.microsoft.com/office/powerpoint/2010/main" val="3860464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_Only_Whi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Tree>
    <p:extLst>
      <p:ext uri="{BB962C8B-B14F-4D97-AF65-F5344CB8AC3E}">
        <p14:creationId xmlns:p14="http://schemas.microsoft.com/office/powerpoint/2010/main" val="30815716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2F253213-343D-EC4E-80BF-981DFB4846FE}"/>
              </a:ext>
            </a:extLst>
          </p:cNvPr>
          <p:cNvSpPr>
            <a:spLocks noGrp="1"/>
          </p:cNvSpPr>
          <p:nvPr>
            <p:ph type="body" sz="quarter" idx="12" hasCustomPrompt="1"/>
          </p:nvPr>
        </p:nvSpPr>
        <p:spPr>
          <a:xfrm>
            <a:off x="365760" y="409302"/>
            <a:ext cx="11390811" cy="670562"/>
          </a:xfrm>
        </p:spPr>
        <p:txBody>
          <a:bodyPr>
            <a:noAutofit/>
          </a:bodyPr>
          <a:lstStyle>
            <a:lvl1pPr marL="0" indent="0" algn="l">
              <a:buNone/>
              <a:defRPr sz="4000" b="1" i="0" spc="0">
                <a:solidFill>
                  <a:schemeClr val="accent3"/>
                </a:solidFill>
                <a:latin typeface="Segoe UI Semibold" panose="020B0502040204020203" pitchFamily="34" charset="0"/>
                <a:cs typeface="Segoe UI Semibold"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Slide title goes here</a:t>
            </a:r>
          </a:p>
        </p:txBody>
      </p:sp>
      <p:sp>
        <p:nvSpPr>
          <p:cNvPr id="8" name="Text Placeholder 3">
            <a:extLst>
              <a:ext uri="{FF2B5EF4-FFF2-40B4-BE49-F238E27FC236}">
                <a16:creationId xmlns:a16="http://schemas.microsoft.com/office/drawing/2014/main" id="{399B133C-4C10-6645-86DA-1C2FAC40C9C0}"/>
              </a:ext>
            </a:extLst>
          </p:cNvPr>
          <p:cNvSpPr>
            <a:spLocks noGrp="1"/>
          </p:cNvSpPr>
          <p:nvPr>
            <p:ph type="body" sz="quarter" idx="10" hasCustomPrompt="1"/>
          </p:nvPr>
        </p:nvSpPr>
        <p:spPr>
          <a:xfrm>
            <a:off x="365760" y="1990654"/>
            <a:ext cx="11390811" cy="4166306"/>
          </a:xfrm>
        </p:spPr>
        <p:txBody>
          <a:bodyPr>
            <a:normAutofit/>
          </a:bodyPr>
          <a:lstStyle>
            <a:lvl1pPr marL="0" indent="0">
              <a:buNone/>
              <a:defRPr sz="1600">
                <a:solidFill>
                  <a:schemeClr val="accent4"/>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 goes here</a:t>
            </a:r>
          </a:p>
        </p:txBody>
      </p:sp>
      <p:sp>
        <p:nvSpPr>
          <p:cNvPr id="9" name="Text Placeholder 3">
            <a:extLst>
              <a:ext uri="{FF2B5EF4-FFF2-40B4-BE49-F238E27FC236}">
                <a16:creationId xmlns:a16="http://schemas.microsoft.com/office/drawing/2014/main" id="{F4EF1F14-E210-5E4E-AD6C-FBD6DF26FEB7}"/>
              </a:ext>
            </a:extLst>
          </p:cNvPr>
          <p:cNvSpPr>
            <a:spLocks noGrp="1"/>
          </p:cNvSpPr>
          <p:nvPr>
            <p:ph type="body" sz="quarter" idx="11" hasCustomPrompt="1"/>
          </p:nvPr>
        </p:nvSpPr>
        <p:spPr>
          <a:xfrm>
            <a:off x="365760" y="1543324"/>
            <a:ext cx="11390811" cy="409484"/>
          </a:xfrm>
        </p:spPr>
        <p:txBody>
          <a:bodyPr>
            <a:normAutofit/>
          </a:bodyPr>
          <a:lstStyle>
            <a:lvl1pPr marL="0" indent="0">
              <a:buNone/>
              <a:defRPr sz="2000" b="1" i="0">
                <a:solidFill>
                  <a:schemeClr val="accent3"/>
                </a:solidFill>
                <a:latin typeface="Segoe UI Semibold" panose="020B0502040204020203" pitchFamily="34" charset="0"/>
                <a:cs typeface="Segoe UI Semibold" panose="020B0502040204020203"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Content title goes here</a:t>
            </a:r>
          </a:p>
        </p:txBody>
      </p:sp>
      <p:pic>
        <p:nvPicPr>
          <p:cNvPr id="10" name="Picture 9">
            <a:extLst>
              <a:ext uri="{FF2B5EF4-FFF2-40B4-BE49-F238E27FC236}">
                <a16:creationId xmlns:a16="http://schemas.microsoft.com/office/drawing/2014/main" id="{785F4A40-189E-E241-84B7-DFBC61D586AD}"/>
              </a:ext>
            </a:extLst>
          </p:cNvPr>
          <p:cNvPicPr>
            <a:picLocks noChangeAspect="1"/>
          </p:cNvPicPr>
          <p:nvPr userDrawn="1"/>
        </p:nvPicPr>
        <p:blipFill>
          <a:blip r:embed="rId2"/>
          <a:stretch>
            <a:fillRect/>
          </a:stretch>
        </p:blipFill>
        <p:spPr>
          <a:xfrm>
            <a:off x="10582275" y="6346520"/>
            <a:ext cx="1517649" cy="501497"/>
          </a:xfrm>
          <a:prstGeom prst="rect">
            <a:avLst/>
          </a:prstGeom>
        </p:spPr>
      </p:pic>
    </p:spTree>
    <p:extLst>
      <p:ext uri="{BB962C8B-B14F-4D97-AF65-F5344CB8AC3E}">
        <p14:creationId xmlns:p14="http://schemas.microsoft.com/office/powerpoint/2010/main" val="405906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8E2162-9FF9-4644-88E3-7CF708E953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2B83189-93AA-4C5F-9881-90C3FF3FD9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1CCAB-5125-4DA4-AD0A-E5D8865C87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32F0E1-1F3D-40B0-A342-620904315126}" type="datetimeFigureOut">
              <a:rPr lang="en-US" smtClean="0"/>
              <a:t>4/22/2020</a:t>
            </a:fld>
            <a:endParaRPr lang="en-US"/>
          </a:p>
        </p:txBody>
      </p:sp>
      <p:sp>
        <p:nvSpPr>
          <p:cNvPr id="5" name="Footer Placeholder 4">
            <a:extLst>
              <a:ext uri="{FF2B5EF4-FFF2-40B4-BE49-F238E27FC236}">
                <a16:creationId xmlns:a16="http://schemas.microsoft.com/office/drawing/2014/main" id="{15308BAF-98B9-4B93-8CDF-66EDE51A10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842D520-60A1-4EF0-AE37-29FE112F6C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753F95-3926-445D-84FA-5DB747464B70}" type="slidenum">
              <a:rPr lang="en-US" smtClean="0"/>
              <a:t>‹#›</a:t>
            </a:fld>
            <a:endParaRPr lang="en-US"/>
          </a:p>
        </p:txBody>
      </p:sp>
    </p:spTree>
    <p:extLst>
      <p:ext uri="{BB962C8B-B14F-4D97-AF65-F5344CB8AC3E}">
        <p14:creationId xmlns:p14="http://schemas.microsoft.com/office/powerpoint/2010/main" val="1067524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hyperlink" Target="https://metrics-server.kube-system.svc.cluster.local/metrics" TargetMode="External"/><Relationship Id="rId3" Type="http://schemas.openxmlformats.org/officeDocument/2006/relationships/image" Target="../media/image19.png"/><Relationship Id="rId7" Type="http://schemas.openxmlformats.org/officeDocument/2006/relationships/image" Target="../media/image23.svg"/><Relationship Id="rId12" Type="http://schemas.openxmlformats.org/officeDocument/2006/relationships/hyperlink" Target="http://my-service-dns.my-namespace:9100/metric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svg"/><Relationship Id="rId9" Type="http://schemas.openxmlformats.org/officeDocument/2006/relationships/image" Target="../media/image2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slideLayout" Target="../slideLayouts/slideLayout2.xml"/><Relationship Id="rId1" Type="http://schemas.openxmlformats.org/officeDocument/2006/relationships/video" Target="https://www.youtube.com/embed/5ARJ6DzqTYE?start=342&amp;feature=oembed" TargetMode="External"/></Relationships>
</file>

<file path=ppt/slides/_rels/slide24.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33.png"/><Relationship Id="rId18" Type="http://schemas.openxmlformats.org/officeDocument/2006/relationships/customXml" Target="../ink/ink9.xml"/><Relationship Id="rId3" Type="http://schemas.openxmlformats.org/officeDocument/2006/relationships/image" Target="../media/image13.png"/><Relationship Id="rId7" Type="http://schemas.openxmlformats.org/officeDocument/2006/relationships/image" Target="../media/image30.png"/><Relationship Id="rId12" Type="http://schemas.openxmlformats.org/officeDocument/2006/relationships/customXml" Target="../ink/ink6.xml"/><Relationship Id="rId17"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32.png"/><Relationship Id="rId5" Type="http://schemas.openxmlformats.org/officeDocument/2006/relationships/image" Target="../media/image29.png"/><Relationship Id="rId15" Type="http://schemas.openxmlformats.org/officeDocument/2006/relationships/image" Target="../media/image34.png"/><Relationship Id="rId10" Type="http://schemas.openxmlformats.org/officeDocument/2006/relationships/customXml" Target="../ink/ink5.xml"/><Relationship Id="rId19" Type="http://schemas.openxmlformats.org/officeDocument/2006/relationships/image" Target="../media/image36.png"/><Relationship Id="rId4" Type="http://schemas.openxmlformats.org/officeDocument/2006/relationships/customXml" Target="../ink/ink2.xml"/><Relationship Id="rId9" Type="http://schemas.openxmlformats.org/officeDocument/2006/relationships/image" Target="../media/image31.png"/><Relationship Id="rId14" Type="http://schemas.openxmlformats.org/officeDocument/2006/relationships/customXml" Target="../ink/ink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4FF344D-8E4E-4864-8C90-288F623A8998}"/>
              </a:ext>
            </a:extLst>
          </p:cNvPr>
          <p:cNvSpPr>
            <a:spLocks noGrp="1"/>
          </p:cNvSpPr>
          <p:nvPr>
            <p:ph type="ctrTitle"/>
          </p:nvPr>
        </p:nvSpPr>
        <p:spPr>
          <a:xfrm>
            <a:off x="1094095" y="851517"/>
            <a:ext cx="5238466" cy="2991416"/>
          </a:xfrm>
        </p:spPr>
        <p:txBody>
          <a:bodyPr anchor="b">
            <a:normAutofit/>
          </a:bodyPr>
          <a:lstStyle/>
          <a:p>
            <a:pPr algn="l"/>
            <a:r>
              <a:rPr lang="en-US"/>
              <a:t>Container Observability and Monitoring</a:t>
            </a:r>
          </a:p>
        </p:txBody>
      </p:sp>
      <p:sp>
        <p:nvSpPr>
          <p:cNvPr id="21" name="Freeform: Shape 20">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Syncing Cloud">
            <a:extLst>
              <a:ext uri="{FF2B5EF4-FFF2-40B4-BE49-F238E27FC236}">
                <a16:creationId xmlns:a16="http://schemas.microsoft.com/office/drawing/2014/main" id="{0F0775DE-A18C-45FC-B367-BF338A2C14E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31503" y="2129307"/>
            <a:ext cx="3217333" cy="3217333"/>
          </a:xfrm>
          <a:prstGeom prst="rect">
            <a:avLst/>
          </a:prstGeom>
        </p:spPr>
      </p:pic>
    </p:spTree>
    <p:extLst>
      <p:ext uri="{BB962C8B-B14F-4D97-AF65-F5344CB8AC3E}">
        <p14:creationId xmlns:p14="http://schemas.microsoft.com/office/powerpoint/2010/main" val="3540781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DB552-8D54-4F1B-9444-F2549C4E5279}"/>
              </a:ext>
            </a:extLst>
          </p:cNvPr>
          <p:cNvSpPr>
            <a:spLocks noGrp="1"/>
          </p:cNvSpPr>
          <p:nvPr>
            <p:ph type="title"/>
          </p:nvPr>
        </p:nvSpPr>
        <p:spPr/>
        <p:txBody>
          <a:bodyPr/>
          <a:lstStyle/>
          <a:p>
            <a:r>
              <a:rPr lang="en-US" dirty="0"/>
              <a:t>About … </a:t>
            </a:r>
          </a:p>
        </p:txBody>
      </p:sp>
      <p:sp>
        <p:nvSpPr>
          <p:cNvPr id="4" name="Rectangle 3">
            <a:extLst>
              <a:ext uri="{FF2B5EF4-FFF2-40B4-BE49-F238E27FC236}">
                <a16:creationId xmlns:a16="http://schemas.microsoft.com/office/drawing/2014/main" id="{5266700A-0B6C-4D54-8043-ABFD27CCB298}"/>
              </a:ext>
            </a:extLst>
          </p:cNvPr>
          <p:cNvSpPr/>
          <p:nvPr/>
        </p:nvSpPr>
        <p:spPr bwMode="auto">
          <a:xfrm>
            <a:off x="1" y="-46341"/>
            <a:ext cx="12192000" cy="3806460"/>
          </a:xfrm>
          <a:prstGeom prst="rect">
            <a:avLst/>
          </a:prstGeom>
          <a:solidFill>
            <a:srgbClr val="002060"/>
          </a:solidFill>
          <a:ln>
            <a:solidFill>
              <a:srgbClr val="002060"/>
            </a:solidFill>
            <a:headEnd type="none" w="med" len="med"/>
            <a:tailEnd type="none" w="med" len="med"/>
          </a:ln>
          <a:effectLst/>
        </p:spPr>
        <p:style>
          <a:lnRef idx="2">
            <a:schemeClr val="dk1"/>
          </a:lnRef>
          <a:fillRef idx="1">
            <a:schemeClr val="lt1"/>
          </a:fillRef>
          <a:effectRef idx="0">
            <a:schemeClr val="dk1"/>
          </a:effectRef>
          <a:fontRef idx="minor">
            <a:schemeClr val="dk1"/>
          </a:fontRef>
        </p:style>
        <p:txBody>
          <a:bodyPr vert="horz" wrap="square" lIns="90055" tIns="45032" rIns="45032" bIns="45032" numCol="1" rtlCol="0" anchor="ctr" anchorCtr="0" compatLnSpc="1">
            <a:prstTxWarp prst="textNoShape">
              <a:avLst/>
            </a:prstTxWarp>
          </a:bodyPr>
          <a:lstStyle/>
          <a:p>
            <a:pPr defTabSz="900501" fontAlgn="base">
              <a:spcBef>
                <a:spcPct val="0"/>
              </a:spcBef>
              <a:spcAft>
                <a:spcPct val="0"/>
              </a:spcAft>
              <a:defRPr/>
            </a:pPr>
            <a:r>
              <a:rPr lang="en-US" sz="2400" kern="0" dirty="0">
                <a:solidFill>
                  <a:prstClr val="white"/>
                </a:solidFill>
                <a:latin typeface="Calibri" pitchFamily="34" charset="0"/>
                <a:cs typeface="Calibri" pitchFamily="34" charset="0"/>
              </a:rPr>
              <a:t>                                                    	</a:t>
            </a:r>
            <a:r>
              <a:rPr lang="en-US" sz="2400" kern="0" dirty="0">
                <a:ln w="3175">
                  <a:noFill/>
                </a:ln>
                <a:solidFill>
                  <a:prstClr val="white"/>
                </a:solidFill>
                <a:latin typeface="Calibri" pitchFamily="34" charset="0"/>
                <a:cs typeface="Calibri" pitchFamily="34" charset="0"/>
              </a:rPr>
              <a:t>Keiko Harada </a:t>
            </a:r>
            <a:r>
              <a:rPr lang="en-US" sz="3200" kern="0" dirty="0">
                <a:ln w="3175">
                  <a:noFill/>
                </a:ln>
                <a:solidFill>
                  <a:prstClr val="white"/>
                </a:solidFill>
                <a:latin typeface="Calibri" pitchFamily="34" charset="0"/>
                <a:cs typeface="Calibri" pitchFamily="34" charset="0"/>
              </a:rPr>
              <a:t>		</a:t>
            </a:r>
            <a:endParaRPr lang="en-US" sz="2400" kern="0" dirty="0">
              <a:ln w="3175">
                <a:noFill/>
              </a:ln>
              <a:solidFill>
                <a:prstClr val="white"/>
              </a:solidFill>
              <a:latin typeface="Calibri" pitchFamily="34" charset="0"/>
              <a:ea typeface="Segoe UI" pitchFamily="34" charset="0"/>
              <a:cs typeface="Calibri" pitchFamily="34" charset="0"/>
            </a:endParaRPr>
          </a:p>
          <a:p>
            <a:pPr defTabSz="900501" fontAlgn="base">
              <a:spcBef>
                <a:spcPct val="0"/>
              </a:spcBef>
              <a:spcAft>
                <a:spcPct val="0"/>
              </a:spcAft>
              <a:defRPr/>
            </a:pPr>
            <a:r>
              <a:rPr lang="en-US" sz="2400" kern="0" dirty="0">
                <a:ln w="3175">
                  <a:noFill/>
                </a:ln>
                <a:solidFill>
                  <a:prstClr val="white"/>
                </a:solidFill>
                <a:latin typeface="Calibri" pitchFamily="34" charset="0"/>
                <a:ea typeface="Segoe UI" pitchFamily="34" charset="0"/>
                <a:cs typeface="Calibri" pitchFamily="34" charset="0"/>
              </a:rPr>
              <a:t>	   		             Microsoft            </a:t>
            </a:r>
          </a:p>
          <a:p>
            <a:pPr defTabSz="900501" fontAlgn="base">
              <a:spcBef>
                <a:spcPct val="0"/>
              </a:spcBef>
              <a:spcAft>
                <a:spcPct val="0"/>
              </a:spcAft>
              <a:defRPr/>
            </a:pPr>
            <a:r>
              <a:rPr lang="en-US" sz="2400" kern="0" dirty="0">
                <a:ln w="3175">
                  <a:noFill/>
                </a:ln>
                <a:solidFill>
                  <a:prstClr val="white"/>
                </a:solidFill>
                <a:latin typeface="Calibri" pitchFamily="34" charset="0"/>
                <a:ea typeface="Segoe UI" pitchFamily="34" charset="0"/>
                <a:cs typeface="Calibri" pitchFamily="34" charset="0"/>
              </a:rPr>
              <a:t>				Senior Program Manager – Azure Compute - Application Platform</a:t>
            </a:r>
            <a:endParaRPr lang="en-US" sz="2000" kern="0" dirty="0">
              <a:ln w="3175">
                <a:noFill/>
              </a:ln>
              <a:solidFill>
                <a:prstClr val="white"/>
              </a:solidFill>
              <a:latin typeface="Calibri" pitchFamily="34" charset="0"/>
              <a:ea typeface="Segoe UI" pitchFamily="34" charset="0"/>
              <a:cs typeface="Calibri" pitchFamily="34" charset="0"/>
            </a:endParaRPr>
          </a:p>
        </p:txBody>
      </p:sp>
      <p:sp>
        <p:nvSpPr>
          <p:cNvPr id="5" name="Rectangle 4">
            <a:extLst>
              <a:ext uri="{FF2B5EF4-FFF2-40B4-BE49-F238E27FC236}">
                <a16:creationId xmlns:a16="http://schemas.microsoft.com/office/drawing/2014/main" id="{5AFA3A9E-F805-4E60-805C-9ACE4F59C385}"/>
              </a:ext>
            </a:extLst>
          </p:cNvPr>
          <p:cNvSpPr/>
          <p:nvPr/>
        </p:nvSpPr>
        <p:spPr>
          <a:xfrm>
            <a:off x="367936" y="3995589"/>
            <a:ext cx="12008078" cy="1938992"/>
          </a:xfrm>
          <a:prstGeom prst="rect">
            <a:avLst/>
          </a:prstGeom>
        </p:spPr>
        <p:txBody>
          <a:bodyPr wrap="square">
            <a:spAutoFit/>
          </a:bodyPr>
          <a:lstStyle/>
          <a:p>
            <a:pPr defTabSz="914225">
              <a:defRPr/>
            </a:pPr>
            <a:r>
              <a:rPr lang="en-US" sz="2400" kern="0" dirty="0">
                <a:solidFill>
                  <a:schemeClr val="tx1">
                    <a:lumMod val="50000"/>
                  </a:schemeClr>
                </a:solidFill>
                <a:latin typeface="Calibri" panose="020F0502020204030204" pitchFamily="34" charset="0"/>
                <a:ea typeface="Calibri" panose="020F0502020204030204" pitchFamily="34" charset="0"/>
                <a:cs typeface="Times New Roman" panose="02020603050405020304" pitchFamily="18" charset="0"/>
              </a:rPr>
              <a:t>Bio:</a:t>
            </a:r>
          </a:p>
          <a:p>
            <a:pPr marL="0" lvl="1" defTabSz="914225">
              <a:defRPr/>
            </a:pPr>
            <a:r>
              <a:rPr lang="en-US" sz="2400" kern="0" dirty="0">
                <a:solidFill>
                  <a:schemeClr val="tx1">
                    <a:lumMod val="50000"/>
                  </a:schemeClr>
                </a:solidFill>
                <a:latin typeface="Calibri" panose="020F0502020204030204" pitchFamily="34" charset="0"/>
                <a:ea typeface="Calibri" panose="020F0502020204030204" pitchFamily="34" charset="0"/>
                <a:cs typeface="Times New Roman" panose="02020603050405020304" pitchFamily="18" charset="0"/>
              </a:rPr>
              <a:t>Lehman Brothers (Japan) - IT</a:t>
            </a:r>
          </a:p>
          <a:p>
            <a:pPr marL="0" lvl="1" defTabSz="914225">
              <a:defRPr/>
            </a:pPr>
            <a:r>
              <a:rPr lang="en-US" sz="2400" kern="0" dirty="0">
                <a:solidFill>
                  <a:schemeClr val="tx1">
                    <a:lumMod val="50000"/>
                  </a:schemeClr>
                </a:solidFill>
                <a:latin typeface="Calibri" panose="020F0502020204030204" pitchFamily="34" charset="0"/>
                <a:ea typeface="Calibri" panose="020F0502020204030204" pitchFamily="34" charset="0"/>
                <a:cs typeface="Times New Roman" panose="02020603050405020304" pitchFamily="18" charset="0"/>
              </a:rPr>
              <a:t>Goldman Sachs and Co (New York) – Senior Storage Engineer</a:t>
            </a:r>
          </a:p>
          <a:p>
            <a:pPr marL="0" lvl="1" defTabSz="914225">
              <a:defRPr/>
            </a:pPr>
            <a:r>
              <a:rPr lang="en-US" sz="2400" kern="0" dirty="0">
                <a:solidFill>
                  <a:schemeClr val="tx1">
                    <a:lumMod val="50000"/>
                  </a:schemeClr>
                </a:solidFill>
                <a:latin typeface="Calibri" panose="020F0502020204030204" pitchFamily="34" charset="0"/>
                <a:ea typeface="Calibri" panose="020F0502020204030204" pitchFamily="34" charset="0"/>
                <a:cs typeface="Times New Roman" panose="02020603050405020304" pitchFamily="18" charset="0"/>
              </a:rPr>
              <a:t>Hitachi Data Systems (New York) – Product Strategist and Senior Product Manager</a:t>
            </a:r>
          </a:p>
          <a:p>
            <a:pPr marL="0" lvl="1" defTabSz="914225">
              <a:defRPr/>
            </a:pPr>
            <a:r>
              <a:rPr lang="en-US" sz="2400" kern="0" dirty="0">
                <a:solidFill>
                  <a:schemeClr val="tx1">
                    <a:lumMod val="50000"/>
                  </a:schemeClr>
                </a:solidFill>
                <a:latin typeface="Calibri" panose="020F0502020204030204" pitchFamily="34" charset="0"/>
                <a:ea typeface="Calibri" panose="020F0502020204030204" pitchFamily="34" charset="0"/>
                <a:cs typeface="Times New Roman" panose="02020603050405020304" pitchFamily="18" charset="0"/>
              </a:rPr>
              <a:t>Microsoft – Senior Program Manager – Azure Container Compute</a:t>
            </a:r>
          </a:p>
        </p:txBody>
      </p:sp>
      <p:pic>
        <p:nvPicPr>
          <p:cNvPr id="9" name="Picture 8">
            <a:extLst>
              <a:ext uri="{FF2B5EF4-FFF2-40B4-BE49-F238E27FC236}">
                <a16:creationId xmlns:a16="http://schemas.microsoft.com/office/drawing/2014/main" id="{5A47ED5B-9B94-4EE2-9E85-3DD30B103282}"/>
              </a:ext>
            </a:extLst>
          </p:cNvPr>
          <p:cNvPicPr>
            <a:picLocks noChangeAspect="1"/>
          </p:cNvPicPr>
          <p:nvPr/>
        </p:nvPicPr>
        <p:blipFill>
          <a:blip r:embed="rId2"/>
          <a:stretch>
            <a:fillRect/>
          </a:stretch>
        </p:blipFill>
        <p:spPr>
          <a:xfrm>
            <a:off x="367936" y="365125"/>
            <a:ext cx="3158516" cy="2974227"/>
          </a:xfrm>
          <a:prstGeom prst="rect">
            <a:avLst/>
          </a:prstGeom>
        </p:spPr>
      </p:pic>
    </p:spTree>
    <p:extLst>
      <p:ext uri="{BB962C8B-B14F-4D97-AF65-F5344CB8AC3E}">
        <p14:creationId xmlns:p14="http://schemas.microsoft.com/office/powerpoint/2010/main" val="4265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 calcmode="lin" valueType="num">
                                      <p:cBhvr additive="base">
                                        <p:cTn id="12"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 calcmode="lin" valueType="num">
                                      <p:cBhvr additive="base">
                                        <p:cTn id="22"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F32EBA-ED97-466E-8CFA-8382584155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2A38935-BB53-4DF7-A56E-48DD25B685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0370" y="851518"/>
            <a:ext cx="6184806"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1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4 h 5154967"/>
              <a:gd name="connsiteX37" fmla="*/ 1625714 w 6184806"/>
              <a:gd name="connsiteY37" fmla="*/ 109244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1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1"/>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4"/>
                  <a:pt x="2445216" y="109244"/>
                </a:cubicBezTo>
                <a:cubicBezTo>
                  <a:pt x="1625714" y="109244"/>
                  <a:pt x="1625714" y="109244"/>
                  <a:pt x="1625714" y="109244"/>
                </a:cubicBezTo>
                <a:cubicBezTo>
                  <a:pt x="1572615" y="109244"/>
                  <a:pt x="1524825" y="137459"/>
                  <a:pt x="1498276" y="183309"/>
                </a:cubicBezTo>
                <a:cubicBezTo>
                  <a:pt x="1089410" y="890450"/>
                  <a:pt x="1089410" y="890450"/>
                  <a:pt x="1089410" y="890450"/>
                </a:cubicBezTo>
                <a:cubicBezTo>
                  <a:pt x="1062860" y="934537"/>
                  <a:pt x="1062860" y="990968"/>
                  <a:pt x="1089410" y="1035054"/>
                </a:cubicBezTo>
                <a:cubicBezTo>
                  <a:pt x="1498276" y="1742196"/>
                  <a:pt x="1498276" y="1742196"/>
                  <a:pt x="1498276" y="1742196"/>
                </a:cubicBezTo>
                <a:cubicBezTo>
                  <a:pt x="1511551" y="1765121"/>
                  <a:pt x="1530135" y="1783637"/>
                  <a:pt x="1552039" y="1796421"/>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55EFCF6-FD17-4E29-A97D-48B0B14EA819}"/>
              </a:ext>
            </a:extLst>
          </p:cNvPr>
          <p:cNvSpPr>
            <a:spLocks noGrp="1"/>
          </p:cNvSpPr>
          <p:nvPr>
            <p:ph type="title"/>
          </p:nvPr>
        </p:nvSpPr>
        <p:spPr>
          <a:xfrm>
            <a:off x="965199" y="851517"/>
            <a:ext cx="5130795" cy="1461778"/>
          </a:xfrm>
        </p:spPr>
        <p:txBody>
          <a:bodyPr>
            <a:normAutofit/>
          </a:bodyPr>
          <a:lstStyle/>
          <a:p>
            <a:r>
              <a:rPr lang="en-US" sz="4000"/>
              <a:t>Agenda</a:t>
            </a:r>
          </a:p>
        </p:txBody>
      </p:sp>
      <p:sp>
        <p:nvSpPr>
          <p:cNvPr id="3" name="Content Placeholder 2">
            <a:extLst>
              <a:ext uri="{FF2B5EF4-FFF2-40B4-BE49-F238E27FC236}">
                <a16:creationId xmlns:a16="http://schemas.microsoft.com/office/drawing/2014/main" id="{3D0DD644-4E52-4879-9FAB-5311D0092D74}"/>
              </a:ext>
            </a:extLst>
          </p:cNvPr>
          <p:cNvSpPr>
            <a:spLocks noGrp="1"/>
          </p:cNvSpPr>
          <p:nvPr>
            <p:ph idx="1"/>
          </p:nvPr>
        </p:nvSpPr>
        <p:spPr>
          <a:xfrm>
            <a:off x="965200" y="2470248"/>
            <a:ext cx="4313810" cy="3536236"/>
          </a:xfrm>
        </p:spPr>
        <p:txBody>
          <a:bodyPr>
            <a:normAutofit/>
          </a:bodyPr>
          <a:lstStyle/>
          <a:p>
            <a:r>
              <a:rPr lang="en-US" sz="2400" dirty="0"/>
              <a:t>Shift in Monitoring with containerized microservice</a:t>
            </a:r>
          </a:p>
          <a:p>
            <a:r>
              <a:rPr lang="en-US" sz="2400" dirty="0"/>
              <a:t>Observability and Monitoring </a:t>
            </a:r>
          </a:p>
          <a:p>
            <a:r>
              <a:rPr lang="en-US" sz="2400" dirty="0"/>
              <a:t>How does Monitoring play in Enterprise? </a:t>
            </a:r>
          </a:p>
          <a:p>
            <a:r>
              <a:rPr lang="en-US" sz="2400" dirty="0"/>
              <a:t>Observability/Monitoring tools</a:t>
            </a:r>
          </a:p>
        </p:txBody>
      </p:sp>
    </p:spTree>
    <p:extLst>
      <p:ext uri="{BB962C8B-B14F-4D97-AF65-F5344CB8AC3E}">
        <p14:creationId xmlns:p14="http://schemas.microsoft.com/office/powerpoint/2010/main" val="615396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lated image">
            <a:extLst>
              <a:ext uri="{FF2B5EF4-FFF2-40B4-BE49-F238E27FC236}">
                <a16:creationId xmlns:a16="http://schemas.microsoft.com/office/drawing/2014/main" id="{524A8446-AC92-4D46-94C6-87DCBD61E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2811" y="4266746"/>
            <a:ext cx="1401083" cy="140108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83FA3C7-175F-4946-A087-CB533DA485D9}"/>
              </a:ext>
            </a:extLst>
          </p:cNvPr>
          <p:cNvSpPr>
            <a:spLocks noGrp="1"/>
          </p:cNvSpPr>
          <p:nvPr>
            <p:ph type="title"/>
          </p:nvPr>
        </p:nvSpPr>
        <p:spPr>
          <a:xfrm>
            <a:off x="109810" y="20410"/>
            <a:ext cx="12839700" cy="913853"/>
          </a:xfrm>
        </p:spPr>
        <p:txBody>
          <a:bodyPr>
            <a:normAutofit/>
          </a:bodyPr>
          <a:lstStyle/>
          <a:p>
            <a:r>
              <a:rPr lang="en-US" sz="3400" b="1" dirty="0">
                <a:solidFill>
                  <a:schemeClr val="accent1"/>
                </a:solidFill>
                <a:latin typeface="Segoe UI Semibold" panose="020B0502040204020203" pitchFamily="34" charset="0"/>
                <a:ea typeface="+mn-ea"/>
                <a:cs typeface="Segoe UI Semibold" panose="020B0502040204020203" pitchFamily="34" charset="0"/>
              </a:rPr>
              <a:t>Monitoring</a:t>
            </a:r>
            <a:r>
              <a:rPr lang="en-US" sz="3400" b="1" dirty="0">
                <a:solidFill>
                  <a:schemeClr val="accent3"/>
                </a:solidFill>
                <a:latin typeface="Segoe UI Semibold" panose="020B0502040204020203" pitchFamily="34" charset="0"/>
                <a:ea typeface="+mn-ea"/>
                <a:cs typeface="Segoe UI Semibold" panose="020B0502040204020203" pitchFamily="34" charset="0"/>
              </a:rPr>
              <a:t> Paradigm Shift with Microservice and </a:t>
            </a:r>
            <a:r>
              <a:rPr lang="en-US" sz="3400" b="1" dirty="0">
                <a:solidFill>
                  <a:schemeClr val="bg2">
                    <a:lumMod val="75000"/>
                  </a:schemeClr>
                </a:solidFill>
                <a:latin typeface="Segoe UI Semibold" panose="020B0502040204020203" pitchFamily="34" charset="0"/>
                <a:ea typeface="+mn-ea"/>
                <a:cs typeface="Segoe UI Semibold" panose="020B0502040204020203" pitchFamily="34" charset="0"/>
              </a:rPr>
              <a:t>Containers</a:t>
            </a:r>
          </a:p>
        </p:txBody>
      </p:sp>
      <p:grpSp>
        <p:nvGrpSpPr>
          <p:cNvPr id="13" name="Group 12">
            <a:extLst>
              <a:ext uri="{FF2B5EF4-FFF2-40B4-BE49-F238E27FC236}">
                <a16:creationId xmlns:a16="http://schemas.microsoft.com/office/drawing/2014/main" id="{1C46D296-9EE5-45D2-A0FD-E2F5C7B4C20D}"/>
              </a:ext>
            </a:extLst>
          </p:cNvPr>
          <p:cNvGrpSpPr/>
          <p:nvPr/>
        </p:nvGrpSpPr>
        <p:grpSpPr>
          <a:xfrm>
            <a:off x="8048068" y="1360920"/>
            <a:ext cx="1829786" cy="2109485"/>
            <a:chOff x="4042369" y="4118759"/>
            <a:chExt cx="1829786" cy="2109485"/>
          </a:xfrm>
        </p:grpSpPr>
        <p:pic>
          <p:nvPicPr>
            <p:cNvPr id="4" name="Picture 3">
              <a:extLst>
                <a:ext uri="{FF2B5EF4-FFF2-40B4-BE49-F238E27FC236}">
                  <a16:creationId xmlns:a16="http://schemas.microsoft.com/office/drawing/2014/main" id="{7DFBDD26-B8A3-455D-83F7-0A4348601684}"/>
                </a:ext>
              </a:extLst>
            </p:cNvPr>
            <p:cNvPicPr>
              <a:picLocks noChangeAspect="1"/>
            </p:cNvPicPr>
            <p:nvPr/>
          </p:nvPicPr>
          <p:blipFill>
            <a:blip r:embed="rId3"/>
            <a:stretch>
              <a:fillRect/>
            </a:stretch>
          </p:blipFill>
          <p:spPr>
            <a:xfrm>
              <a:off x="4042369" y="4118759"/>
              <a:ext cx="1829786" cy="1722182"/>
            </a:xfrm>
            <a:prstGeom prst="rect">
              <a:avLst/>
            </a:prstGeom>
            <a:noFill/>
          </p:spPr>
        </p:pic>
        <p:sp>
          <p:nvSpPr>
            <p:cNvPr id="9" name="TextBox 8">
              <a:extLst>
                <a:ext uri="{FF2B5EF4-FFF2-40B4-BE49-F238E27FC236}">
                  <a16:creationId xmlns:a16="http://schemas.microsoft.com/office/drawing/2014/main" id="{50A3F86C-D7B4-4B8F-8894-E573B2B07998}"/>
                </a:ext>
              </a:extLst>
            </p:cNvPr>
            <p:cNvSpPr txBox="1"/>
            <p:nvPr/>
          </p:nvSpPr>
          <p:spPr>
            <a:xfrm>
              <a:off x="4428904" y="5766579"/>
              <a:ext cx="1208856" cy="461665"/>
            </a:xfrm>
            <a:prstGeom prst="rect">
              <a:avLst/>
            </a:prstGeom>
            <a:noFill/>
          </p:spPr>
          <p:txBody>
            <a:bodyPr wrap="none" rtlCol="0">
              <a:spAutoFit/>
            </a:bodyPr>
            <a:lstStyle/>
            <a:p>
              <a:pPr algn="ctr"/>
              <a:r>
                <a:rPr lang="en-US" sz="1200">
                  <a:latin typeface="+mj-lt"/>
                  <a:cs typeface="Segoe UI Light" panose="020B0502040204020203" pitchFamily="34" charset="0"/>
                </a:rPr>
                <a:t>Microservices in</a:t>
              </a:r>
            </a:p>
            <a:p>
              <a:pPr algn="ctr"/>
              <a:r>
                <a:rPr lang="en-US" sz="1200">
                  <a:latin typeface="+mj-lt"/>
                  <a:cs typeface="Segoe UI Light" panose="020B0502040204020203" pitchFamily="34" charset="0"/>
                </a:rPr>
                <a:t>Containers</a:t>
              </a:r>
            </a:p>
          </p:txBody>
        </p:sp>
      </p:grpSp>
      <p:grpSp>
        <p:nvGrpSpPr>
          <p:cNvPr id="15" name="Group 14">
            <a:extLst>
              <a:ext uri="{FF2B5EF4-FFF2-40B4-BE49-F238E27FC236}">
                <a16:creationId xmlns:a16="http://schemas.microsoft.com/office/drawing/2014/main" id="{647A2951-2670-4D6B-8B1B-3628C96E8E2E}"/>
              </a:ext>
            </a:extLst>
          </p:cNvPr>
          <p:cNvGrpSpPr/>
          <p:nvPr/>
        </p:nvGrpSpPr>
        <p:grpSpPr>
          <a:xfrm>
            <a:off x="4853131" y="1608401"/>
            <a:ext cx="1314450" cy="1658950"/>
            <a:chOff x="1897195" y="2744945"/>
            <a:chExt cx="1314450" cy="1658950"/>
          </a:xfrm>
        </p:grpSpPr>
        <p:sp>
          <p:nvSpPr>
            <p:cNvPr id="8" name="TextBox 7">
              <a:extLst>
                <a:ext uri="{FF2B5EF4-FFF2-40B4-BE49-F238E27FC236}">
                  <a16:creationId xmlns:a16="http://schemas.microsoft.com/office/drawing/2014/main" id="{D07DB8F7-2451-455B-BFA5-18447E8CDCB2}"/>
                </a:ext>
              </a:extLst>
            </p:cNvPr>
            <p:cNvSpPr txBox="1"/>
            <p:nvPr/>
          </p:nvSpPr>
          <p:spPr>
            <a:xfrm>
              <a:off x="2116542" y="4126896"/>
              <a:ext cx="1053365" cy="276999"/>
            </a:xfrm>
            <a:prstGeom prst="rect">
              <a:avLst/>
            </a:prstGeom>
            <a:noFill/>
          </p:spPr>
          <p:txBody>
            <a:bodyPr wrap="none" rtlCol="0">
              <a:spAutoFit/>
            </a:bodyPr>
            <a:lstStyle/>
            <a:p>
              <a:r>
                <a:rPr lang="en-US" sz="1200">
                  <a:latin typeface="+mj-lt"/>
                  <a:cs typeface="Segoe UI Light" panose="020B0502040204020203" pitchFamily="34" charset="0"/>
                </a:rPr>
                <a:t>Microservices</a:t>
              </a:r>
            </a:p>
          </p:txBody>
        </p:sp>
        <p:pic>
          <p:nvPicPr>
            <p:cNvPr id="14" name="Picture 13">
              <a:extLst>
                <a:ext uri="{FF2B5EF4-FFF2-40B4-BE49-F238E27FC236}">
                  <a16:creationId xmlns:a16="http://schemas.microsoft.com/office/drawing/2014/main" id="{4924DBC6-3E9D-4CB8-B9A4-9F4F8A0153D2}"/>
                </a:ext>
              </a:extLst>
            </p:cNvPr>
            <p:cNvPicPr>
              <a:picLocks noChangeAspect="1"/>
            </p:cNvPicPr>
            <p:nvPr/>
          </p:nvPicPr>
          <p:blipFill>
            <a:blip r:embed="rId4"/>
            <a:stretch>
              <a:fillRect/>
            </a:stretch>
          </p:blipFill>
          <p:spPr>
            <a:xfrm>
              <a:off x="1897195" y="2744945"/>
              <a:ext cx="1314450" cy="1276350"/>
            </a:xfrm>
            <a:prstGeom prst="rect">
              <a:avLst/>
            </a:prstGeom>
          </p:spPr>
        </p:pic>
      </p:grpSp>
      <p:grpSp>
        <p:nvGrpSpPr>
          <p:cNvPr id="21" name="Group 20">
            <a:extLst>
              <a:ext uri="{FF2B5EF4-FFF2-40B4-BE49-F238E27FC236}">
                <a16:creationId xmlns:a16="http://schemas.microsoft.com/office/drawing/2014/main" id="{66B64C68-DE26-405B-9DF4-B62021DFDFA2}"/>
              </a:ext>
            </a:extLst>
          </p:cNvPr>
          <p:cNvGrpSpPr/>
          <p:nvPr/>
        </p:nvGrpSpPr>
        <p:grpSpPr>
          <a:xfrm>
            <a:off x="1808708" y="1565486"/>
            <a:ext cx="1627369" cy="1719499"/>
            <a:chOff x="2551117" y="1918777"/>
            <a:chExt cx="1627369" cy="1719499"/>
          </a:xfrm>
        </p:grpSpPr>
        <p:sp>
          <p:nvSpPr>
            <p:cNvPr id="6" name="TextBox 5">
              <a:extLst>
                <a:ext uri="{FF2B5EF4-FFF2-40B4-BE49-F238E27FC236}">
                  <a16:creationId xmlns:a16="http://schemas.microsoft.com/office/drawing/2014/main" id="{67BED3C0-2DA5-4571-94EB-94C05B6CCA6D}"/>
                </a:ext>
              </a:extLst>
            </p:cNvPr>
            <p:cNvSpPr txBox="1"/>
            <p:nvPr/>
          </p:nvSpPr>
          <p:spPr>
            <a:xfrm>
              <a:off x="2551117" y="3361277"/>
              <a:ext cx="1627369" cy="276999"/>
            </a:xfrm>
            <a:prstGeom prst="rect">
              <a:avLst/>
            </a:prstGeom>
            <a:noFill/>
          </p:spPr>
          <p:txBody>
            <a:bodyPr wrap="none" rtlCol="0">
              <a:spAutoFit/>
            </a:bodyPr>
            <a:lstStyle/>
            <a:p>
              <a:r>
                <a:rPr lang="en-US" sz="1200">
                  <a:latin typeface="+mj-lt"/>
                  <a:cs typeface="Segoe UI Light" panose="020B0502040204020203" pitchFamily="34" charset="0"/>
                </a:rPr>
                <a:t>Monolithic Application</a:t>
              </a:r>
            </a:p>
          </p:txBody>
        </p:sp>
        <p:pic>
          <p:nvPicPr>
            <p:cNvPr id="16" name="Picture 15">
              <a:extLst>
                <a:ext uri="{FF2B5EF4-FFF2-40B4-BE49-F238E27FC236}">
                  <a16:creationId xmlns:a16="http://schemas.microsoft.com/office/drawing/2014/main" id="{5EA90472-B1FA-4488-BED6-4F046EA50920}"/>
                </a:ext>
              </a:extLst>
            </p:cNvPr>
            <p:cNvPicPr>
              <a:picLocks noChangeAspect="1"/>
            </p:cNvPicPr>
            <p:nvPr/>
          </p:nvPicPr>
          <p:blipFill>
            <a:blip r:embed="rId5"/>
            <a:stretch>
              <a:fillRect/>
            </a:stretch>
          </p:blipFill>
          <p:spPr>
            <a:xfrm>
              <a:off x="2609259" y="1918777"/>
              <a:ext cx="1333500" cy="1285875"/>
            </a:xfrm>
            <a:prstGeom prst="rect">
              <a:avLst/>
            </a:prstGeom>
          </p:spPr>
        </p:pic>
        <p:sp>
          <p:nvSpPr>
            <p:cNvPr id="17" name="Rectangle 16">
              <a:extLst>
                <a:ext uri="{FF2B5EF4-FFF2-40B4-BE49-F238E27FC236}">
                  <a16:creationId xmlns:a16="http://schemas.microsoft.com/office/drawing/2014/main" id="{7670631B-3E0C-45C6-B4EA-B671E5D93C2B}"/>
                </a:ext>
              </a:extLst>
            </p:cNvPr>
            <p:cNvSpPr/>
            <p:nvPr/>
          </p:nvSpPr>
          <p:spPr>
            <a:xfrm>
              <a:off x="3725345" y="2730268"/>
              <a:ext cx="240554" cy="229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9003BF3C-B6ED-4B72-9E23-797F1AF3CD5C}"/>
                </a:ext>
              </a:extLst>
            </p:cNvPr>
            <p:cNvCxnSpPr>
              <a:cxnSpLocks/>
            </p:cNvCxnSpPr>
            <p:nvPr/>
          </p:nvCxnSpPr>
          <p:spPr>
            <a:xfrm>
              <a:off x="3847171" y="2623009"/>
              <a:ext cx="0" cy="336317"/>
            </a:xfrm>
            <a:prstGeom prst="line">
              <a:avLst/>
            </a:prstGeom>
            <a:ln w="38100">
              <a:solidFill>
                <a:srgbClr val="33CCFF"/>
              </a:solidFill>
            </a:ln>
          </p:spPr>
          <p:style>
            <a:lnRef idx="1">
              <a:schemeClr val="accent1"/>
            </a:lnRef>
            <a:fillRef idx="0">
              <a:schemeClr val="accent1"/>
            </a:fillRef>
            <a:effectRef idx="0">
              <a:schemeClr val="accent1"/>
            </a:effectRef>
            <a:fontRef idx="minor">
              <a:schemeClr val="tx1"/>
            </a:fontRef>
          </p:style>
        </p:cxnSp>
      </p:grpSp>
      <p:cxnSp>
        <p:nvCxnSpPr>
          <p:cNvPr id="23" name="Straight Arrow Connector 22">
            <a:extLst>
              <a:ext uri="{FF2B5EF4-FFF2-40B4-BE49-F238E27FC236}">
                <a16:creationId xmlns:a16="http://schemas.microsoft.com/office/drawing/2014/main" id="{6A155C54-6812-48F8-8931-444EF137D330}"/>
              </a:ext>
            </a:extLst>
          </p:cNvPr>
          <p:cNvCxnSpPr/>
          <p:nvPr/>
        </p:nvCxnSpPr>
        <p:spPr>
          <a:xfrm>
            <a:off x="3676011" y="2302907"/>
            <a:ext cx="669074"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B6FFC8A1-AA27-4CDF-A49B-B8F697EEE898}"/>
              </a:ext>
            </a:extLst>
          </p:cNvPr>
          <p:cNvCxnSpPr/>
          <p:nvPr/>
        </p:nvCxnSpPr>
        <p:spPr>
          <a:xfrm>
            <a:off x="7018073" y="2251090"/>
            <a:ext cx="669074"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E152CB7F-4C7C-4783-95A6-2F38E2C3A4A6}"/>
              </a:ext>
            </a:extLst>
          </p:cNvPr>
          <p:cNvSpPr/>
          <p:nvPr/>
        </p:nvSpPr>
        <p:spPr>
          <a:xfrm>
            <a:off x="6842588" y="1264375"/>
            <a:ext cx="3216303" cy="2235216"/>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2661C749-8025-4AC2-904F-1B8C62329EC3}"/>
              </a:ext>
            </a:extLst>
          </p:cNvPr>
          <p:cNvGrpSpPr/>
          <p:nvPr/>
        </p:nvGrpSpPr>
        <p:grpSpPr>
          <a:xfrm>
            <a:off x="8853709" y="4593424"/>
            <a:ext cx="1726658" cy="1678458"/>
            <a:chOff x="9691899" y="4614505"/>
            <a:chExt cx="1726658" cy="1678458"/>
          </a:xfrm>
        </p:grpSpPr>
        <p:sp>
          <p:nvSpPr>
            <p:cNvPr id="26" name="Rectangle: Rounded Corners 25">
              <a:extLst>
                <a:ext uri="{FF2B5EF4-FFF2-40B4-BE49-F238E27FC236}">
                  <a16:creationId xmlns:a16="http://schemas.microsoft.com/office/drawing/2014/main" id="{786B4296-050B-42BE-A8CC-3A4BE8A8B99B}"/>
                </a:ext>
              </a:extLst>
            </p:cNvPr>
            <p:cNvSpPr/>
            <p:nvPr/>
          </p:nvSpPr>
          <p:spPr>
            <a:xfrm>
              <a:off x="9691899" y="4614505"/>
              <a:ext cx="1726658" cy="1678458"/>
            </a:xfrm>
            <a:prstGeom prst="round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34EF0D9-59BA-4075-B95D-10206CF20177}"/>
                </a:ext>
              </a:extLst>
            </p:cNvPr>
            <p:cNvSpPr txBox="1"/>
            <p:nvPr/>
          </p:nvSpPr>
          <p:spPr>
            <a:xfrm>
              <a:off x="10054058" y="5852900"/>
              <a:ext cx="1026307" cy="276999"/>
            </a:xfrm>
            <a:prstGeom prst="rect">
              <a:avLst/>
            </a:prstGeom>
            <a:noFill/>
          </p:spPr>
          <p:txBody>
            <a:bodyPr wrap="none" rtlCol="0">
              <a:spAutoFit/>
            </a:bodyPr>
            <a:lstStyle/>
            <a:p>
              <a:r>
                <a:rPr lang="en-US" sz="1200">
                  <a:latin typeface="+mj-lt"/>
                  <a:cs typeface="Segoe UI Light" panose="020B0502040204020203" pitchFamily="34" charset="0"/>
                </a:rPr>
                <a:t>Observability </a:t>
              </a:r>
            </a:p>
          </p:txBody>
        </p:sp>
        <p:pic>
          <p:nvPicPr>
            <p:cNvPr id="31" name="Picture 10" descr="Image result for binoculars illustration">
              <a:extLst>
                <a:ext uri="{FF2B5EF4-FFF2-40B4-BE49-F238E27FC236}">
                  <a16:creationId xmlns:a16="http://schemas.microsoft.com/office/drawing/2014/main" id="{9F717E15-73B7-45E3-ADF1-994002F299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1262" y="4723085"/>
              <a:ext cx="1184840" cy="118484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Rectangle: Rounded Corners 31">
            <a:extLst>
              <a:ext uri="{FF2B5EF4-FFF2-40B4-BE49-F238E27FC236}">
                <a16:creationId xmlns:a16="http://schemas.microsoft.com/office/drawing/2014/main" id="{AC2BED4A-3F62-4FCC-B51B-C5367643E76F}"/>
              </a:ext>
            </a:extLst>
          </p:cNvPr>
          <p:cNvSpPr/>
          <p:nvPr/>
        </p:nvSpPr>
        <p:spPr>
          <a:xfrm>
            <a:off x="6377506" y="4598963"/>
            <a:ext cx="1726658" cy="167845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074B5C53-AF6C-4E39-B04E-1026883EF63B}"/>
              </a:ext>
            </a:extLst>
          </p:cNvPr>
          <p:cNvSpPr txBox="1"/>
          <p:nvPr/>
        </p:nvSpPr>
        <p:spPr>
          <a:xfrm>
            <a:off x="6664697" y="5849601"/>
            <a:ext cx="1193660" cy="276999"/>
          </a:xfrm>
          <a:prstGeom prst="rect">
            <a:avLst/>
          </a:prstGeom>
          <a:noFill/>
        </p:spPr>
        <p:txBody>
          <a:bodyPr wrap="none" rtlCol="0">
            <a:spAutoFit/>
          </a:bodyPr>
          <a:lstStyle/>
          <a:p>
            <a:pPr algn="ctr"/>
            <a:r>
              <a:rPr lang="en-US" sz="1200">
                <a:latin typeface="+mj-lt"/>
                <a:cs typeface="Segoe UI Light" panose="020B0502040204020203" pitchFamily="34" charset="0"/>
              </a:rPr>
              <a:t>Custom Metrics </a:t>
            </a:r>
          </a:p>
        </p:txBody>
      </p:sp>
      <p:sp>
        <p:nvSpPr>
          <p:cNvPr id="36" name="Arrow: Down 35">
            <a:extLst>
              <a:ext uri="{FF2B5EF4-FFF2-40B4-BE49-F238E27FC236}">
                <a16:creationId xmlns:a16="http://schemas.microsoft.com/office/drawing/2014/main" id="{845A2C95-3920-496B-B297-8EB796A89B11}"/>
              </a:ext>
            </a:extLst>
          </p:cNvPr>
          <p:cNvSpPr/>
          <p:nvPr/>
        </p:nvSpPr>
        <p:spPr>
          <a:xfrm>
            <a:off x="2282551" y="3827475"/>
            <a:ext cx="502097" cy="501805"/>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Down 32">
            <a:extLst>
              <a:ext uri="{FF2B5EF4-FFF2-40B4-BE49-F238E27FC236}">
                <a16:creationId xmlns:a16="http://schemas.microsoft.com/office/drawing/2014/main" id="{F5952E25-E3EE-4BC5-84E2-41BA43A55E20}"/>
              </a:ext>
            </a:extLst>
          </p:cNvPr>
          <p:cNvSpPr/>
          <p:nvPr/>
        </p:nvSpPr>
        <p:spPr>
          <a:xfrm>
            <a:off x="8199690" y="3846682"/>
            <a:ext cx="502097" cy="501805"/>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9FD3F546-8D16-4BC2-A83C-BAEBD15EFEF6}"/>
              </a:ext>
            </a:extLst>
          </p:cNvPr>
          <p:cNvGrpSpPr/>
          <p:nvPr/>
        </p:nvGrpSpPr>
        <p:grpSpPr>
          <a:xfrm>
            <a:off x="1698140" y="4593424"/>
            <a:ext cx="1726657" cy="1678458"/>
            <a:chOff x="877212" y="4259630"/>
            <a:chExt cx="1726657" cy="1678458"/>
          </a:xfrm>
        </p:grpSpPr>
        <p:grpSp>
          <p:nvGrpSpPr>
            <p:cNvPr id="3" name="Group 2">
              <a:extLst>
                <a:ext uri="{FF2B5EF4-FFF2-40B4-BE49-F238E27FC236}">
                  <a16:creationId xmlns:a16="http://schemas.microsoft.com/office/drawing/2014/main" id="{835973FE-A80E-4745-959F-FAA234C35446}"/>
                </a:ext>
              </a:extLst>
            </p:cNvPr>
            <p:cNvGrpSpPr/>
            <p:nvPr/>
          </p:nvGrpSpPr>
          <p:grpSpPr>
            <a:xfrm>
              <a:off x="1007056" y="4608041"/>
              <a:ext cx="1407603" cy="1142574"/>
              <a:chOff x="4614669" y="4682768"/>
              <a:chExt cx="1407603" cy="1142574"/>
            </a:xfrm>
          </p:grpSpPr>
          <p:pic>
            <p:nvPicPr>
              <p:cNvPr id="29" name="Picture 2" descr="Related image">
                <a:extLst>
                  <a:ext uri="{FF2B5EF4-FFF2-40B4-BE49-F238E27FC236}">
                    <a16:creationId xmlns:a16="http://schemas.microsoft.com/office/drawing/2014/main" id="{5AF07573-E7E9-4B68-AA59-C333E9B9100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5618" y="4682768"/>
                <a:ext cx="665706" cy="665706"/>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D96672C2-CE5D-4A0B-A58A-14EE1480B98A}"/>
                  </a:ext>
                </a:extLst>
              </p:cNvPr>
              <p:cNvSpPr txBox="1"/>
              <p:nvPr/>
            </p:nvSpPr>
            <p:spPr>
              <a:xfrm>
                <a:off x="4614669" y="5363677"/>
                <a:ext cx="1407603" cy="461665"/>
              </a:xfrm>
              <a:prstGeom prst="rect">
                <a:avLst/>
              </a:prstGeom>
              <a:noFill/>
            </p:spPr>
            <p:txBody>
              <a:bodyPr wrap="square" rtlCol="0">
                <a:spAutoFit/>
              </a:bodyPr>
              <a:lstStyle/>
              <a:p>
                <a:pPr algn="ctr"/>
                <a:r>
                  <a:rPr lang="en-US" sz="1200">
                    <a:latin typeface="+mj-lt"/>
                    <a:cs typeface="Segoe UI Light" panose="020B0502040204020203" pitchFamily="34" charset="0"/>
                  </a:rPr>
                  <a:t>Vendor Defined</a:t>
                </a:r>
              </a:p>
              <a:p>
                <a:pPr algn="ctr"/>
                <a:r>
                  <a:rPr lang="en-US" sz="1200">
                    <a:latin typeface="+mj-lt"/>
                    <a:cs typeface="Segoe UI Light" panose="020B0502040204020203" pitchFamily="34" charset="0"/>
                  </a:rPr>
                  <a:t>Metrics Monitoring</a:t>
                </a:r>
              </a:p>
            </p:txBody>
          </p:sp>
        </p:grpSp>
        <p:sp>
          <p:nvSpPr>
            <p:cNvPr id="5" name="Rectangle: Rounded Corners 4">
              <a:extLst>
                <a:ext uri="{FF2B5EF4-FFF2-40B4-BE49-F238E27FC236}">
                  <a16:creationId xmlns:a16="http://schemas.microsoft.com/office/drawing/2014/main" id="{D1CECE97-FA31-4EC8-87BE-CB3BDB977ED4}"/>
                </a:ext>
              </a:extLst>
            </p:cNvPr>
            <p:cNvSpPr/>
            <p:nvPr/>
          </p:nvSpPr>
          <p:spPr>
            <a:xfrm>
              <a:off x="877212" y="4259630"/>
              <a:ext cx="1726657" cy="167845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88A43BAF-1BE3-46A5-B9F8-E862737890E6}"/>
              </a:ext>
            </a:extLst>
          </p:cNvPr>
          <p:cNvSpPr txBox="1"/>
          <p:nvPr/>
        </p:nvSpPr>
        <p:spPr>
          <a:xfrm>
            <a:off x="6554568" y="5472189"/>
            <a:ext cx="1388329" cy="369332"/>
          </a:xfrm>
          <a:prstGeom prst="rect">
            <a:avLst/>
          </a:prstGeom>
          <a:noFill/>
        </p:spPr>
        <p:txBody>
          <a:bodyPr wrap="none" rtlCol="0">
            <a:spAutoFit/>
          </a:bodyPr>
          <a:lstStyle/>
          <a:p>
            <a:r>
              <a:rPr lang="en-US"/>
              <a:t>Open Source</a:t>
            </a:r>
          </a:p>
        </p:txBody>
      </p:sp>
      <p:sp>
        <p:nvSpPr>
          <p:cNvPr id="12" name="Plus Sign 11">
            <a:extLst>
              <a:ext uri="{FF2B5EF4-FFF2-40B4-BE49-F238E27FC236}">
                <a16:creationId xmlns:a16="http://schemas.microsoft.com/office/drawing/2014/main" id="{EF63942F-3AC1-46F6-971B-4A6F6B34439D}"/>
              </a:ext>
            </a:extLst>
          </p:cNvPr>
          <p:cNvSpPr/>
          <p:nvPr/>
        </p:nvSpPr>
        <p:spPr>
          <a:xfrm>
            <a:off x="7145761" y="5306821"/>
            <a:ext cx="231531" cy="190703"/>
          </a:xfrm>
          <a:prstGeom prst="mathPlus">
            <a:avLst>
              <a:gd name="adj1" fmla="val 9234"/>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Not Equal 19">
            <a:extLst>
              <a:ext uri="{FF2B5EF4-FFF2-40B4-BE49-F238E27FC236}">
                <a16:creationId xmlns:a16="http://schemas.microsoft.com/office/drawing/2014/main" id="{0DFDECB9-D8EE-42B6-BE52-1A0AB7466BFA}"/>
              </a:ext>
            </a:extLst>
          </p:cNvPr>
          <p:cNvSpPr/>
          <p:nvPr/>
        </p:nvSpPr>
        <p:spPr>
          <a:xfrm>
            <a:off x="3961095" y="5128249"/>
            <a:ext cx="1046281" cy="608808"/>
          </a:xfrm>
          <a:prstGeom prst="mathNot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861658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2" grpId="0" animBg="1"/>
      <p:bldP spid="34" grpId="0"/>
      <p:bldP spid="36" grpId="0" animBg="1"/>
      <p:bldP spid="33" grpId="0" animBg="1"/>
      <p:bldP spid="7" grpId="0"/>
      <p:bldP spid="12"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FFCD-1631-4BD1-8313-934B526FCA5E}"/>
              </a:ext>
            </a:extLst>
          </p:cNvPr>
          <p:cNvSpPr>
            <a:spLocks noGrp="1"/>
          </p:cNvSpPr>
          <p:nvPr>
            <p:ph type="title"/>
          </p:nvPr>
        </p:nvSpPr>
        <p:spPr/>
        <p:txBody>
          <a:bodyPr/>
          <a:lstStyle/>
          <a:p>
            <a:r>
              <a:rPr lang="en-US" sz="3400" b="1" dirty="0">
                <a:solidFill>
                  <a:schemeClr val="accent3"/>
                </a:solidFill>
                <a:latin typeface="Segoe UI Semibold" panose="020B0502040204020203" pitchFamily="34" charset="0"/>
                <a:ea typeface="+mn-ea"/>
                <a:cs typeface="Segoe UI Semibold" panose="020B0502040204020203" pitchFamily="34" charset="0"/>
              </a:rPr>
              <a:t>What is Observability? </a:t>
            </a:r>
          </a:p>
        </p:txBody>
      </p:sp>
      <p:sp>
        <p:nvSpPr>
          <p:cNvPr id="3" name="Content Placeholder 2">
            <a:extLst>
              <a:ext uri="{FF2B5EF4-FFF2-40B4-BE49-F238E27FC236}">
                <a16:creationId xmlns:a16="http://schemas.microsoft.com/office/drawing/2014/main" id="{30084E5E-4E41-41CE-A55A-6743D255F1C7}"/>
              </a:ext>
            </a:extLst>
          </p:cNvPr>
          <p:cNvSpPr>
            <a:spLocks noGrp="1"/>
          </p:cNvSpPr>
          <p:nvPr>
            <p:ph idx="1"/>
          </p:nvPr>
        </p:nvSpPr>
        <p:spPr/>
        <p:txBody>
          <a:bodyPr/>
          <a:lstStyle/>
          <a:p>
            <a:pPr marL="0" indent="0">
              <a:buNone/>
            </a:pPr>
            <a:r>
              <a:rPr lang="en-US" dirty="0"/>
              <a:t>Observability:</a:t>
            </a:r>
          </a:p>
          <a:p>
            <a:pPr marL="0" indent="0">
              <a:buNone/>
            </a:pPr>
            <a:r>
              <a:rPr lang="en-US" b="0" i="0" dirty="0">
                <a:solidFill>
                  <a:srgbClr val="333333"/>
                </a:solidFill>
                <a:effectLst/>
                <a:latin typeface="Merriweather"/>
              </a:rPr>
              <a:t>A measure of how well internal states of a system can be inferred from knowledge of its external outputs. </a:t>
            </a:r>
            <a:r>
              <a:rPr lang="en-US" dirty="0">
                <a:solidFill>
                  <a:srgbClr val="333333"/>
                </a:solidFill>
                <a:latin typeface="Merriweather"/>
              </a:rPr>
              <a:t>It</a:t>
            </a:r>
            <a:r>
              <a:rPr lang="en-US" b="0" i="0" dirty="0">
                <a:solidFill>
                  <a:srgbClr val="333333"/>
                </a:solidFill>
                <a:effectLst/>
                <a:latin typeface="Merriweather"/>
              </a:rPr>
              <a:t> is more a property of a system. </a:t>
            </a:r>
          </a:p>
          <a:p>
            <a:pPr marL="0" indent="0">
              <a:buNone/>
            </a:pPr>
            <a:endParaRPr lang="en-US" dirty="0">
              <a:solidFill>
                <a:srgbClr val="333333"/>
              </a:solidFill>
              <a:latin typeface="Merriweather"/>
            </a:endParaRPr>
          </a:p>
          <a:p>
            <a:pPr marL="0" indent="0">
              <a:buNone/>
            </a:pPr>
            <a:r>
              <a:rPr lang="en-US" dirty="0">
                <a:solidFill>
                  <a:srgbClr val="333333"/>
                </a:solidFill>
                <a:latin typeface="Merriweather"/>
              </a:rPr>
              <a:t>Monitoring: </a:t>
            </a:r>
          </a:p>
          <a:p>
            <a:pPr marL="0" indent="0">
              <a:buNone/>
            </a:pPr>
            <a:r>
              <a:rPr lang="en-US" b="0" i="0" dirty="0">
                <a:solidFill>
                  <a:srgbClr val="333333"/>
                </a:solidFill>
                <a:effectLst/>
                <a:latin typeface="Merriweather"/>
              </a:rPr>
              <a:t>Monitoring is something we perform against our applications and systems to determine their state.</a:t>
            </a:r>
            <a:endParaRPr lang="en-US" dirty="0"/>
          </a:p>
        </p:txBody>
      </p:sp>
    </p:spTree>
    <p:extLst>
      <p:ext uri="{BB962C8B-B14F-4D97-AF65-F5344CB8AC3E}">
        <p14:creationId xmlns:p14="http://schemas.microsoft.com/office/powerpoint/2010/main" val="985483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9798F-5EF3-4903-A803-E62D0B73A22C}"/>
              </a:ext>
            </a:extLst>
          </p:cNvPr>
          <p:cNvSpPr>
            <a:spLocks noGrp="1"/>
          </p:cNvSpPr>
          <p:nvPr>
            <p:ph type="title"/>
          </p:nvPr>
        </p:nvSpPr>
        <p:spPr>
          <a:xfrm>
            <a:off x="651933" y="412865"/>
            <a:ext cx="10515600" cy="1087908"/>
          </a:xfrm>
        </p:spPr>
        <p:txBody>
          <a:bodyPr>
            <a:normAutofit/>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Observability </a:t>
            </a:r>
          </a:p>
        </p:txBody>
      </p:sp>
      <p:sp>
        <p:nvSpPr>
          <p:cNvPr id="4" name="Rectangle: Rounded Corners 3">
            <a:extLst>
              <a:ext uri="{FF2B5EF4-FFF2-40B4-BE49-F238E27FC236}">
                <a16:creationId xmlns:a16="http://schemas.microsoft.com/office/drawing/2014/main" id="{36BD4F2B-6141-4C5F-A442-3FC57937F5F4}"/>
              </a:ext>
            </a:extLst>
          </p:cNvPr>
          <p:cNvSpPr/>
          <p:nvPr/>
        </p:nvSpPr>
        <p:spPr>
          <a:xfrm>
            <a:off x="1273154" y="1825762"/>
            <a:ext cx="2537717" cy="24849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Observability</a:t>
            </a:r>
          </a:p>
          <a:p>
            <a:pPr algn="ctr"/>
            <a:r>
              <a:rPr lang="en-US" sz="2000" dirty="0"/>
              <a:t>(Tracing</a:t>
            </a:r>
          </a:p>
          <a:p>
            <a:pPr algn="ctr"/>
            <a:r>
              <a:rPr lang="en-US" sz="2000" dirty="0"/>
              <a:t>Log</a:t>
            </a:r>
          </a:p>
          <a:p>
            <a:pPr algn="ctr"/>
            <a:r>
              <a:rPr lang="en-US" sz="2000" dirty="0"/>
              <a:t>Metrics)</a:t>
            </a:r>
          </a:p>
        </p:txBody>
      </p:sp>
      <p:sp>
        <p:nvSpPr>
          <p:cNvPr id="5" name="Rectangle: Rounded Corners 4">
            <a:extLst>
              <a:ext uri="{FF2B5EF4-FFF2-40B4-BE49-F238E27FC236}">
                <a16:creationId xmlns:a16="http://schemas.microsoft.com/office/drawing/2014/main" id="{DFA441D8-6055-4FC8-8D5F-60BC0FFABC41}"/>
              </a:ext>
            </a:extLst>
          </p:cNvPr>
          <p:cNvSpPr/>
          <p:nvPr/>
        </p:nvSpPr>
        <p:spPr>
          <a:xfrm>
            <a:off x="5968659" y="2178068"/>
            <a:ext cx="1812104" cy="16541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Monitoring</a:t>
            </a:r>
          </a:p>
          <a:p>
            <a:pPr algn="ctr"/>
            <a:r>
              <a:rPr lang="en-US"/>
              <a:t>(Log</a:t>
            </a:r>
          </a:p>
          <a:p>
            <a:pPr algn="ctr"/>
            <a:r>
              <a:rPr lang="en-US"/>
              <a:t>Metrics</a:t>
            </a:r>
          </a:p>
          <a:p>
            <a:pPr algn="ctr"/>
            <a:r>
              <a:rPr lang="en-US"/>
              <a:t>Health)</a:t>
            </a:r>
          </a:p>
        </p:txBody>
      </p:sp>
      <p:cxnSp>
        <p:nvCxnSpPr>
          <p:cNvPr id="7" name="Straight Connector 6">
            <a:extLst>
              <a:ext uri="{FF2B5EF4-FFF2-40B4-BE49-F238E27FC236}">
                <a16:creationId xmlns:a16="http://schemas.microsoft.com/office/drawing/2014/main" id="{FEFB9276-AC56-49C6-A5B2-97FDD3CC9640}"/>
              </a:ext>
            </a:extLst>
          </p:cNvPr>
          <p:cNvCxnSpPr>
            <a:cxnSpLocks/>
          </p:cNvCxnSpPr>
          <p:nvPr/>
        </p:nvCxnSpPr>
        <p:spPr>
          <a:xfrm>
            <a:off x="3495905" y="1825762"/>
            <a:ext cx="2722758" cy="352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4E7AA0B-12A2-4678-9332-78B35DE43232}"/>
              </a:ext>
            </a:extLst>
          </p:cNvPr>
          <p:cNvCxnSpPr>
            <a:cxnSpLocks/>
          </p:cNvCxnSpPr>
          <p:nvPr/>
        </p:nvCxnSpPr>
        <p:spPr>
          <a:xfrm flipV="1">
            <a:off x="3492426" y="3832209"/>
            <a:ext cx="2726237" cy="447049"/>
          </a:xfrm>
          <a:prstGeom prst="line">
            <a:avLst/>
          </a:prstGeom>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E9DBE4DE-EB23-4C1D-AD65-6DF809390BC6}"/>
              </a:ext>
            </a:extLst>
          </p:cNvPr>
          <p:cNvSpPr/>
          <p:nvPr/>
        </p:nvSpPr>
        <p:spPr>
          <a:xfrm>
            <a:off x="9350034" y="2581275"/>
            <a:ext cx="1377681" cy="8477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Alerting</a:t>
            </a:r>
          </a:p>
        </p:txBody>
      </p:sp>
      <p:cxnSp>
        <p:nvCxnSpPr>
          <p:cNvPr id="13" name="Straight Connector 12">
            <a:extLst>
              <a:ext uri="{FF2B5EF4-FFF2-40B4-BE49-F238E27FC236}">
                <a16:creationId xmlns:a16="http://schemas.microsoft.com/office/drawing/2014/main" id="{7968D979-0CAF-4C44-8CFF-8649F4798B2D}"/>
              </a:ext>
            </a:extLst>
          </p:cNvPr>
          <p:cNvCxnSpPr>
            <a:cxnSpLocks/>
          </p:cNvCxnSpPr>
          <p:nvPr/>
        </p:nvCxnSpPr>
        <p:spPr>
          <a:xfrm>
            <a:off x="7646585" y="2235470"/>
            <a:ext cx="1801053" cy="34580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DC74C7F-F89D-486D-9243-5D368250AB16}"/>
              </a:ext>
            </a:extLst>
          </p:cNvPr>
          <p:cNvCxnSpPr/>
          <p:nvPr/>
        </p:nvCxnSpPr>
        <p:spPr>
          <a:xfrm flipV="1">
            <a:off x="7618838" y="3429000"/>
            <a:ext cx="1914525" cy="403208"/>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AF5BB18-FA2B-45F9-9B5A-EE8003DAAF22}"/>
              </a:ext>
            </a:extLst>
          </p:cNvPr>
          <p:cNvSpPr txBox="1"/>
          <p:nvPr/>
        </p:nvSpPr>
        <p:spPr>
          <a:xfrm>
            <a:off x="5256639" y="4189181"/>
            <a:ext cx="3676650" cy="1477328"/>
          </a:xfrm>
          <a:prstGeom prst="rect">
            <a:avLst/>
          </a:prstGeom>
          <a:noFill/>
        </p:spPr>
        <p:txBody>
          <a:bodyPr wrap="square" rtlCol="0">
            <a:spAutoFit/>
          </a:bodyPr>
          <a:lstStyle/>
          <a:p>
            <a:pPr marL="285750" indent="-285750">
              <a:buFont typeface="Arial" panose="020B0604020202020204" pitchFamily="34" charset="0"/>
              <a:buChar char="•"/>
            </a:pPr>
            <a:r>
              <a:rPr lang="en-US"/>
              <a:t>Subset of Observability data</a:t>
            </a:r>
          </a:p>
          <a:p>
            <a:pPr marL="285750" indent="-285750">
              <a:buFont typeface="Arial" panose="020B0604020202020204" pitchFamily="34" charset="0"/>
              <a:buChar char="•"/>
            </a:pPr>
            <a:r>
              <a:rPr lang="en-US"/>
              <a:t>Capture essence for troubleshooting</a:t>
            </a:r>
          </a:p>
          <a:p>
            <a:pPr marL="285750" indent="-285750">
              <a:buFont typeface="Arial" panose="020B0604020202020204" pitchFamily="34" charset="0"/>
              <a:buChar char="•"/>
            </a:pPr>
            <a:r>
              <a:rPr lang="en-US"/>
              <a:t>Present what can be the issues or </a:t>
            </a:r>
          </a:p>
          <a:p>
            <a:r>
              <a:rPr lang="en-US"/>
              <a:t>      more insights. </a:t>
            </a:r>
          </a:p>
        </p:txBody>
      </p:sp>
      <p:sp>
        <p:nvSpPr>
          <p:cNvPr id="17" name="TextBox 16">
            <a:extLst>
              <a:ext uri="{FF2B5EF4-FFF2-40B4-BE49-F238E27FC236}">
                <a16:creationId xmlns:a16="http://schemas.microsoft.com/office/drawing/2014/main" id="{C5949FFB-E461-4767-B576-1ECF8DF32111}"/>
              </a:ext>
            </a:extLst>
          </p:cNvPr>
          <p:cNvSpPr txBox="1"/>
          <p:nvPr/>
        </p:nvSpPr>
        <p:spPr>
          <a:xfrm>
            <a:off x="497242" y="4621278"/>
            <a:ext cx="4089539" cy="1200329"/>
          </a:xfrm>
          <a:prstGeom prst="rect">
            <a:avLst/>
          </a:prstGeom>
          <a:noFill/>
        </p:spPr>
        <p:txBody>
          <a:bodyPr wrap="square" rtlCol="0">
            <a:spAutoFit/>
          </a:bodyPr>
          <a:lstStyle/>
          <a:p>
            <a:pPr marL="285750" indent="-285750">
              <a:buFont typeface="Arial" panose="020B0604020202020204" pitchFamily="34" charset="0"/>
              <a:buChar char="•"/>
            </a:pPr>
            <a:r>
              <a:rPr lang="en-US" dirty="0"/>
              <a:t>Human interaction and intuition</a:t>
            </a:r>
          </a:p>
          <a:p>
            <a:pPr marL="285750" indent="-285750">
              <a:buFont typeface="Arial" panose="020B0604020202020204" pitchFamily="34" charset="0"/>
              <a:buChar char="•"/>
            </a:pPr>
            <a:r>
              <a:rPr lang="en-US" dirty="0"/>
              <a:t>There is no known issue surfaces. </a:t>
            </a:r>
          </a:p>
          <a:p>
            <a:pPr marL="285750" indent="-285750">
              <a:buFont typeface="Arial" panose="020B0604020202020204" pitchFamily="34" charset="0"/>
              <a:buChar char="•"/>
            </a:pPr>
            <a:r>
              <a:rPr lang="en-US" dirty="0"/>
              <a:t>It is to just answer “any” questions</a:t>
            </a:r>
          </a:p>
          <a:p>
            <a:r>
              <a:rPr lang="en-US" dirty="0"/>
              <a:t>      regardless of issues. </a:t>
            </a:r>
          </a:p>
        </p:txBody>
      </p:sp>
      <p:sp>
        <p:nvSpPr>
          <p:cNvPr id="18" name="TextBox 17">
            <a:extLst>
              <a:ext uri="{FF2B5EF4-FFF2-40B4-BE49-F238E27FC236}">
                <a16:creationId xmlns:a16="http://schemas.microsoft.com/office/drawing/2014/main" id="{915D6CCF-6DA1-47BE-882F-FF0956DE8236}"/>
              </a:ext>
            </a:extLst>
          </p:cNvPr>
          <p:cNvSpPr txBox="1"/>
          <p:nvPr/>
        </p:nvSpPr>
        <p:spPr>
          <a:xfrm>
            <a:off x="8933289" y="3664386"/>
            <a:ext cx="2931560" cy="646331"/>
          </a:xfrm>
          <a:prstGeom prst="rect">
            <a:avLst/>
          </a:prstGeom>
          <a:noFill/>
        </p:spPr>
        <p:txBody>
          <a:bodyPr wrap="square" rtlCol="0">
            <a:spAutoFit/>
          </a:bodyPr>
          <a:lstStyle/>
          <a:p>
            <a:pPr marL="285750" indent="-285750">
              <a:buFont typeface="Arial" panose="020B0604020202020204" pitchFamily="34" charset="0"/>
              <a:buChar char="•"/>
            </a:pPr>
            <a:r>
              <a:rPr lang="en-US"/>
              <a:t>Manifestation of the issue</a:t>
            </a:r>
          </a:p>
          <a:p>
            <a:pPr marL="285750" indent="-285750">
              <a:buFont typeface="Arial" panose="020B0604020202020204" pitchFamily="34" charset="0"/>
              <a:buChar char="•"/>
            </a:pPr>
            <a:r>
              <a:rPr lang="en-US"/>
              <a:t>Notification</a:t>
            </a:r>
          </a:p>
        </p:txBody>
      </p:sp>
    </p:spTree>
    <p:extLst>
      <p:ext uri="{BB962C8B-B14F-4D97-AF65-F5344CB8AC3E}">
        <p14:creationId xmlns:p14="http://schemas.microsoft.com/office/powerpoint/2010/main" val="1021229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6"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68A791E-4C44-4795-8232-00F83210D4C2}"/>
              </a:ext>
            </a:extLst>
          </p:cNvPr>
          <p:cNvSpPr/>
          <p:nvPr/>
        </p:nvSpPr>
        <p:spPr>
          <a:xfrm>
            <a:off x="2867462" y="2504975"/>
            <a:ext cx="4783756" cy="9240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Application</a:t>
            </a:r>
            <a:r>
              <a:rPr lang="ja-JP" altLang="en-US" dirty="0"/>
              <a:t> </a:t>
            </a:r>
            <a:r>
              <a:rPr lang="en-US" altLang="ja-JP" dirty="0"/>
              <a:t>A (200mc, 15MB)</a:t>
            </a:r>
            <a:endParaRPr lang="en-US" dirty="0"/>
          </a:p>
        </p:txBody>
      </p:sp>
      <p:sp>
        <p:nvSpPr>
          <p:cNvPr id="5" name="Rectangle: Rounded Corners 4">
            <a:extLst>
              <a:ext uri="{FF2B5EF4-FFF2-40B4-BE49-F238E27FC236}">
                <a16:creationId xmlns:a16="http://schemas.microsoft.com/office/drawing/2014/main" id="{38C24476-1080-4B2A-844E-FF7AF08D4393}"/>
              </a:ext>
            </a:extLst>
          </p:cNvPr>
          <p:cNvSpPr/>
          <p:nvPr/>
        </p:nvSpPr>
        <p:spPr>
          <a:xfrm>
            <a:off x="2867462" y="3783680"/>
            <a:ext cx="4783756" cy="924025"/>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Application</a:t>
            </a:r>
            <a:r>
              <a:rPr lang="ja-JP" altLang="en-US" dirty="0"/>
              <a:t> </a:t>
            </a:r>
            <a:r>
              <a:rPr lang="en-US" altLang="ja-JP" dirty="0"/>
              <a:t>B (220mc, 15MB)</a:t>
            </a:r>
            <a:endParaRPr lang="en-US" dirty="0"/>
          </a:p>
        </p:txBody>
      </p:sp>
      <p:sp>
        <p:nvSpPr>
          <p:cNvPr id="6" name="Rectangle: Rounded Corners 5">
            <a:extLst>
              <a:ext uri="{FF2B5EF4-FFF2-40B4-BE49-F238E27FC236}">
                <a16:creationId xmlns:a16="http://schemas.microsoft.com/office/drawing/2014/main" id="{E306BC0D-BFD9-4415-827D-56342EBFC99F}"/>
              </a:ext>
            </a:extLst>
          </p:cNvPr>
          <p:cNvSpPr/>
          <p:nvPr/>
        </p:nvSpPr>
        <p:spPr>
          <a:xfrm>
            <a:off x="2867462" y="5062385"/>
            <a:ext cx="4783756" cy="92402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t>Application</a:t>
            </a:r>
            <a:r>
              <a:rPr lang="ja-JP" altLang="en-US" dirty="0"/>
              <a:t> </a:t>
            </a:r>
            <a:r>
              <a:rPr lang="en-US" altLang="ja-JP" dirty="0"/>
              <a:t>C (150mc, 13MB)</a:t>
            </a:r>
            <a:endParaRPr lang="en-US" dirty="0"/>
          </a:p>
        </p:txBody>
      </p:sp>
      <p:sp>
        <p:nvSpPr>
          <p:cNvPr id="7" name="TextBox 6">
            <a:extLst>
              <a:ext uri="{FF2B5EF4-FFF2-40B4-BE49-F238E27FC236}">
                <a16:creationId xmlns:a16="http://schemas.microsoft.com/office/drawing/2014/main" id="{EDB3E2B2-A4FD-42D1-B19E-06253BD722A0}"/>
              </a:ext>
            </a:extLst>
          </p:cNvPr>
          <p:cNvSpPr txBox="1"/>
          <p:nvPr/>
        </p:nvSpPr>
        <p:spPr>
          <a:xfrm>
            <a:off x="3916647" y="1546599"/>
            <a:ext cx="2577950" cy="369332"/>
          </a:xfrm>
          <a:prstGeom prst="rect">
            <a:avLst/>
          </a:prstGeom>
          <a:noFill/>
        </p:spPr>
        <p:txBody>
          <a:bodyPr wrap="none" rtlCol="0">
            <a:spAutoFit/>
          </a:bodyPr>
          <a:lstStyle/>
          <a:p>
            <a:r>
              <a:rPr lang="en-US" dirty="0"/>
              <a:t>Compare Digital footprint</a:t>
            </a:r>
          </a:p>
        </p:txBody>
      </p:sp>
      <p:sp>
        <p:nvSpPr>
          <p:cNvPr id="8" name="TextBox 7">
            <a:extLst>
              <a:ext uri="{FF2B5EF4-FFF2-40B4-BE49-F238E27FC236}">
                <a16:creationId xmlns:a16="http://schemas.microsoft.com/office/drawing/2014/main" id="{8634FA3B-B528-4B23-A342-89F2BA3A51A5}"/>
              </a:ext>
            </a:extLst>
          </p:cNvPr>
          <p:cNvSpPr txBox="1"/>
          <p:nvPr/>
        </p:nvSpPr>
        <p:spPr>
          <a:xfrm>
            <a:off x="3758073" y="1915931"/>
            <a:ext cx="3131114" cy="369332"/>
          </a:xfrm>
          <a:prstGeom prst="rect">
            <a:avLst/>
          </a:prstGeom>
          <a:noFill/>
        </p:spPr>
        <p:txBody>
          <a:bodyPr wrap="none" rtlCol="0">
            <a:spAutoFit/>
          </a:bodyPr>
          <a:lstStyle/>
          <a:p>
            <a:r>
              <a:rPr lang="en-US" dirty="0"/>
              <a:t>(CPU/Memory Consumption …)</a:t>
            </a:r>
          </a:p>
        </p:txBody>
      </p:sp>
      <p:sp>
        <p:nvSpPr>
          <p:cNvPr id="10" name="TextBox 9">
            <a:extLst>
              <a:ext uri="{FF2B5EF4-FFF2-40B4-BE49-F238E27FC236}">
                <a16:creationId xmlns:a16="http://schemas.microsoft.com/office/drawing/2014/main" id="{C55693C8-C73E-478B-A885-66199881A37B}"/>
              </a:ext>
            </a:extLst>
          </p:cNvPr>
          <p:cNvSpPr txBox="1"/>
          <p:nvPr/>
        </p:nvSpPr>
        <p:spPr>
          <a:xfrm>
            <a:off x="5049058" y="3429000"/>
            <a:ext cx="420564" cy="369332"/>
          </a:xfrm>
          <a:prstGeom prst="rect">
            <a:avLst/>
          </a:prstGeom>
          <a:noFill/>
        </p:spPr>
        <p:txBody>
          <a:bodyPr wrap="none" rtlCol="0">
            <a:spAutoFit/>
          </a:bodyPr>
          <a:lstStyle/>
          <a:p>
            <a:r>
              <a:rPr lang="en-US" dirty="0"/>
              <a:t>VS</a:t>
            </a:r>
          </a:p>
        </p:txBody>
      </p:sp>
      <p:sp>
        <p:nvSpPr>
          <p:cNvPr id="11" name="TextBox 10">
            <a:extLst>
              <a:ext uri="{FF2B5EF4-FFF2-40B4-BE49-F238E27FC236}">
                <a16:creationId xmlns:a16="http://schemas.microsoft.com/office/drawing/2014/main" id="{F34ADF40-F47F-4C09-AEA4-4B5B465E5763}"/>
              </a:ext>
            </a:extLst>
          </p:cNvPr>
          <p:cNvSpPr txBox="1"/>
          <p:nvPr/>
        </p:nvSpPr>
        <p:spPr>
          <a:xfrm>
            <a:off x="5056414" y="4722357"/>
            <a:ext cx="420564" cy="369332"/>
          </a:xfrm>
          <a:prstGeom prst="rect">
            <a:avLst/>
          </a:prstGeom>
          <a:noFill/>
        </p:spPr>
        <p:txBody>
          <a:bodyPr wrap="none" rtlCol="0">
            <a:spAutoFit/>
          </a:bodyPr>
          <a:lstStyle/>
          <a:p>
            <a:r>
              <a:rPr lang="en-US" dirty="0"/>
              <a:t>VS</a:t>
            </a:r>
          </a:p>
        </p:txBody>
      </p:sp>
      <p:sp>
        <p:nvSpPr>
          <p:cNvPr id="9" name="Title 1">
            <a:extLst>
              <a:ext uri="{FF2B5EF4-FFF2-40B4-BE49-F238E27FC236}">
                <a16:creationId xmlns:a16="http://schemas.microsoft.com/office/drawing/2014/main" id="{688834B1-D24C-4A04-B23E-01A02CC393CE}"/>
              </a:ext>
            </a:extLst>
          </p:cNvPr>
          <p:cNvSpPr>
            <a:spLocks noGrp="1"/>
          </p:cNvSpPr>
          <p:nvPr>
            <p:ph type="title"/>
          </p:nvPr>
        </p:nvSpPr>
        <p:spPr>
          <a:xfrm>
            <a:off x="540250" y="283618"/>
            <a:ext cx="10987354" cy="1325563"/>
          </a:xfrm>
        </p:spPr>
        <p:txBody>
          <a:bodyPr/>
          <a:lstStyle/>
          <a:p>
            <a:r>
              <a:rPr lang="en-US" sz="3400" b="1" dirty="0">
                <a:solidFill>
                  <a:schemeClr val="accent3"/>
                </a:solidFill>
                <a:latin typeface="Segoe UI Semibold" panose="020B0502040204020203" pitchFamily="34" charset="0"/>
                <a:ea typeface="+mn-ea"/>
                <a:cs typeface="Segoe UI Semibold" panose="020B0502040204020203" pitchFamily="34" charset="0"/>
              </a:rPr>
              <a:t>Observability Example) Application Digital Footprints</a:t>
            </a:r>
          </a:p>
        </p:txBody>
      </p:sp>
    </p:spTree>
    <p:extLst>
      <p:ext uri="{BB962C8B-B14F-4D97-AF65-F5344CB8AC3E}">
        <p14:creationId xmlns:p14="http://schemas.microsoft.com/office/powerpoint/2010/main" val="2269100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03ACAB2-9B79-45B0-985B-D77DC8DF9D84}"/>
              </a:ext>
            </a:extLst>
          </p:cNvPr>
          <p:cNvSpPr>
            <a:spLocks noGrp="1"/>
          </p:cNvSpPr>
          <p:nvPr>
            <p:ph idx="1"/>
          </p:nvPr>
        </p:nvSpPr>
        <p:spPr>
          <a:xfrm>
            <a:off x="838200" y="945949"/>
            <a:ext cx="10515600" cy="4351338"/>
          </a:xfrm>
        </p:spPr>
        <p:txBody>
          <a:bodyPr anchor="ctr">
            <a:normAutofit/>
          </a:bodyPr>
          <a:lstStyle/>
          <a:p>
            <a:pPr marL="0" indent="0" algn="ctr">
              <a:buNone/>
            </a:pPr>
            <a:r>
              <a:rPr lang="en-US" sz="3600" dirty="0"/>
              <a:t>How are people using “Observability and Container Monitoring” in Enterprise? </a:t>
            </a:r>
          </a:p>
        </p:txBody>
      </p:sp>
    </p:spTree>
    <p:extLst>
      <p:ext uri="{BB962C8B-B14F-4D97-AF65-F5344CB8AC3E}">
        <p14:creationId xmlns:p14="http://schemas.microsoft.com/office/powerpoint/2010/main" val="595935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2C1B-4BFB-4F3A-8E23-B48BB5726554}"/>
              </a:ext>
            </a:extLst>
          </p:cNvPr>
          <p:cNvSpPr>
            <a:spLocks noGrp="1"/>
          </p:cNvSpPr>
          <p:nvPr>
            <p:ph type="title"/>
          </p:nvPr>
        </p:nvSpPr>
        <p:spPr>
          <a:xfrm>
            <a:off x="625152" y="464415"/>
            <a:ext cx="10515600" cy="742392"/>
          </a:xfrm>
        </p:spPr>
        <p:txBody>
          <a:bodyPr>
            <a:normAutofit/>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Gap in Stack </a:t>
            </a:r>
          </a:p>
        </p:txBody>
      </p:sp>
      <p:sp>
        <p:nvSpPr>
          <p:cNvPr id="4" name="Rectangle 3">
            <a:extLst>
              <a:ext uri="{FF2B5EF4-FFF2-40B4-BE49-F238E27FC236}">
                <a16:creationId xmlns:a16="http://schemas.microsoft.com/office/drawing/2014/main" id="{2FFF4307-7ED8-4332-9247-9CC8E9DA1163}"/>
              </a:ext>
            </a:extLst>
          </p:cNvPr>
          <p:cNvSpPr/>
          <p:nvPr/>
        </p:nvSpPr>
        <p:spPr>
          <a:xfrm>
            <a:off x="655446" y="1541771"/>
            <a:ext cx="828339" cy="146304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a:t>
            </a:r>
          </a:p>
        </p:txBody>
      </p:sp>
      <p:sp>
        <p:nvSpPr>
          <p:cNvPr id="5" name="Rectangle 4">
            <a:extLst>
              <a:ext uri="{FF2B5EF4-FFF2-40B4-BE49-F238E27FC236}">
                <a16:creationId xmlns:a16="http://schemas.microsoft.com/office/drawing/2014/main" id="{27AC1EF7-5ABE-4AA3-8DCB-36D909A41C24}"/>
              </a:ext>
            </a:extLst>
          </p:cNvPr>
          <p:cNvSpPr/>
          <p:nvPr/>
        </p:nvSpPr>
        <p:spPr>
          <a:xfrm>
            <a:off x="1616106" y="1543508"/>
            <a:ext cx="828339" cy="146304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a:t>
            </a:r>
          </a:p>
        </p:txBody>
      </p:sp>
      <p:sp>
        <p:nvSpPr>
          <p:cNvPr id="6" name="Rectangle 5">
            <a:extLst>
              <a:ext uri="{FF2B5EF4-FFF2-40B4-BE49-F238E27FC236}">
                <a16:creationId xmlns:a16="http://schemas.microsoft.com/office/drawing/2014/main" id="{477FE2A4-D038-4671-8A06-2A7A6DFE0A5A}"/>
              </a:ext>
            </a:extLst>
          </p:cNvPr>
          <p:cNvSpPr/>
          <p:nvPr/>
        </p:nvSpPr>
        <p:spPr>
          <a:xfrm>
            <a:off x="2565469" y="1541775"/>
            <a:ext cx="828339" cy="146304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a:t>
            </a:r>
          </a:p>
        </p:txBody>
      </p:sp>
      <p:sp>
        <p:nvSpPr>
          <p:cNvPr id="7" name="Rectangle 6">
            <a:extLst>
              <a:ext uri="{FF2B5EF4-FFF2-40B4-BE49-F238E27FC236}">
                <a16:creationId xmlns:a16="http://schemas.microsoft.com/office/drawing/2014/main" id="{2B673FA4-8C20-4530-8E77-7642E580682D}"/>
              </a:ext>
            </a:extLst>
          </p:cNvPr>
          <p:cNvSpPr/>
          <p:nvPr/>
        </p:nvSpPr>
        <p:spPr>
          <a:xfrm>
            <a:off x="655447" y="4359699"/>
            <a:ext cx="1777702" cy="57015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a:t>
            </a:r>
          </a:p>
        </p:txBody>
      </p:sp>
      <p:sp>
        <p:nvSpPr>
          <p:cNvPr id="8" name="Rectangle 7">
            <a:extLst>
              <a:ext uri="{FF2B5EF4-FFF2-40B4-BE49-F238E27FC236}">
                <a16:creationId xmlns:a16="http://schemas.microsoft.com/office/drawing/2014/main" id="{4331B795-3FC8-40AD-B509-724FE1369CA1}"/>
              </a:ext>
            </a:extLst>
          </p:cNvPr>
          <p:cNvSpPr/>
          <p:nvPr/>
        </p:nvSpPr>
        <p:spPr>
          <a:xfrm>
            <a:off x="2606167" y="4359699"/>
            <a:ext cx="1737004" cy="57015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OS</a:t>
            </a:r>
          </a:p>
        </p:txBody>
      </p:sp>
      <p:sp>
        <p:nvSpPr>
          <p:cNvPr id="9" name="Rectangle 8">
            <a:extLst>
              <a:ext uri="{FF2B5EF4-FFF2-40B4-BE49-F238E27FC236}">
                <a16:creationId xmlns:a16="http://schemas.microsoft.com/office/drawing/2014/main" id="{936DE89E-75E5-4D87-9AF5-BD7BDF8284F0}"/>
              </a:ext>
            </a:extLst>
          </p:cNvPr>
          <p:cNvSpPr/>
          <p:nvPr/>
        </p:nvSpPr>
        <p:spPr>
          <a:xfrm>
            <a:off x="655446" y="5037430"/>
            <a:ext cx="3687725" cy="570155"/>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Hypervisor</a:t>
            </a:r>
          </a:p>
        </p:txBody>
      </p:sp>
      <p:sp>
        <p:nvSpPr>
          <p:cNvPr id="10" name="Rectangle 9">
            <a:extLst>
              <a:ext uri="{FF2B5EF4-FFF2-40B4-BE49-F238E27FC236}">
                <a16:creationId xmlns:a16="http://schemas.microsoft.com/office/drawing/2014/main" id="{D5EB503D-A7A4-4B8B-BB16-61C840B3B35A}"/>
              </a:ext>
            </a:extLst>
          </p:cNvPr>
          <p:cNvSpPr/>
          <p:nvPr/>
        </p:nvSpPr>
        <p:spPr>
          <a:xfrm>
            <a:off x="5882956" y="4382710"/>
            <a:ext cx="2779059" cy="1247886"/>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Infrastructure monitor</a:t>
            </a:r>
          </a:p>
        </p:txBody>
      </p:sp>
      <p:sp>
        <p:nvSpPr>
          <p:cNvPr id="11" name="Rectangle 10">
            <a:extLst>
              <a:ext uri="{FF2B5EF4-FFF2-40B4-BE49-F238E27FC236}">
                <a16:creationId xmlns:a16="http://schemas.microsoft.com/office/drawing/2014/main" id="{1CBDEDC3-120E-46A6-9DA0-46ED30E42184}"/>
              </a:ext>
            </a:extLst>
          </p:cNvPr>
          <p:cNvSpPr/>
          <p:nvPr/>
        </p:nvSpPr>
        <p:spPr>
          <a:xfrm>
            <a:off x="5882953" y="1586060"/>
            <a:ext cx="2779059" cy="1418751"/>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APM monitor</a:t>
            </a:r>
          </a:p>
        </p:txBody>
      </p:sp>
      <p:cxnSp>
        <p:nvCxnSpPr>
          <p:cNvPr id="12" name="Straight Arrow Connector 11">
            <a:extLst>
              <a:ext uri="{FF2B5EF4-FFF2-40B4-BE49-F238E27FC236}">
                <a16:creationId xmlns:a16="http://schemas.microsoft.com/office/drawing/2014/main" id="{00AE2185-A8DC-4ACF-A52E-6FF3FDAA01F0}"/>
              </a:ext>
            </a:extLst>
          </p:cNvPr>
          <p:cNvCxnSpPr/>
          <p:nvPr/>
        </p:nvCxnSpPr>
        <p:spPr>
          <a:xfrm>
            <a:off x="4423500" y="2247656"/>
            <a:ext cx="1269402" cy="0"/>
          </a:xfrm>
          <a:prstGeom prst="straightConnector1">
            <a:avLst/>
          </a:prstGeom>
          <a:ln>
            <a:solidFill>
              <a:schemeClr val="bg1">
                <a:alpha val="6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47DA32D-0136-4E31-B9D3-C5C66020C134}"/>
              </a:ext>
            </a:extLst>
          </p:cNvPr>
          <p:cNvCxnSpPr/>
          <p:nvPr/>
        </p:nvCxnSpPr>
        <p:spPr>
          <a:xfrm>
            <a:off x="4423502" y="4961254"/>
            <a:ext cx="1269402" cy="0"/>
          </a:xfrm>
          <a:prstGeom prst="straightConnector1">
            <a:avLst/>
          </a:prstGeom>
          <a:ln>
            <a:solidFill>
              <a:schemeClr val="bg1">
                <a:alpha val="6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461D8EE-D787-4E33-9F55-3BA1D291E2BD}"/>
              </a:ext>
            </a:extLst>
          </p:cNvPr>
          <p:cNvSpPr txBox="1"/>
          <p:nvPr/>
        </p:nvSpPr>
        <p:spPr>
          <a:xfrm>
            <a:off x="8852067" y="4391099"/>
            <a:ext cx="2684486" cy="923330"/>
          </a:xfrm>
          <a:prstGeom prst="rect">
            <a:avLst/>
          </a:prstGeom>
          <a:noFill/>
        </p:spPr>
        <p:txBody>
          <a:bodyPr wrap="square" rtlCol="0">
            <a:spAutoFit/>
          </a:bodyPr>
          <a:lstStyle/>
          <a:p>
            <a:r>
              <a:rPr lang="en-US" dirty="0"/>
              <a:t>CPU, memory, network, storage</a:t>
            </a:r>
          </a:p>
          <a:p>
            <a:r>
              <a:rPr lang="en-US" dirty="0"/>
              <a:t>perf and logs</a:t>
            </a:r>
          </a:p>
        </p:txBody>
      </p:sp>
      <p:sp>
        <p:nvSpPr>
          <p:cNvPr id="15" name="TextBox 14">
            <a:extLst>
              <a:ext uri="{FF2B5EF4-FFF2-40B4-BE49-F238E27FC236}">
                <a16:creationId xmlns:a16="http://schemas.microsoft.com/office/drawing/2014/main" id="{47C879D7-9ADC-4D76-83F6-5240FBBD1686}"/>
              </a:ext>
            </a:extLst>
          </p:cNvPr>
          <p:cNvSpPr txBox="1"/>
          <p:nvPr/>
        </p:nvSpPr>
        <p:spPr>
          <a:xfrm>
            <a:off x="8945252" y="1647491"/>
            <a:ext cx="3152210" cy="1200329"/>
          </a:xfrm>
          <a:prstGeom prst="rect">
            <a:avLst/>
          </a:prstGeom>
          <a:noFill/>
        </p:spPr>
        <p:txBody>
          <a:bodyPr wrap="square" rtlCol="0">
            <a:spAutoFit/>
          </a:bodyPr>
          <a:lstStyle/>
          <a:p>
            <a:r>
              <a:rPr lang="en-US" dirty="0"/>
              <a:t>identify and pinpoint bottlenecks or errors</a:t>
            </a:r>
          </a:p>
          <a:p>
            <a:r>
              <a:rPr lang="en-US" dirty="0"/>
              <a:t>thru APM</a:t>
            </a:r>
          </a:p>
          <a:p>
            <a:endParaRPr lang="en-US" dirty="0"/>
          </a:p>
        </p:txBody>
      </p:sp>
      <p:sp>
        <p:nvSpPr>
          <p:cNvPr id="16" name="Rectangle 15">
            <a:extLst>
              <a:ext uri="{FF2B5EF4-FFF2-40B4-BE49-F238E27FC236}">
                <a16:creationId xmlns:a16="http://schemas.microsoft.com/office/drawing/2014/main" id="{829AEFC7-D5FC-4614-9C63-2478D9605BCC}"/>
              </a:ext>
            </a:extLst>
          </p:cNvPr>
          <p:cNvSpPr/>
          <p:nvPr/>
        </p:nvSpPr>
        <p:spPr>
          <a:xfrm>
            <a:off x="655446" y="3112392"/>
            <a:ext cx="3687725" cy="11397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Containers</a:t>
            </a:r>
          </a:p>
        </p:txBody>
      </p:sp>
      <p:cxnSp>
        <p:nvCxnSpPr>
          <p:cNvPr id="20" name="Straight Arrow Connector 19">
            <a:extLst>
              <a:ext uri="{FF2B5EF4-FFF2-40B4-BE49-F238E27FC236}">
                <a16:creationId xmlns:a16="http://schemas.microsoft.com/office/drawing/2014/main" id="{5A721DAD-0C78-4620-997B-B74B4F361BAB}"/>
              </a:ext>
            </a:extLst>
          </p:cNvPr>
          <p:cNvCxnSpPr/>
          <p:nvPr/>
        </p:nvCxnSpPr>
        <p:spPr>
          <a:xfrm>
            <a:off x="4423500" y="3646718"/>
            <a:ext cx="126940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627E1EC-B3D8-4F02-B5C1-FD2C6D5721F0}"/>
              </a:ext>
            </a:extLst>
          </p:cNvPr>
          <p:cNvSpPr/>
          <p:nvPr/>
        </p:nvSpPr>
        <p:spPr>
          <a:xfrm>
            <a:off x="5882952" y="3104001"/>
            <a:ext cx="2779059" cy="1139732"/>
          </a:xfrm>
          <a:prstGeom prst="rect">
            <a:avLst/>
          </a:prstGeom>
          <a:solidFill>
            <a:schemeClr val="bg1">
              <a:lumMod val="50000"/>
              <a:lumOff val="5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Gap</a:t>
            </a:r>
          </a:p>
        </p:txBody>
      </p:sp>
      <p:sp>
        <p:nvSpPr>
          <p:cNvPr id="22" name="Rectangle 21">
            <a:extLst>
              <a:ext uri="{FF2B5EF4-FFF2-40B4-BE49-F238E27FC236}">
                <a16:creationId xmlns:a16="http://schemas.microsoft.com/office/drawing/2014/main" id="{AD8121FA-7B19-425B-B94F-08DE7CAA9DEE}"/>
              </a:ext>
            </a:extLst>
          </p:cNvPr>
          <p:cNvSpPr/>
          <p:nvPr/>
        </p:nvSpPr>
        <p:spPr>
          <a:xfrm>
            <a:off x="3514832" y="1541775"/>
            <a:ext cx="828339" cy="146304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a:t>
            </a:r>
          </a:p>
        </p:txBody>
      </p:sp>
    </p:spTree>
    <p:extLst>
      <p:ext uri="{BB962C8B-B14F-4D97-AF65-F5344CB8AC3E}">
        <p14:creationId xmlns:p14="http://schemas.microsoft.com/office/powerpoint/2010/main" val="2479668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65A33B0-1447-406F-828E-60D08665940D}"/>
              </a:ext>
            </a:extLst>
          </p:cNvPr>
          <p:cNvSpPr>
            <a:spLocks noGrp="1"/>
          </p:cNvSpPr>
          <p:nvPr>
            <p:ph type="title"/>
          </p:nvPr>
        </p:nvSpPr>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Who would monitor containers?</a:t>
            </a:r>
          </a:p>
        </p:txBody>
      </p:sp>
      <p:pic>
        <p:nvPicPr>
          <p:cNvPr id="5" name="Picture 4">
            <a:extLst>
              <a:ext uri="{FF2B5EF4-FFF2-40B4-BE49-F238E27FC236}">
                <a16:creationId xmlns:a16="http://schemas.microsoft.com/office/drawing/2014/main" id="{D2911862-1B37-4F34-A1A1-98FA82DB0A44}"/>
              </a:ext>
            </a:extLst>
          </p:cNvPr>
          <p:cNvPicPr/>
          <p:nvPr/>
        </p:nvPicPr>
        <p:blipFill>
          <a:blip r:embed="rId2">
            <a:extLst>
              <a:ext uri="{28A0092B-C50C-407E-A947-70E740481C1C}">
                <a14:useLocalDpi xmlns:a14="http://schemas.microsoft.com/office/drawing/2010/main" val="0"/>
              </a:ext>
            </a:extLst>
          </a:blip>
          <a:stretch>
            <a:fillRect/>
          </a:stretch>
        </p:blipFill>
        <p:spPr>
          <a:xfrm>
            <a:off x="1618742" y="1986218"/>
            <a:ext cx="8954516" cy="4250195"/>
          </a:xfrm>
          <a:prstGeom prst="rect">
            <a:avLst/>
          </a:prstGeom>
        </p:spPr>
      </p:pic>
    </p:spTree>
    <p:extLst>
      <p:ext uri="{BB962C8B-B14F-4D97-AF65-F5344CB8AC3E}">
        <p14:creationId xmlns:p14="http://schemas.microsoft.com/office/powerpoint/2010/main" val="203507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8D24F-4C1C-462C-8012-054A438264C3}"/>
              </a:ext>
            </a:extLst>
          </p:cNvPr>
          <p:cNvSpPr>
            <a:spLocks noGrp="1"/>
          </p:cNvSpPr>
          <p:nvPr>
            <p:ph type="title"/>
          </p:nvPr>
        </p:nvSpPr>
        <p:spPr>
          <a:xfrm>
            <a:off x="503491" y="88475"/>
            <a:ext cx="11178226" cy="1325563"/>
          </a:xfrm>
        </p:spPr>
        <p:txBody>
          <a:bodyPr>
            <a:normAutofit/>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Container bringing changes to IT Organization</a:t>
            </a:r>
          </a:p>
        </p:txBody>
      </p:sp>
      <p:grpSp>
        <p:nvGrpSpPr>
          <p:cNvPr id="3" name="Group 2">
            <a:extLst>
              <a:ext uri="{FF2B5EF4-FFF2-40B4-BE49-F238E27FC236}">
                <a16:creationId xmlns:a16="http://schemas.microsoft.com/office/drawing/2014/main" id="{C38AA8B7-23C0-4DE3-B176-98C92C0DB79A}"/>
              </a:ext>
            </a:extLst>
          </p:cNvPr>
          <p:cNvGrpSpPr/>
          <p:nvPr/>
        </p:nvGrpSpPr>
        <p:grpSpPr>
          <a:xfrm>
            <a:off x="7832919" y="4305874"/>
            <a:ext cx="1991278" cy="1960484"/>
            <a:chOff x="2963751" y="2032529"/>
            <a:chExt cx="1991278" cy="1960484"/>
          </a:xfrm>
        </p:grpSpPr>
        <p:sp>
          <p:nvSpPr>
            <p:cNvPr id="14" name="Rectangle: Rounded Corners 13">
              <a:extLst>
                <a:ext uri="{FF2B5EF4-FFF2-40B4-BE49-F238E27FC236}">
                  <a16:creationId xmlns:a16="http://schemas.microsoft.com/office/drawing/2014/main" id="{F319153E-29B6-4DAE-85E4-882B1204BA66}"/>
                </a:ext>
              </a:extLst>
            </p:cNvPr>
            <p:cNvSpPr/>
            <p:nvPr/>
          </p:nvSpPr>
          <p:spPr>
            <a:xfrm>
              <a:off x="2963751" y="2032529"/>
              <a:ext cx="1991278" cy="196048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5210F69-FF60-4688-A938-4A4FF44AAD80}"/>
                </a:ext>
              </a:extLst>
            </p:cNvPr>
            <p:cNvGrpSpPr/>
            <p:nvPr/>
          </p:nvGrpSpPr>
          <p:grpSpPr>
            <a:xfrm>
              <a:off x="3597896" y="2684814"/>
              <a:ext cx="722987" cy="542785"/>
              <a:chOff x="3919396" y="3007306"/>
              <a:chExt cx="722987" cy="542785"/>
            </a:xfrm>
          </p:grpSpPr>
          <p:pic>
            <p:nvPicPr>
              <p:cNvPr id="18" name="Picture 17">
                <a:extLst>
                  <a:ext uri="{FF2B5EF4-FFF2-40B4-BE49-F238E27FC236}">
                    <a16:creationId xmlns:a16="http://schemas.microsoft.com/office/drawing/2014/main" id="{8789D2EB-A514-4A7A-BC9E-306627D27EB1}"/>
                  </a:ext>
                </a:extLst>
              </p:cNvPr>
              <p:cNvPicPr>
                <a:picLocks noChangeAspect="1"/>
              </p:cNvPicPr>
              <p:nvPr/>
            </p:nvPicPr>
            <p:blipFill>
              <a:blip r:embed="rId3"/>
              <a:stretch>
                <a:fillRect/>
              </a:stretch>
            </p:blipFill>
            <p:spPr>
              <a:xfrm>
                <a:off x="3919396" y="3023240"/>
                <a:ext cx="418263" cy="526851"/>
              </a:xfrm>
              <a:prstGeom prst="rect">
                <a:avLst/>
              </a:prstGeom>
            </p:spPr>
          </p:pic>
          <p:pic>
            <p:nvPicPr>
              <p:cNvPr id="19" name="Picture 18">
                <a:extLst>
                  <a:ext uri="{FF2B5EF4-FFF2-40B4-BE49-F238E27FC236}">
                    <a16:creationId xmlns:a16="http://schemas.microsoft.com/office/drawing/2014/main" id="{F6154ACA-FA78-4E02-806C-595EB18B1E02}"/>
                  </a:ext>
                </a:extLst>
              </p:cNvPr>
              <p:cNvPicPr>
                <a:picLocks noChangeAspect="1"/>
              </p:cNvPicPr>
              <p:nvPr/>
            </p:nvPicPr>
            <p:blipFill>
              <a:blip r:embed="rId4"/>
              <a:stretch>
                <a:fillRect/>
              </a:stretch>
            </p:blipFill>
            <p:spPr>
              <a:xfrm>
                <a:off x="4259219" y="3007306"/>
                <a:ext cx="383164" cy="526851"/>
              </a:xfrm>
              <a:prstGeom prst="rect">
                <a:avLst/>
              </a:prstGeom>
            </p:spPr>
          </p:pic>
        </p:grpSp>
        <p:sp>
          <p:nvSpPr>
            <p:cNvPr id="20" name="TextBox 19">
              <a:extLst>
                <a:ext uri="{FF2B5EF4-FFF2-40B4-BE49-F238E27FC236}">
                  <a16:creationId xmlns:a16="http://schemas.microsoft.com/office/drawing/2014/main" id="{13D39289-5EA9-4AC5-A520-D91EFCD5D5D3}"/>
                </a:ext>
              </a:extLst>
            </p:cNvPr>
            <p:cNvSpPr txBox="1"/>
            <p:nvPr/>
          </p:nvSpPr>
          <p:spPr>
            <a:xfrm>
              <a:off x="3637995" y="3137016"/>
              <a:ext cx="671466" cy="369332"/>
            </a:xfrm>
            <a:prstGeom prst="rect">
              <a:avLst/>
            </a:prstGeom>
            <a:noFill/>
          </p:spPr>
          <p:txBody>
            <a:bodyPr wrap="none" rtlCol="0">
              <a:spAutoFit/>
            </a:bodyPr>
            <a:lstStyle/>
            <a:p>
              <a:r>
                <a:rPr lang="en-US"/>
                <a:t>ITPro</a:t>
              </a:r>
            </a:p>
          </p:txBody>
        </p:sp>
      </p:grpSp>
      <p:grpSp>
        <p:nvGrpSpPr>
          <p:cNvPr id="7" name="Group 6">
            <a:extLst>
              <a:ext uri="{FF2B5EF4-FFF2-40B4-BE49-F238E27FC236}">
                <a16:creationId xmlns:a16="http://schemas.microsoft.com/office/drawing/2014/main" id="{BAEE4F7E-9AE1-49DE-BE44-B7716972B1D6}"/>
              </a:ext>
            </a:extLst>
          </p:cNvPr>
          <p:cNvGrpSpPr/>
          <p:nvPr/>
        </p:nvGrpSpPr>
        <p:grpSpPr>
          <a:xfrm>
            <a:off x="7832919" y="2049586"/>
            <a:ext cx="1991278" cy="1945414"/>
            <a:chOff x="889306" y="2036841"/>
            <a:chExt cx="1991278" cy="1945414"/>
          </a:xfrm>
        </p:grpSpPr>
        <p:sp>
          <p:nvSpPr>
            <p:cNvPr id="26" name="Rectangle: Rounded Corners 25">
              <a:extLst>
                <a:ext uri="{FF2B5EF4-FFF2-40B4-BE49-F238E27FC236}">
                  <a16:creationId xmlns:a16="http://schemas.microsoft.com/office/drawing/2014/main" id="{A94022B5-CEDA-4944-8092-46F92ABBC3B1}"/>
                </a:ext>
              </a:extLst>
            </p:cNvPr>
            <p:cNvSpPr/>
            <p:nvPr/>
          </p:nvSpPr>
          <p:spPr>
            <a:xfrm>
              <a:off x="889306" y="2036841"/>
              <a:ext cx="1991278" cy="19454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A76F07A-5C85-41C9-B87C-9A466C9898BA}"/>
                </a:ext>
              </a:extLst>
            </p:cNvPr>
            <p:cNvSpPr txBox="1"/>
            <p:nvPr/>
          </p:nvSpPr>
          <p:spPr>
            <a:xfrm>
              <a:off x="1371797" y="3157080"/>
              <a:ext cx="1151084" cy="369332"/>
            </a:xfrm>
            <a:prstGeom prst="rect">
              <a:avLst/>
            </a:prstGeom>
            <a:noFill/>
          </p:spPr>
          <p:txBody>
            <a:bodyPr wrap="none" rtlCol="0">
              <a:spAutoFit/>
            </a:bodyPr>
            <a:lstStyle/>
            <a:p>
              <a:r>
                <a:rPr lang="en-US"/>
                <a:t>Developer</a:t>
              </a:r>
            </a:p>
          </p:txBody>
        </p:sp>
        <p:pic>
          <p:nvPicPr>
            <p:cNvPr id="28" name="Picture 27">
              <a:extLst>
                <a:ext uri="{FF2B5EF4-FFF2-40B4-BE49-F238E27FC236}">
                  <a16:creationId xmlns:a16="http://schemas.microsoft.com/office/drawing/2014/main" id="{B3BC9B1C-CB68-4E69-9342-DFC7F71BA97A}"/>
                </a:ext>
              </a:extLst>
            </p:cNvPr>
            <p:cNvPicPr>
              <a:picLocks noChangeAspect="1"/>
            </p:cNvPicPr>
            <p:nvPr/>
          </p:nvPicPr>
          <p:blipFill>
            <a:blip r:embed="rId5"/>
            <a:stretch>
              <a:fillRect/>
            </a:stretch>
          </p:blipFill>
          <p:spPr>
            <a:xfrm>
              <a:off x="1503233" y="2725806"/>
              <a:ext cx="410696" cy="526852"/>
            </a:xfrm>
            <a:prstGeom prst="rect">
              <a:avLst/>
            </a:prstGeom>
          </p:spPr>
        </p:pic>
        <p:pic>
          <p:nvPicPr>
            <p:cNvPr id="29" name="Picture 28">
              <a:extLst>
                <a:ext uri="{FF2B5EF4-FFF2-40B4-BE49-F238E27FC236}">
                  <a16:creationId xmlns:a16="http://schemas.microsoft.com/office/drawing/2014/main" id="{79619F41-52DB-4DD5-8234-5682D70ADF61}"/>
                </a:ext>
              </a:extLst>
            </p:cNvPr>
            <p:cNvPicPr>
              <a:picLocks noChangeAspect="1"/>
            </p:cNvPicPr>
            <p:nvPr/>
          </p:nvPicPr>
          <p:blipFill>
            <a:blip r:embed="rId6"/>
            <a:stretch>
              <a:fillRect/>
            </a:stretch>
          </p:blipFill>
          <p:spPr>
            <a:xfrm>
              <a:off x="1931835" y="2725806"/>
              <a:ext cx="425830" cy="526851"/>
            </a:xfrm>
            <a:prstGeom prst="rect">
              <a:avLst/>
            </a:prstGeom>
          </p:spPr>
        </p:pic>
      </p:grpSp>
      <p:sp>
        <p:nvSpPr>
          <p:cNvPr id="33" name="TextBox 32">
            <a:extLst>
              <a:ext uri="{FF2B5EF4-FFF2-40B4-BE49-F238E27FC236}">
                <a16:creationId xmlns:a16="http://schemas.microsoft.com/office/drawing/2014/main" id="{90C91D9C-2D52-42B0-8F64-23343B7ABF20}"/>
              </a:ext>
            </a:extLst>
          </p:cNvPr>
          <p:cNvSpPr txBox="1"/>
          <p:nvPr/>
        </p:nvSpPr>
        <p:spPr>
          <a:xfrm>
            <a:off x="10080421" y="2896070"/>
            <a:ext cx="1245021" cy="369332"/>
          </a:xfrm>
          <a:prstGeom prst="rect">
            <a:avLst/>
          </a:prstGeom>
          <a:noFill/>
        </p:spPr>
        <p:txBody>
          <a:bodyPr wrap="none" rtlCol="0">
            <a:spAutoFit/>
          </a:bodyPr>
          <a:lstStyle/>
          <a:p>
            <a:r>
              <a:rPr lang="en-US" dirty="0"/>
              <a:t>Application</a:t>
            </a:r>
          </a:p>
        </p:txBody>
      </p:sp>
      <p:sp>
        <p:nvSpPr>
          <p:cNvPr id="35" name="TextBox 34">
            <a:extLst>
              <a:ext uri="{FF2B5EF4-FFF2-40B4-BE49-F238E27FC236}">
                <a16:creationId xmlns:a16="http://schemas.microsoft.com/office/drawing/2014/main" id="{5EBAF1F9-A78B-4433-8E6F-D8CAE0C8584D}"/>
              </a:ext>
            </a:extLst>
          </p:cNvPr>
          <p:cNvSpPr txBox="1"/>
          <p:nvPr/>
        </p:nvSpPr>
        <p:spPr>
          <a:xfrm>
            <a:off x="10090642" y="4998615"/>
            <a:ext cx="1474634" cy="369332"/>
          </a:xfrm>
          <a:prstGeom prst="rect">
            <a:avLst/>
          </a:prstGeom>
          <a:noFill/>
        </p:spPr>
        <p:txBody>
          <a:bodyPr wrap="none" rtlCol="0">
            <a:spAutoFit/>
          </a:bodyPr>
          <a:lstStyle/>
          <a:p>
            <a:r>
              <a:rPr lang="en-US" dirty="0"/>
              <a:t>Infrastructure</a:t>
            </a:r>
          </a:p>
        </p:txBody>
      </p:sp>
      <p:cxnSp>
        <p:nvCxnSpPr>
          <p:cNvPr id="11" name="Straight Connector 10">
            <a:extLst>
              <a:ext uri="{FF2B5EF4-FFF2-40B4-BE49-F238E27FC236}">
                <a16:creationId xmlns:a16="http://schemas.microsoft.com/office/drawing/2014/main" id="{203D000A-A588-46F7-8126-5621D9646451}"/>
              </a:ext>
            </a:extLst>
          </p:cNvPr>
          <p:cNvCxnSpPr>
            <a:cxnSpLocks/>
          </p:cNvCxnSpPr>
          <p:nvPr/>
        </p:nvCxnSpPr>
        <p:spPr>
          <a:xfrm>
            <a:off x="626724" y="4134624"/>
            <a:ext cx="10392367" cy="0"/>
          </a:xfrm>
          <a:prstGeom prst="line">
            <a:avLst/>
          </a:prstGeom>
          <a:ln>
            <a:prstDash val="lg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mc:Choice xmlns:p14="http://schemas.microsoft.com/office/powerpoint/2010/main" Requires="p14">
          <p:contentPart p14:bwMode="auto" r:id="rId7">
            <p14:nvContentPartPr>
              <p14:cNvPr id="44" name="Ink 43">
                <a:extLst>
                  <a:ext uri="{FF2B5EF4-FFF2-40B4-BE49-F238E27FC236}">
                    <a16:creationId xmlns:a16="http://schemas.microsoft.com/office/drawing/2014/main" id="{68AAEE91-BDE7-470E-BFB9-194DAC3CE7BB}"/>
                  </a:ext>
                </a:extLst>
              </p14:cNvPr>
              <p14:cNvContentPartPr/>
              <p14:nvPr/>
            </p14:nvContentPartPr>
            <p14:xfrm>
              <a:off x="12281327" y="2883909"/>
              <a:ext cx="11160" cy="17280"/>
            </p14:xfrm>
          </p:contentPart>
        </mc:Choice>
        <mc:Fallback>
          <p:pic>
            <p:nvPicPr>
              <p:cNvPr id="44" name="Ink 43">
                <a:extLst>
                  <a:ext uri="{FF2B5EF4-FFF2-40B4-BE49-F238E27FC236}">
                    <a16:creationId xmlns:a16="http://schemas.microsoft.com/office/drawing/2014/main" id="{68AAEE91-BDE7-470E-BFB9-194DAC3CE7BB}"/>
                  </a:ext>
                </a:extLst>
              </p:cNvPr>
              <p:cNvPicPr/>
              <p:nvPr/>
            </p:nvPicPr>
            <p:blipFill>
              <a:blip r:embed="rId8"/>
              <a:stretch>
                <a:fillRect/>
              </a:stretch>
            </p:blipFill>
            <p:spPr>
              <a:xfrm>
                <a:off x="12272327" y="2874909"/>
                <a:ext cx="28800" cy="34920"/>
              </a:xfrm>
              <a:prstGeom prst="rect">
                <a:avLst/>
              </a:prstGeom>
            </p:spPr>
          </p:pic>
        </mc:Fallback>
      </mc:AlternateContent>
      <p:sp>
        <p:nvSpPr>
          <p:cNvPr id="58" name="TextBox 57">
            <a:extLst>
              <a:ext uri="{FF2B5EF4-FFF2-40B4-BE49-F238E27FC236}">
                <a16:creationId xmlns:a16="http://schemas.microsoft.com/office/drawing/2014/main" id="{C0BCCFB0-CB93-4332-A987-5F0F112FABD6}"/>
              </a:ext>
            </a:extLst>
          </p:cNvPr>
          <p:cNvSpPr txBox="1"/>
          <p:nvPr/>
        </p:nvSpPr>
        <p:spPr>
          <a:xfrm>
            <a:off x="4948661" y="2883909"/>
            <a:ext cx="2352054" cy="369332"/>
          </a:xfrm>
          <a:prstGeom prst="rect">
            <a:avLst/>
          </a:prstGeom>
          <a:noFill/>
        </p:spPr>
        <p:txBody>
          <a:bodyPr wrap="none" rtlCol="0">
            <a:spAutoFit/>
          </a:bodyPr>
          <a:lstStyle/>
          <a:p>
            <a:r>
              <a:rPr lang="en-US" dirty="0"/>
              <a:t>Application Monitoring</a:t>
            </a:r>
          </a:p>
        </p:txBody>
      </p:sp>
      <p:sp>
        <p:nvSpPr>
          <p:cNvPr id="59" name="TextBox 58">
            <a:extLst>
              <a:ext uri="{FF2B5EF4-FFF2-40B4-BE49-F238E27FC236}">
                <a16:creationId xmlns:a16="http://schemas.microsoft.com/office/drawing/2014/main" id="{81AE62DC-86B9-4D71-A3E3-EFF61E888A98}"/>
              </a:ext>
            </a:extLst>
          </p:cNvPr>
          <p:cNvSpPr txBox="1"/>
          <p:nvPr/>
        </p:nvSpPr>
        <p:spPr>
          <a:xfrm>
            <a:off x="5112872" y="5087195"/>
            <a:ext cx="2074479" cy="646331"/>
          </a:xfrm>
          <a:prstGeom prst="rect">
            <a:avLst/>
          </a:prstGeom>
          <a:noFill/>
        </p:spPr>
        <p:txBody>
          <a:bodyPr wrap="none" rtlCol="0">
            <a:spAutoFit/>
          </a:bodyPr>
          <a:lstStyle/>
          <a:p>
            <a:r>
              <a:rPr lang="en-US" dirty="0"/>
              <a:t>VM(CPU), Network, </a:t>
            </a:r>
          </a:p>
          <a:p>
            <a:r>
              <a:rPr lang="en-US" dirty="0"/>
              <a:t>Storage Monitoring </a:t>
            </a:r>
          </a:p>
        </p:txBody>
      </p:sp>
      <p:sp>
        <p:nvSpPr>
          <p:cNvPr id="30" name="Rectangle 29">
            <a:extLst>
              <a:ext uri="{FF2B5EF4-FFF2-40B4-BE49-F238E27FC236}">
                <a16:creationId xmlns:a16="http://schemas.microsoft.com/office/drawing/2014/main" id="{59BA1722-5131-4F50-9190-A13DFDAA5456}"/>
              </a:ext>
            </a:extLst>
          </p:cNvPr>
          <p:cNvSpPr/>
          <p:nvPr/>
        </p:nvSpPr>
        <p:spPr>
          <a:xfrm>
            <a:off x="853992" y="4741521"/>
            <a:ext cx="2958957" cy="14869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t"/>
          <a:lstStyle/>
          <a:p>
            <a:pPr marL="285750" indent="-285750">
              <a:buFont typeface="Arial" panose="020B0604020202020204" pitchFamily="34" charset="0"/>
              <a:buChar char="•"/>
            </a:pPr>
            <a:r>
              <a:rPr lang="en-US" dirty="0"/>
              <a:t>VM (CPU, Network, Storage Monitoring)</a:t>
            </a:r>
          </a:p>
          <a:p>
            <a:pPr marL="285750" indent="-285750">
              <a:buFont typeface="Arial" panose="020B0604020202020204" pitchFamily="34" charset="0"/>
              <a:buChar char="•"/>
            </a:pPr>
            <a:r>
              <a:rPr lang="en-US" dirty="0">
                <a:solidFill>
                  <a:srgbClr val="FF0000"/>
                </a:solidFill>
              </a:rPr>
              <a:t>Kubernetes Monitoring </a:t>
            </a:r>
          </a:p>
          <a:p>
            <a:r>
              <a:rPr lang="en-US" dirty="0">
                <a:solidFill>
                  <a:srgbClr val="FF0000"/>
                </a:solidFill>
              </a:rPr>
              <a:t>     (storage, VM, networking)</a:t>
            </a:r>
          </a:p>
          <a:p>
            <a:pPr marL="285750" indent="-285750">
              <a:buFont typeface="Arial" panose="020B0604020202020204" pitchFamily="34" charset="0"/>
              <a:buChar char="•"/>
            </a:pPr>
            <a:r>
              <a:rPr lang="en-US" dirty="0">
                <a:solidFill>
                  <a:srgbClr val="FF0000"/>
                </a:solidFill>
              </a:rPr>
              <a:t>Container Monitoring</a:t>
            </a:r>
          </a:p>
        </p:txBody>
      </p:sp>
      <p:sp>
        <p:nvSpPr>
          <p:cNvPr id="32" name="TextBox 31">
            <a:extLst>
              <a:ext uri="{FF2B5EF4-FFF2-40B4-BE49-F238E27FC236}">
                <a16:creationId xmlns:a16="http://schemas.microsoft.com/office/drawing/2014/main" id="{4796AED4-448E-464D-B832-63B5A5071C18}"/>
              </a:ext>
            </a:extLst>
          </p:cNvPr>
          <p:cNvSpPr txBox="1"/>
          <p:nvPr/>
        </p:nvSpPr>
        <p:spPr>
          <a:xfrm>
            <a:off x="4993640" y="1559739"/>
            <a:ext cx="2287357" cy="369332"/>
          </a:xfrm>
          <a:prstGeom prst="rect">
            <a:avLst/>
          </a:prstGeom>
          <a:solidFill>
            <a:schemeClr val="bg2"/>
          </a:solidFill>
        </p:spPr>
        <p:txBody>
          <a:bodyPr wrap="none" rtlCol="0">
            <a:spAutoFit/>
          </a:bodyPr>
          <a:lstStyle/>
          <a:p>
            <a:r>
              <a:rPr lang="en-US" dirty="0"/>
              <a:t>Traditional Monitoring</a:t>
            </a:r>
          </a:p>
        </p:txBody>
      </p:sp>
      <p:cxnSp>
        <p:nvCxnSpPr>
          <p:cNvPr id="8" name="Straight Connector 7">
            <a:extLst>
              <a:ext uri="{FF2B5EF4-FFF2-40B4-BE49-F238E27FC236}">
                <a16:creationId xmlns:a16="http://schemas.microsoft.com/office/drawing/2014/main" id="{D23F6763-763F-4DB2-AD9F-9DDCB23552D7}"/>
              </a:ext>
            </a:extLst>
          </p:cNvPr>
          <p:cNvCxnSpPr>
            <a:cxnSpLocks/>
          </p:cNvCxnSpPr>
          <p:nvPr/>
        </p:nvCxnSpPr>
        <p:spPr>
          <a:xfrm>
            <a:off x="4665757" y="1248020"/>
            <a:ext cx="0" cy="5241921"/>
          </a:xfrm>
          <a:prstGeom prst="line">
            <a:avLst/>
          </a:prstGeom>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D116DE8-72CD-4DE3-B1D7-075DD8452A6D}"/>
              </a:ext>
            </a:extLst>
          </p:cNvPr>
          <p:cNvSpPr txBox="1"/>
          <p:nvPr/>
        </p:nvSpPr>
        <p:spPr>
          <a:xfrm>
            <a:off x="685853" y="1571886"/>
            <a:ext cx="3764998" cy="646331"/>
          </a:xfrm>
          <a:prstGeom prst="rect">
            <a:avLst/>
          </a:prstGeom>
          <a:solidFill>
            <a:schemeClr val="bg2"/>
          </a:solidFill>
        </p:spPr>
        <p:txBody>
          <a:bodyPr wrap="square" rtlCol="0">
            <a:spAutoFit/>
          </a:bodyPr>
          <a:lstStyle/>
          <a:p>
            <a:r>
              <a:rPr lang="en-US" dirty="0"/>
              <a:t>Traditional Monitoring with </a:t>
            </a:r>
          </a:p>
          <a:p>
            <a:r>
              <a:rPr lang="en-US" dirty="0"/>
              <a:t>Microservice/Container  Monitoring</a:t>
            </a:r>
          </a:p>
        </p:txBody>
      </p:sp>
      <p:sp>
        <p:nvSpPr>
          <p:cNvPr id="39" name="TextBox 38">
            <a:extLst>
              <a:ext uri="{FF2B5EF4-FFF2-40B4-BE49-F238E27FC236}">
                <a16:creationId xmlns:a16="http://schemas.microsoft.com/office/drawing/2014/main" id="{69DA2F9D-5893-42C9-923F-A547EE68762D}"/>
              </a:ext>
            </a:extLst>
          </p:cNvPr>
          <p:cNvSpPr txBox="1"/>
          <p:nvPr/>
        </p:nvSpPr>
        <p:spPr>
          <a:xfrm>
            <a:off x="853992" y="2863062"/>
            <a:ext cx="3793859" cy="646331"/>
          </a:xfrm>
          <a:prstGeom prst="rect">
            <a:avLst/>
          </a:prstGeom>
          <a:noFill/>
        </p:spPr>
        <p:txBody>
          <a:bodyPr wrap="none" rtlCol="0">
            <a:spAutoFit/>
          </a:bodyPr>
          <a:lstStyle/>
          <a:p>
            <a:pPr marL="285750" indent="-285750">
              <a:buFont typeface="Arial" panose="020B0604020202020204" pitchFamily="34" charset="0"/>
              <a:buChar char="•"/>
            </a:pPr>
            <a:r>
              <a:rPr lang="en-US" dirty="0"/>
              <a:t>Application Monitoring</a:t>
            </a:r>
          </a:p>
          <a:p>
            <a:pPr marL="285750" indent="-285750">
              <a:buFont typeface="Arial" panose="020B0604020202020204" pitchFamily="34" charset="0"/>
              <a:buChar char="•"/>
            </a:pPr>
            <a:r>
              <a:rPr lang="en-US" dirty="0">
                <a:solidFill>
                  <a:srgbClr val="FF0000"/>
                </a:solidFill>
              </a:rPr>
              <a:t>Microservice/Container Monitoring</a:t>
            </a:r>
          </a:p>
        </p:txBody>
      </p:sp>
      <p:cxnSp>
        <p:nvCxnSpPr>
          <p:cNvPr id="16" name="Straight Arrow Connector 15">
            <a:extLst>
              <a:ext uri="{FF2B5EF4-FFF2-40B4-BE49-F238E27FC236}">
                <a16:creationId xmlns:a16="http://schemas.microsoft.com/office/drawing/2014/main" id="{8CF47FD8-B02D-4668-825B-C437783829AD}"/>
              </a:ext>
            </a:extLst>
          </p:cNvPr>
          <p:cNvCxnSpPr>
            <a:stCxn id="58" idx="1"/>
          </p:cNvCxnSpPr>
          <p:nvPr/>
        </p:nvCxnSpPr>
        <p:spPr>
          <a:xfrm flipH="1">
            <a:off x="3863083" y="3068575"/>
            <a:ext cx="10855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A8B2DF4-8FBE-43E7-BAE7-C26A65B062D0}"/>
              </a:ext>
            </a:extLst>
          </p:cNvPr>
          <p:cNvCxnSpPr/>
          <p:nvPr/>
        </p:nvCxnSpPr>
        <p:spPr>
          <a:xfrm flipH="1">
            <a:off x="3908062" y="5410360"/>
            <a:ext cx="10855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2593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38AA8B7-23C0-4DE3-B176-98C92C0DB79A}"/>
              </a:ext>
            </a:extLst>
          </p:cNvPr>
          <p:cNvGrpSpPr/>
          <p:nvPr/>
        </p:nvGrpSpPr>
        <p:grpSpPr>
          <a:xfrm>
            <a:off x="7538209" y="1360288"/>
            <a:ext cx="1991278" cy="1960484"/>
            <a:chOff x="2963751" y="2032529"/>
            <a:chExt cx="1991278" cy="1960484"/>
          </a:xfrm>
        </p:grpSpPr>
        <p:sp>
          <p:nvSpPr>
            <p:cNvPr id="14" name="Rectangle: Rounded Corners 13">
              <a:extLst>
                <a:ext uri="{FF2B5EF4-FFF2-40B4-BE49-F238E27FC236}">
                  <a16:creationId xmlns:a16="http://schemas.microsoft.com/office/drawing/2014/main" id="{F319153E-29B6-4DAE-85E4-882B1204BA66}"/>
                </a:ext>
              </a:extLst>
            </p:cNvPr>
            <p:cNvSpPr/>
            <p:nvPr/>
          </p:nvSpPr>
          <p:spPr>
            <a:xfrm>
              <a:off x="2963751" y="2032529"/>
              <a:ext cx="1991278" cy="196048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65210F69-FF60-4688-A938-4A4FF44AAD80}"/>
                </a:ext>
              </a:extLst>
            </p:cNvPr>
            <p:cNvGrpSpPr/>
            <p:nvPr/>
          </p:nvGrpSpPr>
          <p:grpSpPr>
            <a:xfrm>
              <a:off x="3597896" y="2684814"/>
              <a:ext cx="722987" cy="542785"/>
              <a:chOff x="3919396" y="3007306"/>
              <a:chExt cx="722987" cy="542785"/>
            </a:xfrm>
          </p:grpSpPr>
          <p:pic>
            <p:nvPicPr>
              <p:cNvPr id="18" name="Picture 17">
                <a:extLst>
                  <a:ext uri="{FF2B5EF4-FFF2-40B4-BE49-F238E27FC236}">
                    <a16:creationId xmlns:a16="http://schemas.microsoft.com/office/drawing/2014/main" id="{8789D2EB-A514-4A7A-BC9E-306627D27EB1}"/>
                  </a:ext>
                </a:extLst>
              </p:cNvPr>
              <p:cNvPicPr>
                <a:picLocks noChangeAspect="1"/>
              </p:cNvPicPr>
              <p:nvPr/>
            </p:nvPicPr>
            <p:blipFill>
              <a:blip r:embed="rId3"/>
              <a:stretch>
                <a:fillRect/>
              </a:stretch>
            </p:blipFill>
            <p:spPr>
              <a:xfrm>
                <a:off x="3919396" y="3023240"/>
                <a:ext cx="418263" cy="526851"/>
              </a:xfrm>
              <a:prstGeom prst="rect">
                <a:avLst/>
              </a:prstGeom>
            </p:spPr>
          </p:pic>
          <p:pic>
            <p:nvPicPr>
              <p:cNvPr id="19" name="Picture 18">
                <a:extLst>
                  <a:ext uri="{FF2B5EF4-FFF2-40B4-BE49-F238E27FC236}">
                    <a16:creationId xmlns:a16="http://schemas.microsoft.com/office/drawing/2014/main" id="{F6154ACA-FA78-4E02-806C-595EB18B1E02}"/>
                  </a:ext>
                </a:extLst>
              </p:cNvPr>
              <p:cNvPicPr>
                <a:picLocks noChangeAspect="1"/>
              </p:cNvPicPr>
              <p:nvPr/>
            </p:nvPicPr>
            <p:blipFill>
              <a:blip r:embed="rId4"/>
              <a:stretch>
                <a:fillRect/>
              </a:stretch>
            </p:blipFill>
            <p:spPr>
              <a:xfrm>
                <a:off x="4259219" y="3007306"/>
                <a:ext cx="383164" cy="526851"/>
              </a:xfrm>
              <a:prstGeom prst="rect">
                <a:avLst/>
              </a:prstGeom>
            </p:spPr>
          </p:pic>
        </p:grpSp>
        <p:sp>
          <p:nvSpPr>
            <p:cNvPr id="20" name="TextBox 19">
              <a:extLst>
                <a:ext uri="{FF2B5EF4-FFF2-40B4-BE49-F238E27FC236}">
                  <a16:creationId xmlns:a16="http://schemas.microsoft.com/office/drawing/2014/main" id="{13D39289-5EA9-4AC5-A520-D91EFCD5D5D3}"/>
                </a:ext>
              </a:extLst>
            </p:cNvPr>
            <p:cNvSpPr txBox="1"/>
            <p:nvPr/>
          </p:nvSpPr>
          <p:spPr>
            <a:xfrm>
              <a:off x="3637995" y="3137016"/>
              <a:ext cx="671466" cy="369332"/>
            </a:xfrm>
            <a:prstGeom prst="rect">
              <a:avLst/>
            </a:prstGeom>
            <a:noFill/>
          </p:spPr>
          <p:txBody>
            <a:bodyPr wrap="none" rtlCol="0">
              <a:spAutoFit/>
            </a:bodyPr>
            <a:lstStyle/>
            <a:p>
              <a:r>
                <a:rPr lang="en-US"/>
                <a:t>ITPro</a:t>
              </a:r>
            </a:p>
          </p:txBody>
        </p:sp>
      </p:grpSp>
      <p:grpSp>
        <p:nvGrpSpPr>
          <p:cNvPr id="7" name="Group 6">
            <a:extLst>
              <a:ext uri="{FF2B5EF4-FFF2-40B4-BE49-F238E27FC236}">
                <a16:creationId xmlns:a16="http://schemas.microsoft.com/office/drawing/2014/main" id="{BAEE4F7E-9AE1-49DE-BE44-B7716972B1D6}"/>
              </a:ext>
            </a:extLst>
          </p:cNvPr>
          <p:cNvGrpSpPr/>
          <p:nvPr/>
        </p:nvGrpSpPr>
        <p:grpSpPr>
          <a:xfrm>
            <a:off x="951228" y="1385385"/>
            <a:ext cx="1991278" cy="2043569"/>
            <a:chOff x="889306" y="2036841"/>
            <a:chExt cx="1991278" cy="2043569"/>
          </a:xfrm>
        </p:grpSpPr>
        <p:sp>
          <p:nvSpPr>
            <p:cNvPr id="26" name="Rectangle: Rounded Corners 25">
              <a:extLst>
                <a:ext uri="{FF2B5EF4-FFF2-40B4-BE49-F238E27FC236}">
                  <a16:creationId xmlns:a16="http://schemas.microsoft.com/office/drawing/2014/main" id="{A94022B5-CEDA-4944-8092-46F92ABBC3B1}"/>
                </a:ext>
              </a:extLst>
            </p:cNvPr>
            <p:cNvSpPr/>
            <p:nvPr/>
          </p:nvSpPr>
          <p:spPr>
            <a:xfrm>
              <a:off x="889306" y="2036841"/>
              <a:ext cx="1991278" cy="194541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A76F07A-5C85-41C9-B87C-9A466C9898BA}"/>
                </a:ext>
              </a:extLst>
            </p:cNvPr>
            <p:cNvSpPr txBox="1"/>
            <p:nvPr/>
          </p:nvSpPr>
          <p:spPr>
            <a:xfrm>
              <a:off x="1371797" y="3157080"/>
              <a:ext cx="1240853" cy="923330"/>
            </a:xfrm>
            <a:prstGeom prst="rect">
              <a:avLst/>
            </a:prstGeom>
            <a:noFill/>
          </p:spPr>
          <p:txBody>
            <a:bodyPr wrap="none" rtlCol="0">
              <a:spAutoFit/>
            </a:bodyPr>
            <a:lstStyle/>
            <a:p>
              <a:pPr algn="ctr"/>
              <a:r>
                <a:rPr lang="en-US" dirty="0"/>
                <a:t>Developer/</a:t>
              </a:r>
            </a:p>
            <a:p>
              <a:pPr algn="ctr"/>
              <a:r>
                <a:rPr lang="en-US" dirty="0"/>
                <a:t>DevOps</a:t>
              </a:r>
            </a:p>
            <a:p>
              <a:pPr algn="ctr"/>
              <a:endParaRPr lang="en-US" dirty="0"/>
            </a:p>
          </p:txBody>
        </p:sp>
        <p:pic>
          <p:nvPicPr>
            <p:cNvPr id="28" name="Picture 27">
              <a:extLst>
                <a:ext uri="{FF2B5EF4-FFF2-40B4-BE49-F238E27FC236}">
                  <a16:creationId xmlns:a16="http://schemas.microsoft.com/office/drawing/2014/main" id="{B3BC9B1C-CB68-4E69-9342-DFC7F71BA97A}"/>
                </a:ext>
              </a:extLst>
            </p:cNvPr>
            <p:cNvPicPr>
              <a:picLocks noChangeAspect="1"/>
            </p:cNvPicPr>
            <p:nvPr/>
          </p:nvPicPr>
          <p:blipFill>
            <a:blip r:embed="rId5"/>
            <a:stretch>
              <a:fillRect/>
            </a:stretch>
          </p:blipFill>
          <p:spPr>
            <a:xfrm>
              <a:off x="1503233" y="2725806"/>
              <a:ext cx="410696" cy="526852"/>
            </a:xfrm>
            <a:prstGeom prst="rect">
              <a:avLst/>
            </a:prstGeom>
          </p:spPr>
        </p:pic>
        <p:pic>
          <p:nvPicPr>
            <p:cNvPr id="29" name="Picture 28">
              <a:extLst>
                <a:ext uri="{FF2B5EF4-FFF2-40B4-BE49-F238E27FC236}">
                  <a16:creationId xmlns:a16="http://schemas.microsoft.com/office/drawing/2014/main" id="{79619F41-52DB-4DD5-8234-5682D70ADF61}"/>
                </a:ext>
              </a:extLst>
            </p:cNvPr>
            <p:cNvPicPr>
              <a:picLocks noChangeAspect="1"/>
            </p:cNvPicPr>
            <p:nvPr/>
          </p:nvPicPr>
          <p:blipFill>
            <a:blip r:embed="rId6"/>
            <a:stretch>
              <a:fillRect/>
            </a:stretch>
          </p:blipFill>
          <p:spPr>
            <a:xfrm>
              <a:off x="1931835" y="2725806"/>
              <a:ext cx="425830" cy="526851"/>
            </a:xfrm>
            <a:prstGeom prst="rect">
              <a:avLst/>
            </a:prstGeom>
          </p:spPr>
        </p:pic>
      </p:grpSp>
      <p:sp>
        <p:nvSpPr>
          <p:cNvPr id="33" name="TextBox 32">
            <a:extLst>
              <a:ext uri="{FF2B5EF4-FFF2-40B4-BE49-F238E27FC236}">
                <a16:creationId xmlns:a16="http://schemas.microsoft.com/office/drawing/2014/main" id="{90C91D9C-2D52-42B0-8F64-23343B7ABF20}"/>
              </a:ext>
            </a:extLst>
          </p:cNvPr>
          <p:cNvSpPr txBox="1"/>
          <p:nvPr/>
        </p:nvSpPr>
        <p:spPr>
          <a:xfrm>
            <a:off x="1353340" y="990956"/>
            <a:ext cx="1245021" cy="369332"/>
          </a:xfrm>
          <a:prstGeom prst="rect">
            <a:avLst/>
          </a:prstGeom>
          <a:noFill/>
        </p:spPr>
        <p:txBody>
          <a:bodyPr wrap="none" rtlCol="0">
            <a:spAutoFit/>
          </a:bodyPr>
          <a:lstStyle/>
          <a:p>
            <a:r>
              <a:rPr lang="en-US" dirty="0"/>
              <a:t>Application</a:t>
            </a:r>
          </a:p>
        </p:txBody>
      </p:sp>
      <p:sp>
        <p:nvSpPr>
          <p:cNvPr id="35" name="TextBox 34">
            <a:extLst>
              <a:ext uri="{FF2B5EF4-FFF2-40B4-BE49-F238E27FC236}">
                <a16:creationId xmlns:a16="http://schemas.microsoft.com/office/drawing/2014/main" id="{5EBAF1F9-A78B-4433-8E6F-D8CAE0C8584D}"/>
              </a:ext>
            </a:extLst>
          </p:cNvPr>
          <p:cNvSpPr txBox="1"/>
          <p:nvPr/>
        </p:nvSpPr>
        <p:spPr>
          <a:xfrm>
            <a:off x="7774860" y="1016053"/>
            <a:ext cx="1474634" cy="369332"/>
          </a:xfrm>
          <a:prstGeom prst="rect">
            <a:avLst/>
          </a:prstGeom>
          <a:noFill/>
        </p:spPr>
        <p:txBody>
          <a:bodyPr wrap="none" rtlCol="0">
            <a:spAutoFit/>
          </a:bodyPr>
          <a:lstStyle/>
          <a:p>
            <a:r>
              <a:rPr lang="en-US" dirty="0"/>
              <a:t>Infrastructure</a:t>
            </a:r>
          </a:p>
        </p:txBody>
      </p:sp>
      <p:sp>
        <p:nvSpPr>
          <p:cNvPr id="9" name="TextBox 8">
            <a:extLst>
              <a:ext uri="{FF2B5EF4-FFF2-40B4-BE49-F238E27FC236}">
                <a16:creationId xmlns:a16="http://schemas.microsoft.com/office/drawing/2014/main" id="{9362CC9B-468F-4B42-BEF4-95C5C01E8BD2}"/>
              </a:ext>
            </a:extLst>
          </p:cNvPr>
          <p:cNvSpPr txBox="1"/>
          <p:nvPr/>
        </p:nvSpPr>
        <p:spPr>
          <a:xfrm>
            <a:off x="5071809" y="5029575"/>
            <a:ext cx="1024191" cy="369332"/>
          </a:xfrm>
          <a:prstGeom prst="rect">
            <a:avLst/>
          </a:prstGeom>
          <a:noFill/>
        </p:spPr>
        <p:txBody>
          <a:bodyPr wrap="none" rtlCol="0">
            <a:spAutoFit/>
          </a:bodyPr>
          <a:lstStyle/>
          <a:p>
            <a:r>
              <a:rPr lang="en-US" dirty="0"/>
              <a:t>Shift Left</a:t>
            </a:r>
          </a:p>
        </p:txBody>
      </p:sp>
      <p:sp>
        <p:nvSpPr>
          <p:cNvPr id="41" name="TextBox 40">
            <a:extLst>
              <a:ext uri="{FF2B5EF4-FFF2-40B4-BE49-F238E27FC236}">
                <a16:creationId xmlns:a16="http://schemas.microsoft.com/office/drawing/2014/main" id="{B430AD08-13FC-409B-9CCD-1D1409589939}"/>
              </a:ext>
            </a:extLst>
          </p:cNvPr>
          <p:cNvSpPr txBox="1"/>
          <p:nvPr/>
        </p:nvSpPr>
        <p:spPr>
          <a:xfrm>
            <a:off x="901851" y="3527202"/>
            <a:ext cx="3793859" cy="646331"/>
          </a:xfrm>
          <a:prstGeom prst="rect">
            <a:avLst/>
          </a:prstGeom>
          <a:noFill/>
        </p:spPr>
        <p:txBody>
          <a:bodyPr wrap="none" rtlCol="0">
            <a:spAutoFit/>
          </a:bodyPr>
          <a:lstStyle/>
          <a:p>
            <a:pPr marL="285750" indent="-285750">
              <a:buFont typeface="Arial" panose="020B0604020202020204" pitchFamily="34" charset="0"/>
              <a:buChar char="•"/>
            </a:pPr>
            <a:r>
              <a:rPr lang="en-US" dirty="0"/>
              <a:t>Application Monitoring</a:t>
            </a:r>
          </a:p>
          <a:p>
            <a:pPr marL="285750" indent="-285750">
              <a:buFont typeface="Arial" panose="020B0604020202020204" pitchFamily="34" charset="0"/>
              <a:buChar char="•"/>
            </a:pPr>
            <a:r>
              <a:rPr lang="en-US" dirty="0"/>
              <a:t>Microservice/Container Monitoring</a:t>
            </a:r>
          </a:p>
        </p:txBody>
      </p:sp>
      <p:sp>
        <p:nvSpPr>
          <p:cNvPr id="42" name="Rectangle 41">
            <a:extLst>
              <a:ext uri="{FF2B5EF4-FFF2-40B4-BE49-F238E27FC236}">
                <a16:creationId xmlns:a16="http://schemas.microsoft.com/office/drawing/2014/main" id="{5B41B6DC-B89C-413D-8545-13E85032DF65}"/>
              </a:ext>
            </a:extLst>
          </p:cNvPr>
          <p:cNvSpPr/>
          <p:nvPr/>
        </p:nvSpPr>
        <p:spPr>
          <a:xfrm>
            <a:off x="940108" y="4655419"/>
            <a:ext cx="2958957" cy="1486977"/>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t"/>
          <a:lstStyle/>
          <a:p>
            <a:pPr marL="285750" indent="-285750">
              <a:buFont typeface="Arial" panose="020B0604020202020204" pitchFamily="34" charset="0"/>
              <a:buChar char="•"/>
            </a:pPr>
            <a:r>
              <a:rPr lang="en-US" dirty="0">
                <a:solidFill>
                  <a:schemeClr val="tx1"/>
                </a:solidFill>
              </a:rPr>
              <a:t>VM (CPU, Network, Storage Monitoring)</a:t>
            </a:r>
          </a:p>
          <a:p>
            <a:pPr marL="285750" indent="-285750">
              <a:buFont typeface="Arial" panose="020B0604020202020204" pitchFamily="34" charset="0"/>
              <a:buChar char="•"/>
            </a:pPr>
            <a:r>
              <a:rPr lang="en-US" dirty="0">
                <a:solidFill>
                  <a:srgbClr val="FF0000"/>
                </a:solidFill>
              </a:rPr>
              <a:t>Kubernetes Monitoring </a:t>
            </a:r>
          </a:p>
          <a:p>
            <a:r>
              <a:rPr lang="en-US" dirty="0">
                <a:solidFill>
                  <a:srgbClr val="FF0000"/>
                </a:solidFill>
              </a:rPr>
              <a:t>     (storage, VM, networking)</a:t>
            </a:r>
          </a:p>
          <a:p>
            <a:pPr marL="285750" indent="-285750">
              <a:buFont typeface="Arial" panose="020B0604020202020204" pitchFamily="34" charset="0"/>
              <a:buChar char="•"/>
            </a:pPr>
            <a:r>
              <a:rPr lang="en-US" dirty="0">
                <a:solidFill>
                  <a:srgbClr val="FF0000"/>
                </a:solidFill>
              </a:rPr>
              <a:t>Container Monitoring</a:t>
            </a:r>
          </a:p>
        </p:txBody>
      </p:sp>
      <p:sp>
        <p:nvSpPr>
          <p:cNvPr id="30" name="TextBox 29">
            <a:extLst>
              <a:ext uri="{FF2B5EF4-FFF2-40B4-BE49-F238E27FC236}">
                <a16:creationId xmlns:a16="http://schemas.microsoft.com/office/drawing/2014/main" id="{A999C064-DE9D-4EED-81FF-D49B65147A5F}"/>
              </a:ext>
            </a:extLst>
          </p:cNvPr>
          <p:cNvSpPr txBox="1"/>
          <p:nvPr/>
        </p:nvSpPr>
        <p:spPr>
          <a:xfrm>
            <a:off x="1946867" y="4019764"/>
            <a:ext cx="465192" cy="769441"/>
          </a:xfrm>
          <a:prstGeom prst="rect">
            <a:avLst/>
          </a:prstGeom>
          <a:noFill/>
        </p:spPr>
        <p:txBody>
          <a:bodyPr wrap="none" rtlCol="0">
            <a:spAutoFit/>
          </a:bodyPr>
          <a:lstStyle/>
          <a:p>
            <a:r>
              <a:rPr lang="en-US" sz="4400" dirty="0"/>
              <a:t>+</a:t>
            </a:r>
          </a:p>
        </p:txBody>
      </p:sp>
      <p:sp>
        <p:nvSpPr>
          <p:cNvPr id="31" name="Arrow: Left 30">
            <a:extLst>
              <a:ext uri="{FF2B5EF4-FFF2-40B4-BE49-F238E27FC236}">
                <a16:creationId xmlns:a16="http://schemas.microsoft.com/office/drawing/2014/main" id="{82EA21F4-DF3B-4F5C-ADBD-09B9C6EB0729}"/>
              </a:ext>
            </a:extLst>
          </p:cNvPr>
          <p:cNvSpPr/>
          <p:nvPr/>
        </p:nvSpPr>
        <p:spPr>
          <a:xfrm>
            <a:off x="4221929" y="5230898"/>
            <a:ext cx="2723949" cy="46201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02A99E-0D45-4514-BE72-EAB0E92BBB37}"/>
              </a:ext>
            </a:extLst>
          </p:cNvPr>
          <p:cNvSpPr/>
          <p:nvPr/>
        </p:nvSpPr>
        <p:spPr>
          <a:xfrm>
            <a:off x="7538210" y="3488445"/>
            <a:ext cx="3184334" cy="646331"/>
          </a:xfrm>
          <a:prstGeom prst="rect">
            <a:avLst/>
          </a:prstGeom>
        </p:spPr>
        <p:txBody>
          <a:bodyPr wrap="square">
            <a:spAutoFit/>
          </a:bodyPr>
          <a:lstStyle/>
          <a:p>
            <a:pPr marL="285750" indent="-285750">
              <a:buFont typeface="Arial" panose="020B0604020202020204" pitchFamily="34" charset="0"/>
              <a:buChar char="•"/>
            </a:pPr>
            <a:r>
              <a:rPr lang="en-US" dirty="0"/>
              <a:t>VM (CPU, Network, Storage Monitoring)</a:t>
            </a:r>
          </a:p>
        </p:txBody>
      </p:sp>
      <p:sp>
        <p:nvSpPr>
          <p:cNvPr id="34" name="Rectangle: Rounded Corners 33">
            <a:extLst>
              <a:ext uri="{FF2B5EF4-FFF2-40B4-BE49-F238E27FC236}">
                <a16:creationId xmlns:a16="http://schemas.microsoft.com/office/drawing/2014/main" id="{5CAC3A9A-7504-4E46-8862-C023EB3D7932}"/>
              </a:ext>
            </a:extLst>
          </p:cNvPr>
          <p:cNvSpPr/>
          <p:nvPr/>
        </p:nvSpPr>
        <p:spPr>
          <a:xfrm>
            <a:off x="7538209" y="4350619"/>
            <a:ext cx="3046813" cy="1960484"/>
          </a:xfrm>
          <a:prstGeom prst="roundRect">
            <a:avLst/>
          </a:prstGeom>
          <a:ln>
            <a:prstDash val="lg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Title 1">
            <a:extLst>
              <a:ext uri="{FF2B5EF4-FFF2-40B4-BE49-F238E27FC236}">
                <a16:creationId xmlns:a16="http://schemas.microsoft.com/office/drawing/2014/main" id="{71A2B18A-CBEA-4A87-90B3-8DC2917C00FD}"/>
              </a:ext>
            </a:extLst>
          </p:cNvPr>
          <p:cNvSpPr>
            <a:spLocks noGrp="1"/>
          </p:cNvSpPr>
          <p:nvPr>
            <p:ph type="title"/>
          </p:nvPr>
        </p:nvSpPr>
        <p:spPr>
          <a:xfrm>
            <a:off x="503491" y="88475"/>
            <a:ext cx="11178226" cy="1325563"/>
          </a:xfrm>
        </p:spPr>
        <p:txBody>
          <a:bodyPr>
            <a:normAutofit/>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Container bringing changes to IT Organization</a:t>
            </a:r>
          </a:p>
        </p:txBody>
      </p:sp>
    </p:spTree>
    <p:extLst>
      <p:ext uri="{BB962C8B-B14F-4D97-AF65-F5344CB8AC3E}">
        <p14:creationId xmlns:p14="http://schemas.microsoft.com/office/powerpoint/2010/main" val="19290116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1D92CE6-33DB-45A5-8240-E47036C34B3E}"/>
              </a:ext>
            </a:extLst>
          </p:cNvPr>
          <p:cNvSpPr/>
          <p:nvPr/>
        </p:nvSpPr>
        <p:spPr>
          <a:xfrm>
            <a:off x="2521821" y="1690688"/>
            <a:ext cx="1876926" cy="12512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Workload</a:t>
            </a:r>
          </a:p>
        </p:txBody>
      </p:sp>
      <p:sp>
        <p:nvSpPr>
          <p:cNvPr id="5" name="Rectangle 4">
            <a:extLst>
              <a:ext uri="{FF2B5EF4-FFF2-40B4-BE49-F238E27FC236}">
                <a16:creationId xmlns:a16="http://schemas.microsoft.com/office/drawing/2014/main" id="{890BA63C-9AF2-4D1A-AFF4-A0BF0E8CE801}"/>
              </a:ext>
            </a:extLst>
          </p:cNvPr>
          <p:cNvSpPr/>
          <p:nvPr/>
        </p:nvSpPr>
        <p:spPr>
          <a:xfrm>
            <a:off x="1951121" y="3561665"/>
            <a:ext cx="2983832" cy="15957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Arrow Connector 6">
            <a:extLst>
              <a:ext uri="{FF2B5EF4-FFF2-40B4-BE49-F238E27FC236}">
                <a16:creationId xmlns:a16="http://schemas.microsoft.com/office/drawing/2014/main" id="{1212C097-D264-4953-AF4B-5D80E6E8B726}"/>
              </a:ext>
            </a:extLst>
          </p:cNvPr>
          <p:cNvCxnSpPr>
            <a:cxnSpLocks/>
            <a:stCxn id="4" idx="2"/>
            <a:endCxn id="3" idx="0"/>
          </p:cNvCxnSpPr>
          <p:nvPr/>
        </p:nvCxnSpPr>
        <p:spPr>
          <a:xfrm>
            <a:off x="3460284" y="2941972"/>
            <a:ext cx="0" cy="11503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F375EB2E-B2A0-405C-95DD-6833A431AEDF}"/>
              </a:ext>
            </a:extLst>
          </p:cNvPr>
          <p:cNvSpPr txBox="1"/>
          <p:nvPr/>
        </p:nvSpPr>
        <p:spPr>
          <a:xfrm>
            <a:off x="3609405" y="3122907"/>
            <a:ext cx="842282" cy="369332"/>
          </a:xfrm>
          <a:prstGeom prst="rect">
            <a:avLst/>
          </a:prstGeom>
          <a:noFill/>
        </p:spPr>
        <p:txBody>
          <a:bodyPr wrap="none" rtlCol="0">
            <a:spAutoFit/>
          </a:bodyPr>
          <a:lstStyle/>
          <a:p>
            <a:r>
              <a:rPr lang="en-US" dirty="0"/>
              <a:t>Deploy</a:t>
            </a:r>
          </a:p>
        </p:txBody>
      </p:sp>
      <p:sp>
        <p:nvSpPr>
          <p:cNvPr id="10" name="Rectangle 9">
            <a:extLst>
              <a:ext uri="{FF2B5EF4-FFF2-40B4-BE49-F238E27FC236}">
                <a16:creationId xmlns:a16="http://schemas.microsoft.com/office/drawing/2014/main" id="{2050AD17-CF9C-4D6B-BC23-46BBC4F8787F}"/>
              </a:ext>
            </a:extLst>
          </p:cNvPr>
          <p:cNvSpPr/>
          <p:nvPr/>
        </p:nvSpPr>
        <p:spPr>
          <a:xfrm>
            <a:off x="6274068" y="2077470"/>
            <a:ext cx="1705270" cy="1251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Kubernetes </a:t>
            </a:r>
          </a:p>
          <a:p>
            <a:pPr algn="ctr"/>
            <a:r>
              <a:rPr lang="en-US" dirty="0"/>
              <a:t>Agent Node</a:t>
            </a:r>
          </a:p>
          <a:p>
            <a:pPr algn="ctr"/>
            <a:r>
              <a:rPr lang="en-US" dirty="0"/>
              <a:t>(VM)</a:t>
            </a:r>
          </a:p>
        </p:txBody>
      </p:sp>
      <p:sp>
        <p:nvSpPr>
          <p:cNvPr id="11" name="Rectangle 10">
            <a:extLst>
              <a:ext uri="{FF2B5EF4-FFF2-40B4-BE49-F238E27FC236}">
                <a16:creationId xmlns:a16="http://schemas.microsoft.com/office/drawing/2014/main" id="{E4840073-001D-4375-9AD3-A33F26B23B79}"/>
              </a:ext>
            </a:extLst>
          </p:cNvPr>
          <p:cNvSpPr/>
          <p:nvPr/>
        </p:nvSpPr>
        <p:spPr>
          <a:xfrm>
            <a:off x="6274068" y="3492239"/>
            <a:ext cx="1705270" cy="1251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Kubernetes </a:t>
            </a:r>
          </a:p>
          <a:p>
            <a:pPr algn="ctr"/>
            <a:r>
              <a:rPr lang="en-US" dirty="0"/>
              <a:t>Agent Node</a:t>
            </a:r>
          </a:p>
          <a:p>
            <a:pPr algn="ctr"/>
            <a:r>
              <a:rPr lang="en-US" dirty="0"/>
              <a:t>(VM)</a:t>
            </a:r>
          </a:p>
        </p:txBody>
      </p:sp>
      <p:sp>
        <p:nvSpPr>
          <p:cNvPr id="12" name="Rectangle 11">
            <a:extLst>
              <a:ext uri="{FF2B5EF4-FFF2-40B4-BE49-F238E27FC236}">
                <a16:creationId xmlns:a16="http://schemas.microsoft.com/office/drawing/2014/main" id="{87F997C2-BB19-4735-97B2-DCBD87013DDE}"/>
              </a:ext>
            </a:extLst>
          </p:cNvPr>
          <p:cNvSpPr/>
          <p:nvPr/>
        </p:nvSpPr>
        <p:spPr>
          <a:xfrm>
            <a:off x="6274068" y="4911821"/>
            <a:ext cx="1705270" cy="1251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Kubernetes </a:t>
            </a:r>
          </a:p>
          <a:p>
            <a:pPr algn="ctr"/>
            <a:r>
              <a:rPr lang="en-US" dirty="0"/>
              <a:t>Agent Node</a:t>
            </a:r>
          </a:p>
          <a:p>
            <a:pPr algn="ctr"/>
            <a:r>
              <a:rPr lang="en-US" dirty="0"/>
              <a:t>(VM)</a:t>
            </a:r>
          </a:p>
        </p:txBody>
      </p:sp>
      <p:cxnSp>
        <p:nvCxnSpPr>
          <p:cNvPr id="14" name="Connector: Elbow 13">
            <a:extLst>
              <a:ext uri="{FF2B5EF4-FFF2-40B4-BE49-F238E27FC236}">
                <a16:creationId xmlns:a16="http://schemas.microsoft.com/office/drawing/2014/main" id="{3DF53E59-76A9-4B0C-9791-1757926D9B7E}"/>
              </a:ext>
            </a:extLst>
          </p:cNvPr>
          <p:cNvCxnSpPr>
            <a:cxnSpLocks/>
          </p:cNvCxnSpPr>
          <p:nvPr/>
        </p:nvCxnSpPr>
        <p:spPr>
          <a:xfrm flipV="1">
            <a:off x="4151896" y="2703112"/>
            <a:ext cx="2106329" cy="1613501"/>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Connector: Elbow 17">
            <a:extLst>
              <a:ext uri="{FF2B5EF4-FFF2-40B4-BE49-F238E27FC236}">
                <a16:creationId xmlns:a16="http://schemas.microsoft.com/office/drawing/2014/main" id="{58AD3807-50FE-4DFC-9489-917DF1BD14B2}"/>
              </a:ext>
            </a:extLst>
          </p:cNvPr>
          <p:cNvCxnSpPr>
            <a:cxnSpLocks/>
          </p:cNvCxnSpPr>
          <p:nvPr/>
        </p:nvCxnSpPr>
        <p:spPr>
          <a:xfrm>
            <a:off x="4136055" y="4321928"/>
            <a:ext cx="2138013" cy="1243009"/>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Connector: Elbow 19">
            <a:extLst>
              <a:ext uri="{FF2B5EF4-FFF2-40B4-BE49-F238E27FC236}">
                <a16:creationId xmlns:a16="http://schemas.microsoft.com/office/drawing/2014/main" id="{6A778DC9-EF18-4C52-913E-DE792D3AF05D}"/>
              </a:ext>
            </a:extLst>
          </p:cNvPr>
          <p:cNvCxnSpPr>
            <a:cxnSpLocks/>
          </p:cNvCxnSpPr>
          <p:nvPr/>
        </p:nvCxnSpPr>
        <p:spPr>
          <a:xfrm flipV="1">
            <a:off x="4136055" y="4089006"/>
            <a:ext cx="2138013" cy="241636"/>
          </a:xfrm>
          <a:prstGeom prst="bentConnector3">
            <a:avLst/>
          </a:prstGeom>
          <a:ln w="28575">
            <a:tailEnd type="triangle"/>
          </a:ln>
        </p:spPr>
        <p:style>
          <a:lnRef idx="1">
            <a:schemeClr val="dk1"/>
          </a:lnRef>
          <a:fillRef idx="0">
            <a:schemeClr val="dk1"/>
          </a:fillRef>
          <a:effectRef idx="0">
            <a:schemeClr val="dk1"/>
          </a:effectRef>
          <a:fontRef idx="minor">
            <a:schemeClr val="tx1"/>
          </a:fontRef>
        </p:style>
      </p:cxnSp>
      <p:sp>
        <p:nvSpPr>
          <p:cNvPr id="21" name="Rectangle: Rounded Corners 20">
            <a:extLst>
              <a:ext uri="{FF2B5EF4-FFF2-40B4-BE49-F238E27FC236}">
                <a16:creationId xmlns:a16="http://schemas.microsoft.com/office/drawing/2014/main" id="{0D427DA3-D4C6-493A-8295-3F015DEAFBB6}"/>
              </a:ext>
            </a:extLst>
          </p:cNvPr>
          <p:cNvSpPr/>
          <p:nvPr/>
        </p:nvSpPr>
        <p:spPr>
          <a:xfrm>
            <a:off x="8364354" y="2077470"/>
            <a:ext cx="1705270" cy="6984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Workload/</a:t>
            </a:r>
          </a:p>
          <a:p>
            <a:pPr algn="ctr"/>
            <a:r>
              <a:rPr lang="en-US" dirty="0"/>
              <a:t>pod1</a:t>
            </a:r>
          </a:p>
        </p:txBody>
      </p:sp>
      <p:sp>
        <p:nvSpPr>
          <p:cNvPr id="15" name="Rectangle: Rounded Corners 14">
            <a:extLst>
              <a:ext uri="{FF2B5EF4-FFF2-40B4-BE49-F238E27FC236}">
                <a16:creationId xmlns:a16="http://schemas.microsoft.com/office/drawing/2014/main" id="{3A2D7D8F-ACF2-4906-8AB0-42A374A3E0BB}"/>
              </a:ext>
            </a:extLst>
          </p:cNvPr>
          <p:cNvSpPr/>
          <p:nvPr/>
        </p:nvSpPr>
        <p:spPr>
          <a:xfrm>
            <a:off x="8364354" y="3561665"/>
            <a:ext cx="1705270" cy="6984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Workload/</a:t>
            </a:r>
          </a:p>
          <a:p>
            <a:pPr algn="ctr"/>
            <a:r>
              <a:rPr lang="en-US" dirty="0"/>
              <a:t>pod2</a:t>
            </a:r>
          </a:p>
        </p:txBody>
      </p:sp>
      <p:sp>
        <p:nvSpPr>
          <p:cNvPr id="16" name="Rectangle: Rounded Corners 15">
            <a:extLst>
              <a:ext uri="{FF2B5EF4-FFF2-40B4-BE49-F238E27FC236}">
                <a16:creationId xmlns:a16="http://schemas.microsoft.com/office/drawing/2014/main" id="{AFF5C6D4-1825-49FC-B848-6B010E4E1875}"/>
              </a:ext>
            </a:extLst>
          </p:cNvPr>
          <p:cNvSpPr/>
          <p:nvPr/>
        </p:nvSpPr>
        <p:spPr>
          <a:xfrm>
            <a:off x="8364354" y="4838997"/>
            <a:ext cx="1705270" cy="69846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Workload/</a:t>
            </a:r>
          </a:p>
          <a:p>
            <a:pPr algn="ctr"/>
            <a:r>
              <a:rPr lang="en-US" dirty="0"/>
              <a:t>pod3</a:t>
            </a:r>
          </a:p>
        </p:txBody>
      </p:sp>
      <p:sp>
        <p:nvSpPr>
          <p:cNvPr id="3" name="Rectangle: Rounded Corners 2">
            <a:extLst>
              <a:ext uri="{FF2B5EF4-FFF2-40B4-BE49-F238E27FC236}">
                <a16:creationId xmlns:a16="http://schemas.microsoft.com/office/drawing/2014/main" id="{3AF6B5AC-78EC-4D7E-8617-7B11BE80FD42}"/>
              </a:ext>
            </a:extLst>
          </p:cNvPr>
          <p:cNvSpPr/>
          <p:nvPr/>
        </p:nvSpPr>
        <p:spPr>
          <a:xfrm>
            <a:off x="2859906" y="4092323"/>
            <a:ext cx="1276149" cy="4042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scheduler</a:t>
            </a:r>
          </a:p>
        </p:txBody>
      </p:sp>
      <p:sp>
        <p:nvSpPr>
          <p:cNvPr id="19" name="TextBox 18">
            <a:extLst>
              <a:ext uri="{FF2B5EF4-FFF2-40B4-BE49-F238E27FC236}">
                <a16:creationId xmlns:a16="http://schemas.microsoft.com/office/drawing/2014/main" id="{8F4B9E68-4C0E-45B5-A550-6DCF93696FD3}"/>
              </a:ext>
            </a:extLst>
          </p:cNvPr>
          <p:cNvSpPr txBox="1"/>
          <p:nvPr/>
        </p:nvSpPr>
        <p:spPr>
          <a:xfrm>
            <a:off x="741952" y="2160063"/>
            <a:ext cx="1240853" cy="923330"/>
          </a:xfrm>
          <a:prstGeom prst="rect">
            <a:avLst/>
          </a:prstGeom>
          <a:noFill/>
        </p:spPr>
        <p:txBody>
          <a:bodyPr wrap="none" rtlCol="0">
            <a:spAutoFit/>
          </a:bodyPr>
          <a:lstStyle/>
          <a:p>
            <a:pPr algn="ctr"/>
            <a:r>
              <a:rPr lang="en-US" dirty="0"/>
              <a:t>Developer/</a:t>
            </a:r>
          </a:p>
          <a:p>
            <a:pPr algn="ctr"/>
            <a:r>
              <a:rPr lang="en-US" dirty="0"/>
              <a:t>DevOps</a:t>
            </a:r>
          </a:p>
          <a:p>
            <a:pPr algn="ctr"/>
            <a:endParaRPr lang="en-US" dirty="0"/>
          </a:p>
        </p:txBody>
      </p:sp>
      <p:pic>
        <p:nvPicPr>
          <p:cNvPr id="22" name="Picture 21">
            <a:extLst>
              <a:ext uri="{FF2B5EF4-FFF2-40B4-BE49-F238E27FC236}">
                <a16:creationId xmlns:a16="http://schemas.microsoft.com/office/drawing/2014/main" id="{57352BAD-BE64-4D58-904F-38F0A3EE984E}"/>
              </a:ext>
            </a:extLst>
          </p:cNvPr>
          <p:cNvPicPr>
            <a:picLocks noChangeAspect="1"/>
          </p:cNvPicPr>
          <p:nvPr/>
        </p:nvPicPr>
        <p:blipFill>
          <a:blip r:embed="rId2"/>
          <a:stretch>
            <a:fillRect/>
          </a:stretch>
        </p:blipFill>
        <p:spPr>
          <a:xfrm>
            <a:off x="873388" y="1728789"/>
            <a:ext cx="410696" cy="526852"/>
          </a:xfrm>
          <a:prstGeom prst="rect">
            <a:avLst/>
          </a:prstGeom>
        </p:spPr>
      </p:pic>
      <p:pic>
        <p:nvPicPr>
          <p:cNvPr id="23" name="Picture 22">
            <a:extLst>
              <a:ext uri="{FF2B5EF4-FFF2-40B4-BE49-F238E27FC236}">
                <a16:creationId xmlns:a16="http://schemas.microsoft.com/office/drawing/2014/main" id="{F9ADEBA5-6B49-470D-ADD2-671F77DC6ED2}"/>
              </a:ext>
            </a:extLst>
          </p:cNvPr>
          <p:cNvPicPr>
            <a:picLocks noChangeAspect="1"/>
          </p:cNvPicPr>
          <p:nvPr/>
        </p:nvPicPr>
        <p:blipFill>
          <a:blip r:embed="rId3"/>
          <a:stretch>
            <a:fillRect/>
          </a:stretch>
        </p:blipFill>
        <p:spPr>
          <a:xfrm>
            <a:off x="1301990" y="1728789"/>
            <a:ext cx="425830" cy="526851"/>
          </a:xfrm>
          <a:prstGeom prst="rect">
            <a:avLst/>
          </a:prstGeom>
        </p:spPr>
      </p:pic>
      <p:sp>
        <p:nvSpPr>
          <p:cNvPr id="8" name="Arrow: Right 7">
            <a:extLst>
              <a:ext uri="{FF2B5EF4-FFF2-40B4-BE49-F238E27FC236}">
                <a16:creationId xmlns:a16="http://schemas.microsoft.com/office/drawing/2014/main" id="{0962A2FD-E89A-4CE1-9ADD-C0D6BE38E448}"/>
              </a:ext>
            </a:extLst>
          </p:cNvPr>
          <p:cNvSpPr/>
          <p:nvPr/>
        </p:nvSpPr>
        <p:spPr>
          <a:xfrm>
            <a:off x="1982805" y="2160063"/>
            <a:ext cx="425830" cy="413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92D0EC96-CCB5-400B-A28D-CA12A76E1BCA}"/>
              </a:ext>
            </a:extLst>
          </p:cNvPr>
          <p:cNvSpPr txBox="1"/>
          <p:nvPr/>
        </p:nvSpPr>
        <p:spPr>
          <a:xfrm>
            <a:off x="2240313" y="5201402"/>
            <a:ext cx="2535118" cy="369332"/>
          </a:xfrm>
          <a:prstGeom prst="rect">
            <a:avLst/>
          </a:prstGeom>
          <a:noFill/>
        </p:spPr>
        <p:txBody>
          <a:bodyPr wrap="none" rtlCol="0">
            <a:spAutoFit/>
          </a:bodyPr>
          <a:lstStyle/>
          <a:p>
            <a:r>
              <a:rPr lang="en-US" dirty="0"/>
              <a:t>Kubernetes Master Node</a:t>
            </a:r>
          </a:p>
        </p:txBody>
      </p:sp>
      <p:sp>
        <p:nvSpPr>
          <p:cNvPr id="29" name="TextBox 28">
            <a:extLst>
              <a:ext uri="{FF2B5EF4-FFF2-40B4-BE49-F238E27FC236}">
                <a16:creationId xmlns:a16="http://schemas.microsoft.com/office/drawing/2014/main" id="{1DED1CD3-9321-4076-ACEC-CFD88772646B}"/>
              </a:ext>
            </a:extLst>
          </p:cNvPr>
          <p:cNvSpPr txBox="1"/>
          <p:nvPr/>
        </p:nvSpPr>
        <p:spPr>
          <a:xfrm>
            <a:off x="5192748" y="2338142"/>
            <a:ext cx="1021433" cy="369332"/>
          </a:xfrm>
          <a:prstGeom prst="rect">
            <a:avLst/>
          </a:prstGeom>
          <a:noFill/>
        </p:spPr>
        <p:txBody>
          <a:bodyPr wrap="none" rtlCol="0">
            <a:spAutoFit/>
          </a:bodyPr>
          <a:lstStyle/>
          <a:p>
            <a:r>
              <a:rPr lang="en-US" dirty="0"/>
              <a:t>schedule</a:t>
            </a:r>
          </a:p>
        </p:txBody>
      </p:sp>
      <p:sp>
        <p:nvSpPr>
          <p:cNvPr id="6" name="Title 5">
            <a:extLst>
              <a:ext uri="{FF2B5EF4-FFF2-40B4-BE49-F238E27FC236}">
                <a16:creationId xmlns:a16="http://schemas.microsoft.com/office/drawing/2014/main" id="{C5086FD6-5500-4CB9-B2FC-C47A85AA5B5E}"/>
              </a:ext>
            </a:extLst>
          </p:cNvPr>
          <p:cNvSpPr>
            <a:spLocks noGrp="1"/>
          </p:cNvSpPr>
          <p:nvPr>
            <p:ph type="title"/>
          </p:nvPr>
        </p:nvSpPr>
        <p:spPr>
          <a:xfrm>
            <a:off x="741952" y="253321"/>
            <a:ext cx="10515600" cy="1325563"/>
          </a:xfrm>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Troubleshooting Example</a:t>
            </a:r>
          </a:p>
        </p:txBody>
      </p:sp>
    </p:spTree>
    <p:extLst>
      <p:ext uri="{BB962C8B-B14F-4D97-AF65-F5344CB8AC3E}">
        <p14:creationId xmlns:p14="http://schemas.microsoft.com/office/powerpoint/2010/main" val="77931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6DC1-2FB9-4D4F-8376-F3779ED25B8A}"/>
              </a:ext>
            </a:extLst>
          </p:cNvPr>
          <p:cNvSpPr>
            <a:spLocks noGrp="1"/>
          </p:cNvSpPr>
          <p:nvPr>
            <p:ph type="title"/>
          </p:nvPr>
        </p:nvSpPr>
        <p:spPr>
          <a:xfrm>
            <a:off x="257732" y="138406"/>
            <a:ext cx="10515600" cy="975628"/>
          </a:xfrm>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Personas and Stacks</a:t>
            </a:r>
          </a:p>
        </p:txBody>
      </p:sp>
      <p:sp>
        <p:nvSpPr>
          <p:cNvPr id="4" name="TextBox 3">
            <a:extLst>
              <a:ext uri="{FF2B5EF4-FFF2-40B4-BE49-F238E27FC236}">
                <a16:creationId xmlns:a16="http://schemas.microsoft.com/office/drawing/2014/main" id="{99D24D19-AFFE-445A-9416-1A1414983F47}"/>
              </a:ext>
            </a:extLst>
          </p:cNvPr>
          <p:cNvSpPr txBox="1"/>
          <p:nvPr/>
        </p:nvSpPr>
        <p:spPr>
          <a:xfrm>
            <a:off x="2930297" y="2001695"/>
            <a:ext cx="1272849" cy="369332"/>
          </a:xfrm>
          <a:prstGeom prst="rect">
            <a:avLst/>
          </a:prstGeom>
          <a:noFill/>
        </p:spPr>
        <p:txBody>
          <a:bodyPr wrap="none" rtlCol="0">
            <a:spAutoFit/>
          </a:bodyPr>
          <a:lstStyle/>
          <a:p>
            <a:r>
              <a:rPr lang="en-US" b="1"/>
              <a:t>Application</a:t>
            </a:r>
          </a:p>
        </p:txBody>
      </p:sp>
      <p:sp>
        <p:nvSpPr>
          <p:cNvPr id="5" name="TextBox 4">
            <a:extLst>
              <a:ext uri="{FF2B5EF4-FFF2-40B4-BE49-F238E27FC236}">
                <a16:creationId xmlns:a16="http://schemas.microsoft.com/office/drawing/2014/main" id="{7739ACD6-441A-4DEC-850C-A94D01CB0DC7}"/>
              </a:ext>
            </a:extLst>
          </p:cNvPr>
          <p:cNvSpPr txBox="1"/>
          <p:nvPr/>
        </p:nvSpPr>
        <p:spPr>
          <a:xfrm>
            <a:off x="5058895" y="1959650"/>
            <a:ext cx="1119666" cy="646331"/>
          </a:xfrm>
          <a:prstGeom prst="rect">
            <a:avLst/>
          </a:prstGeom>
          <a:noFill/>
        </p:spPr>
        <p:txBody>
          <a:bodyPr wrap="none" rtlCol="0">
            <a:spAutoFit/>
          </a:bodyPr>
          <a:lstStyle/>
          <a:p>
            <a:pPr algn="ctr"/>
            <a:r>
              <a:rPr lang="en-US" b="1"/>
              <a:t>Container</a:t>
            </a:r>
          </a:p>
          <a:p>
            <a:pPr algn="ctr"/>
            <a:r>
              <a:rPr lang="en-US" b="1"/>
              <a:t>Service</a:t>
            </a:r>
          </a:p>
        </p:txBody>
      </p:sp>
      <p:sp>
        <p:nvSpPr>
          <p:cNvPr id="6" name="TextBox 5">
            <a:extLst>
              <a:ext uri="{FF2B5EF4-FFF2-40B4-BE49-F238E27FC236}">
                <a16:creationId xmlns:a16="http://schemas.microsoft.com/office/drawing/2014/main" id="{F7226EAC-3AEC-427A-9477-6E5323DE6935}"/>
              </a:ext>
            </a:extLst>
          </p:cNvPr>
          <p:cNvSpPr txBox="1"/>
          <p:nvPr/>
        </p:nvSpPr>
        <p:spPr>
          <a:xfrm>
            <a:off x="7184356" y="1952152"/>
            <a:ext cx="1506310" cy="646331"/>
          </a:xfrm>
          <a:prstGeom prst="rect">
            <a:avLst/>
          </a:prstGeom>
          <a:noFill/>
        </p:spPr>
        <p:txBody>
          <a:bodyPr wrap="none" rtlCol="0">
            <a:spAutoFit/>
          </a:bodyPr>
          <a:lstStyle/>
          <a:p>
            <a:pPr algn="ctr"/>
            <a:r>
              <a:rPr lang="en-US" b="1"/>
              <a:t>Container</a:t>
            </a:r>
          </a:p>
          <a:p>
            <a:pPr algn="ctr"/>
            <a:r>
              <a:rPr lang="en-US" b="1"/>
              <a:t>(orchestrator)</a:t>
            </a:r>
          </a:p>
        </p:txBody>
      </p:sp>
      <p:sp>
        <p:nvSpPr>
          <p:cNvPr id="7" name="TextBox 6">
            <a:extLst>
              <a:ext uri="{FF2B5EF4-FFF2-40B4-BE49-F238E27FC236}">
                <a16:creationId xmlns:a16="http://schemas.microsoft.com/office/drawing/2014/main" id="{3F42826B-C270-43AE-9A99-B7EAD0FF17B9}"/>
              </a:ext>
            </a:extLst>
          </p:cNvPr>
          <p:cNvSpPr txBox="1"/>
          <p:nvPr/>
        </p:nvSpPr>
        <p:spPr>
          <a:xfrm>
            <a:off x="10322691" y="2008626"/>
            <a:ext cx="1500539" cy="369332"/>
          </a:xfrm>
          <a:prstGeom prst="rect">
            <a:avLst/>
          </a:prstGeom>
          <a:noFill/>
        </p:spPr>
        <p:txBody>
          <a:bodyPr wrap="none" rtlCol="0">
            <a:spAutoFit/>
          </a:bodyPr>
          <a:lstStyle/>
          <a:p>
            <a:r>
              <a:rPr lang="en-US" b="1"/>
              <a:t>Infrastructure</a:t>
            </a:r>
          </a:p>
        </p:txBody>
      </p:sp>
      <p:cxnSp>
        <p:nvCxnSpPr>
          <p:cNvPr id="13" name="Straight Connector 12">
            <a:extLst>
              <a:ext uri="{FF2B5EF4-FFF2-40B4-BE49-F238E27FC236}">
                <a16:creationId xmlns:a16="http://schemas.microsoft.com/office/drawing/2014/main" id="{097B8A8A-107C-42AC-91F4-D94A8BA20F27}"/>
              </a:ext>
            </a:extLst>
          </p:cNvPr>
          <p:cNvCxnSpPr>
            <a:cxnSpLocks/>
          </p:cNvCxnSpPr>
          <p:nvPr/>
        </p:nvCxnSpPr>
        <p:spPr>
          <a:xfrm>
            <a:off x="3509877" y="2627877"/>
            <a:ext cx="0" cy="265176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16B3425-00B1-49D0-B671-73140E6DFD54}"/>
              </a:ext>
            </a:extLst>
          </p:cNvPr>
          <p:cNvCxnSpPr>
            <a:cxnSpLocks/>
          </p:cNvCxnSpPr>
          <p:nvPr/>
        </p:nvCxnSpPr>
        <p:spPr>
          <a:xfrm>
            <a:off x="1772517" y="3543176"/>
            <a:ext cx="9950895" cy="0"/>
          </a:xfrm>
          <a:prstGeom prst="line">
            <a:avLst/>
          </a:prstGeom>
          <a:ln>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684B607-00C1-4EE1-BD92-3EFE9F34B270}"/>
              </a:ext>
            </a:extLst>
          </p:cNvPr>
          <p:cNvCxnSpPr>
            <a:cxnSpLocks/>
          </p:cNvCxnSpPr>
          <p:nvPr/>
        </p:nvCxnSpPr>
        <p:spPr>
          <a:xfrm>
            <a:off x="11695160" y="2650088"/>
            <a:ext cx="0" cy="262055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2C5DDAE-DA97-4E7D-BBCB-AB5843CC42DD}"/>
              </a:ext>
            </a:extLst>
          </p:cNvPr>
          <p:cNvCxnSpPr>
            <a:cxnSpLocks/>
          </p:cNvCxnSpPr>
          <p:nvPr/>
        </p:nvCxnSpPr>
        <p:spPr>
          <a:xfrm>
            <a:off x="7877624" y="2649833"/>
            <a:ext cx="0" cy="265176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1419E2A-AD58-44BA-8E27-7BB43C425353}"/>
              </a:ext>
            </a:extLst>
          </p:cNvPr>
          <p:cNvSpPr txBox="1"/>
          <p:nvPr/>
        </p:nvSpPr>
        <p:spPr>
          <a:xfrm>
            <a:off x="4879179" y="3257879"/>
            <a:ext cx="1149417" cy="307777"/>
          </a:xfrm>
          <a:prstGeom prst="rect">
            <a:avLst/>
          </a:prstGeom>
          <a:noFill/>
        </p:spPr>
        <p:txBody>
          <a:bodyPr wrap="none" rtlCol="0">
            <a:spAutoFit/>
          </a:bodyPr>
          <a:lstStyle/>
          <a:p>
            <a:r>
              <a:rPr lang="en-US" sz="1400"/>
              <a:t>Observability</a:t>
            </a:r>
          </a:p>
        </p:txBody>
      </p:sp>
      <p:cxnSp>
        <p:nvCxnSpPr>
          <p:cNvPr id="21" name="Straight Connector 20">
            <a:extLst>
              <a:ext uri="{FF2B5EF4-FFF2-40B4-BE49-F238E27FC236}">
                <a16:creationId xmlns:a16="http://schemas.microsoft.com/office/drawing/2014/main" id="{BACFCDC0-9EBA-4AA6-91C2-968A0E8BE355}"/>
              </a:ext>
            </a:extLst>
          </p:cNvPr>
          <p:cNvCxnSpPr>
            <a:cxnSpLocks/>
          </p:cNvCxnSpPr>
          <p:nvPr/>
        </p:nvCxnSpPr>
        <p:spPr>
          <a:xfrm>
            <a:off x="7877624" y="3058969"/>
            <a:ext cx="3817536" cy="0"/>
          </a:xfrm>
          <a:prstGeom prst="line">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A4F0E80-A5DC-4263-864D-C285A667F36D}"/>
              </a:ext>
            </a:extLst>
          </p:cNvPr>
          <p:cNvSpPr txBox="1"/>
          <p:nvPr/>
        </p:nvSpPr>
        <p:spPr>
          <a:xfrm>
            <a:off x="9087010" y="2773376"/>
            <a:ext cx="1309333" cy="307777"/>
          </a:xfrm>
          <a:prstGeom prst="rect">
            <a:avLst/>
          </a:prstGeom>
          <a:noFill/>
        </p:spPr>
        <p:txBody>
          <a:bodyPr wrap="none" rtlCol="0">
            <a:spAutoFit/>
          </a:bodyPr>
          <a:lstStyle/>
          <a:p>
            <a:r>
              <a:rPr lang="en-US" sz="1400"/>
              <a:t>Cloud Operator</a:t>
            </a:r>
          </a:p>
        </p:txBody>
      </p:sp>
      <p:cxnSp>
        <p:nvCxnSpPr>
          <p:cNvPr id="24" name="Straight Connector 23">
            <a:extLst>
              <a:ext uri="{FF2B5EF4-FFF2-40B4-BE49-F238E27FC236}">
                <a16:creationId xmlns:a16="http://schemas.microsoft.com/office/drawing/2014/main" id="{60E95E9D-2F5A-4A5C-8361-C6214F0925D2}"/>
              </a:ext>
            </a:extLst>
          </p:cNvPr>
          <p:cNvCxnSpPr>
            <a:cxnSpLocks/>
          </p:cNvCxnSpPr>
          <p:nvPr/>
        </p:nvCxnSpPr>
        <p:spPr>
          <a:xfrm>
            <a:off x="3010528" y="4077540"/>
            <a:ext cx="8684632" cy="0"/>
          </a:xfrm>
          <a:prstGeom prst="line">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75246169-16D2-4F19-8B49-9845135F99A5}"/>
              </a:ext>
            </a:extLst>
          </p:cNvPr>
          <p:cNvSpPr txBox="1"/>
          <p:nvPr/>
        </p:nvSpPr>
        <p:spPr>
          <a:xfrm>
            <a:off x="7082106" y="3771037"/>
            <a:ext cx="748731" cy="307777"/>
          </a:xfrm>
          <a:prstGeom prst="rect">
            <a:avLst/>
          </a:prstGeom>
          <a:noFill/>
        </p:spPr>
        <p:txBody>
          <a:bodyPr wrap="none" rtlCol="0">
            <a:spAutoFit/>
          </a:bodyPr>
          <a:lstStyle/>
          <a:p>
            <a:r>
              <a:rPr lang="en-US" sz="1400"/>
              <a:t>DevOps</a:t>
            </a:r>
          </a:p>
        </p:txBody>
      </p:sp>
      <p:cxnSp>
        <p:nvCxnSpPr>
          <p:cNvPr id="27" name="Straight Connector 26">
            <a:extLst>
              <a:ext uri="{FF2B5EF4-FFF2-40B4-BE49-F238E27FC236}">
                <a16:creationId xmlns:a16="http://schemas.microsoft.com/office/drawing/2014/main" id="{A2A018F4-12E3-4D21-AF5D-3444893F39BA}"/>
              </a:ext>
            </a:extLst>
          </p:cNvPr>
          <p:cNvCxnSpPr>
            <a:cxnSpLocks/>
          </p:cNvCxnSpPr>
          <p:nvPr/>
        </p:nvCxnSpPr>
        <p:spPr>
          <a:xfrm>
            <a:off x="1772517" y="3058969"/>
            <a:ext cx="6058320" cy="0"/>
          </a:xfrm>
          <a:prstGeom prst="line">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45A6547-D8F9-41D2-BAD8-D999271735D3}"/>
              </a:ext>
            </a:extLst>
          </p:cNvPr>
          <p:cNvSpPr txBox="1"/>
          <p:nvPr/>
        </p:nvSpPr>
        <p:spPr>
          <a:xfrm>
            <a:off x="3509877" y="2783061"/>
            <a:ext cx="937051" cy="307777"/>
          </a:xfrm>
          <a:prstGeom prst="rect">
            <a:avLst/>
          </a:prstGeom>
          <a:noFill/>
        </p:spPr>
        <p:txBody>
          <a:bodyPr wrap="none" rtlCol="0">
            <a:spAutoFit/>
          </a:bodyPr>
          <a:lstStyle/>
          <a:p>
            <a:r>
              <a:rPr lang="en-US" sz="1400"/>
              <a:t>Developer</a:t>
            </a:r>
          </a:p>
        </p:txBody>
      </p:sp>
      <p:sp>
        <p:nvSpPr>
          <p:cNvPr id="11" name="TextBox 10">
            <a:extLst>
              <a:ext uri="{FF2B5EF4-FFF2-40B4-BE49-F238E27FC236}">
                <a16:creationId xmlns:a16="http://schemas.microsoft.com/office/drawing/2014/main" id="{7A935629-2B99-4312-8B1C-3FD6254FE7F4}"/>
              </a:ext>
            </a:extLst>
          </p:cNvPr>
          <p:cNvSpPr txBox="1"/>
          <p:nvPr/>
        </p:nvSpPr>
        <p:spPr>
          <a:xfrm>
            <a:off x="134972" y="3586371"/>
            <a:ext cx="1024063" cy="369332"/>
          </a:xfrm>
          <a:prstGeom prst="rect">
            <a:avLst/>
          </a:prstGeom>
          <a:noFill/>
        </p:spPr>
        <p:txBody>
          <a:bodyPr wrap="none" rtlCol="0">
            <a:spAutoFit/>
          </a:bodyPr>
          <a:lstStyle/>
          <a:p>
            <a:r>
              <a:rPr lang="en-US" dirty="0"/>
              <a:t>Personas</a:t>
            </a:r>
          </a:p>
        </p:txBody>
      </p:sp>
      <p:sp>
        <p:nvSpPr>
          <p:cNvPr id="12" name="Rectangle 11">
            <a:extLst>
              <a:ext uri="{FF2B5EF4-FFF2-40B4-BE49-F238E27FC236}">
                <a16:creationId xmlns:a16="http://schemas.microsoft.com/office/drawing/2014/main" id="{176C18E2-8A9C-48E0-91CA-6F4DE88EAA0F}"/>
              </a:ext>
            </a:extLst>
          </p:cNvPr>
          <p:cNvSpPr/>
          <p:nvPr/>
        </p:nvSpPr>
        <p:spPr>
          <a:xfrm>
            <a:off x="1565809" y="2638501"/>
            <a:ext cx="10446828" cy="23825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857E8F5A-2C70-4A46-A267-55BD156D7D05}"/>
              </a:ext>
            </a:extLst>
          </p:cNvPr>
          <p:cNvSpPr txBox="1"/>
          <p:nvPr/>
        </p:nvSpPr>
        <p:spPr>
          <a:xfrm>
            <a:off x="9020125" y="4328656"/>
            <a:ext cx="1532535" cy="307777"/>
          </a:xfrm>
          <a:prstGeom prst="rect">
            <a:avLst/>
          </a:prstGeom>
          <a:noFill/>
        </p:spPr>
        <p:txBody>
          <a:bodyPr wrap="none" rtlCol="0">
            <a:spAutoFit/>
          </a:bodyPr>
          <a:lstStyle/>
          <a:p>
            <a:r>
              <a:rPr lang="en-US" sz="1400"/>
              <a:t>Central IT/Security</a:t>
            </a:r>
          </a:p>
        </p:txBody>
      </p:sp>
      <p:cxnSp>
        <p:nvCxnSpPr>
          <p:cNvPr id="40" name="Straight Connector 39">
            <a:extLst>
              <a:ext uri="{FF2B5EF4-FFF2-40B4-BE49-F238E27FC236}">
                <a16:creationId xmlns:a16="http://schemas.microsoft.com/office/drawing/2014/main" id="{319EC3B6-8F61-4A2C-A49B-4221369A44A7}"/>
              </a:ext>
            </a:extLst>
          </p:cNvPr>
          <p:cNvCxnSpPr>
            <a:cxnSpLocks/>
          </p:cNvCxnSpPr>
          <p:nvPr/>
        </p:nvCxnSpPr>
        <p:spPr>
          <a:xfrm>
            <a:off x="5693751" y="4621918"/>
            <a:ext cx="6004697" cy="0"/>
          </a:xfrm>
          <a:prstGeom prst="line">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236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3C09D74-20F9-42A1-8B87-561708EB9580}"/>
              </a:ext>
            </a:extLst>
          </p:cNvPr>
          <p:cNvSpPr>
            <a:spLocks noGrp="1"/>
          </p:cNvSpPr>
          <p:nvPr>
            <p:ph type="body" sz="quarter" idx="12"/>
          </p:nvPr>
        </p:nvSpPr>
        <p:spPr>
          <a:xfrm>
            <a:off x="400594" y="230882"/>
            <a:ext cx="11390811" cy="670562"/>
          </a:xfrm>
        </p:spPr>
        <p:txBody>
          <a:bodyPr/>
          <a:lstStyle/>
          <a:p>
            <a:r>
              <a:rPr lang="en-US" dirty="0"/>
              <a:t>Monitoring per Kubernetes stack </a:t>
            </a:r>
          </a:p>
        </p:txBody>
      </p:sp>
      <p:graphicFrame>
        <p:nvGraphicFramePr>
          <p:cNvPr id="5" name="Table 5">
            <a:extLst>
              <a:ext uri="{FF2B5EF4-FFF2-40B4-BE49-F238E27FC236}">
                <a16:creationId xmlns:a16="http://schemas.microsoft.com/office/drawing/2014/main" id="{D332C141-4F3C-499E-97FC-A8AC559045DC}"/>
              </a:ext>
            </a:extLst>
          </p:cNvPr>
          <p:cNvGraphicFramePr>
            <a:graphicFrameLocks noGrp="1"/>
          </p:cNvGraphicFramePr>
          <p:nvPr>
            <p:extLst>
              <p:ext uri="{D42A27DB-BD31-4B8C-83A1-F6EECF244321}">
                <p14:modId xmlns:p14="http://schemas.microsoft.com/office/powerpoint/2010/main" val="3372199584"/>
              </p:ext>
            </p:extLst>
          </p:nvPr>
        </p:nvGraphicFramePr>
        <p:xfrm>
          <a:off x="400594" y="962504"/>
          <a:ext cx="10903416" cy="5390294"/>
        </p:xfrm>
        <a:graphic>
          <a:graphicData uri="http://schemas.openxmlformats.org/drawingml/2006/table">
            <a:tbl>
              <a:tblPr firstRow="1" bandRow="1">
                <a:tableStyleId>{5C22544A-7EE6-4342-B048-85BDC9FD1C3A}</a:tableStyleId>
              </a:tblPr>
              <a:tblGrid>
                <a:gridCol w="1993591">
                  <a:extLst>
                    <a:ext uri="{9D8B030D-6E8A-4147-A177-3AD203B41FA5}">
                      <a16:colId xmlns:a16="http://schemas.microsoft.com/office/drawing/2014/main" val="243050891"/>
                    </a:ext>
                  </a:extLst>
                </a:gridCol>
                <a:gridCol w="5664819">
                  <a:extLst>
                    <a:ext uri="{9D8B030D-6E8A-4147-A177-3AD203B41FA5}">
                      <a16:colId xmlns:a16="http://schemas.microsoft.com/office/drawing/2014/main" val="2276579228"/>
                    </a:ext>
                  </a:extLst>
                </a:gridCol>
                <a:gridCol w="3245006">
                  <a:extLst>
                    <a:ext uri="{9D8B030D-6E8A-4147-A177-3AD203B41FA5}">
                      <a16:colId xmlns:a16="http://schemas.microsoft.com/office/drawing/2014/main" val="2742770736"/>
                    </a:ext>
                  </a:extLst>
                </a:gridCol>
              </a:tblGrid>
              <a:tr h="912067">
                <a:tc>
                  <a:txBody>
                    <a:bodyPr/>
                    <a:lstStyle/>
                    <a:p>
                      <a:r>
                        <a:rPr lang="en-US" sz="2400" dirty="0"/>
                        <a:t>Stack </a:t>
                      </a:r>
                    </a:p>
                  </a:txBody>
                  <a:tcPr anchor="ctr"/>
                </a:tc>
                <a:tc>
                  <a:txBody>
                    <a:bodyPr/>
                    <a:lstStyle/>
                    <a:p>
                      <a:r>
                        <a:rPr lang="en-US" sz="2400" dirty="0"/>
                        <a:t>Metrics, Logs, Health, Inventory</a:t>
                      </a:r>
                    </a:p>
                  </a:txBody>
                  <a:tcPr anchor="ctr"/>
                </a:tc>
                <a:tc>
                  <a:txBody>
                    <a:bodyPr/>
                    <a:lstStyle/>
                    <a:p>
                      <a:r>
                        <a:rPr lang="en-US" sz="2400" dirty="0"/>
                        <a:t>Tools</a:t>
                      </a:r>
                    </a:p>
                  </a:txBody>
                  <a:tcPr anchor="ctr"/>
                </a:tc>
                <a:extLst>
                  <a:ext uri="{0D108BD9-81ED-4DB2-BD59-A6C34878D82A}">
                    <a16:rowId xmlns:a16="http://schemas.microsoft.com/office/drawing/2014/main" val="2997446897"/>
                  </a:ext>
                </a:extLst>
              </a:tr>
              <a:tr h="962952">
                <a:tc>
                  <a:txBody>
                    <a:bodyPr/>
                    <a:lstStyle/>
                    <a:p>
                      <a:r>
                        <a:rPr lang="en-US" sz="2400" dirty="0"/>
                        <a:t>Workload</a:t>
                      </a:r>
                    </a:p>
                  </a:txBody>
                  <a:tcPr anchor="ctr"/>
                </a:tc>
                <a:tc>
                  <a:txBody>
                    <a:bodyPr/>
                    <a:lstStyle/>
                    <a:p>
                      <a:r>
                        <a:rPr lang="en-US" dirty="0"/>
                        <a:t>Distributed Tracing with APM, </a:t>
                      </a:r>
                      <a:r>
                        <a:rPr lang="en-US" baseline="0" dirty="0"/>
                        <a:t>Ingress controller (req/sec, failure rate, response time)</a:t>
                      </a:r>
                    </a:p>
                    <a:p>
                      <a:r>
                        <a:rPr lang="en-US" dirty="0"/>
                        <a:t>Liveness, Readiness Probe </a:t>
                      </a:r>
                    </a:p>
                    <a:p>
                      <a:r>
                        <a:rPr lang="en-US" dirty="0"/>
                        <a:t>Container logs (Stdout, stderr)</a:t>
                      </a:r>
                    </a:p>
                    <a:p>
                      <a:r>
                        <a:rPr lang="en-US" dirty="0"/>
                        <a:t>Container metrics (</a:t>
                      </a:r>
                      <a:r>
                        <a:rPr lang="en-US" dirty="0" err="1"/>
                        <a:t>cpu</a:t>
                      </a:r>
                      <a:r>
                        <a:rPr lang="en-US" dirty="0"/>
                        <a:t>/memory/</a:t>
                      </a:r>
                      <a:r>
                        <a:rPr lang="en-US" dirty="0" err="1"/>
                        <a:t>iops</a:t>
                      </a:r>
                      <a:r>
                        <a:rPr lang="en-US" dirty="0"/>
                        <a:t>) </a:t>
                      </a:r>
                    </a:p>
                    <a:p>
                      <a:r>
                        <a:rPr lang="en-US" dirty="0"/>
                        <a:t>Pod/container health (restart time, uptime..) </a:t>
                      </a:r>
                    </a:p>
                  </a:txBody>
                  <a:tcPr/>
                </a:tc>
                <a:tc>
                  <a:txBody>
                    <a:bodyPr/>
                    <a:lstStyle/>
                    <a:p>
                      <a:r>
                        <a:rPr lang="en-US" dirty="0" err="1"/>
                        <a:t>ebpf</a:t>
                      </a:r>
                      <a:r>
                        <a:rPr lang="en-US" dirty="0"/>
                        <a:t> embedded</a:t>
                      </a:r>
                    </a:p>
                    <a:p>
                      <a:r>
                        <a:rPr lang="en-US" dirty="0" err="1"/>
                        <a:t>tcpdump</a:t>
                      </a:r>
                      <a:r>
                        <a:rPr lang="en-US" dirty="0"/>
                        <a:t>, </a:t>
                      </a:r>
                      <a:r>
                        <a:rPr lang="en-US" dirty="0" err="1"/>
                        <a:t>lsof</a:t>
                      </a:r>
                      <a:r>
                        <a:rPr lang="en-US" dirty="0"/>
                        <a:t>, </a:t>
                      </a:r>
                      <a:r>
                        <a:rPr lang="en-US" dirty="0" err="1"/>
                        <a:t>strace</a:t>
                      </a:r>
                      <a:endParaRPr lang="en-US" dirty="0"/>
                    </a:p>
                    <a:p>
                      <a:r>
                        <a:rPr lang="en-US" dirty="0" err="1"/>
                        <a:t>sysdig</a:t>
                      </a:r>
                      <a:r>
                        <a:rPr lang="en-US" dirty="0"/>
                        <a:t> </a:t>
                      </a:r>
                    </a:p>
                    <a:p>
                      <a:r>
                        <a:rPr lang="en-US" dirty="0" err="1"/>
                        <a:t>fluentd</a:t>
                      </a:r>
                      <a:endParaRPr lang="en-US" dirty="0"/>
                    </a:p>
                  </a:txBody>
                  <a:tcPr/>
                </a:tc>
                <a:extLst>
                  <a:ext uri="{0D108BD9-81ED-4DB2-BD59-A6C34878D82A}">
                    <a16:rowId xmlns:a16="http://schemas.microsoft.com/office/drawing/2014/main" val="813225184"/>
                  </a:ext>
                </a:extLst>
              </a:tr>
              <a:tr h="912067">
                <a:tc>
                  <a:txBody>
                    <a:bodyPr/>
                    <a:lstStyle/>
                    <a:p>
                      <a:r>
                        <a:rPr lang="en-US" sz="2400" dirty="0"/>
                        <a:t>Orchestrator</a:t>
                      </a:r>
                    </a:p>
                  </a:txBody>
                  <a:tcPr anchor="ctr"/>
                </a:tc>
                <a:tc>
                  <a:txBody>
                    <a:bodyPr/>
                    <a:lstStyle/>
                    <a:p>
                      <a:r>
                        <a:rPr lang="en-US" dirty="0"/>
                        <a:t>Event log</a:t>
                      </a:r>
                    </a:p>
                    <a:p>
                      <a:r>
                        <a:rPr lang="en-US" dirty="0"/>
                        <a:t>PV, Service Mesh/CNI/Ingress Controller, Node Conditions</a:t>
                      </a:r>
                    </a:p>
                    <a:p>
                      <a:r>
                        <a:rPr lang="en-US" dirty="0"/>
                        <a:t>Pod health (pending pods), </a:t>
                      </a:r>
                      <a:r>
                        <a:rPr lang="en-US" dirty="0" err="1"/>
                        <a:t>kubelet</a:t>
                      </a:r>
                      <a:r>
                        <a:rPr lang="en-US" dirty="0"/>
                        <a:t> health</a:t>
                      </a:r>
                    </a:p>
                  </a:txBody>
                  <a:tcPr/>
                </a:tc>
                <a:tc>
                  <a:txBody>
                    <a:bodyPr/>
                    <a:lstStyle/>
                    <a:p>
                      <a:r>
                        <a:rPr lang="en-US" dirty="0" err="1"/>
                        <a:t>kubectl</a:t>
                      </a:r>
                      <a:endParaRPr lang="en-US" dirty="0"/>
                    </a:p>
                    <a:p>
                      <a:r>
                        <a:rPr lang="en-US" dirty="0" err="1"/>
                        <a:t>tcpdump</a:t>
                      </a:r>
                      <a:endParaRPr lang="en-US" dirty="0"/>
                    </a:p>
                  </a:txBody>
                  <a:tcPr anchor="ctr"/>
                </a:tc>
                <a:extLst>
                  <a:ext uri="{0D108BD9-81ED-4DB2-BD59-A6C34878D82A}">
                    <a16:rowId xmlns:a16="http://schemas.microsoft.com/office/drawing/2014/main" val="1256141983"/>
                  </a:ext>
                </a:extLst>
              </a:tr>
              <a:tr h="912067">
                <a:tc>
                  <a:txBody>
                    <a:bodyPr/>
                    <a:lstStyle/>
                    <a:p>
                      <a:r>
                        <a:rPr lang="en-US" sz="2400" dirty="0"/>
                        <a:t>Containers</a:t>
                      </a:r>
                    </a:p>
                  </a:txBody>
                  <a:tcPr anchor="ctr"/>
                </a:tc>
                <a:tc>
                  <a:txBody>
                    <a:bodyPr/>
                    <a:lstStyle/>
                    <a:p>
                      <a:r>
                        <a:rPr lang="en-US" dirty="0"/>
                        <a:t>Container runtime health </a:t>
                      </a:r>
                    </a:p>
                  </a:txBody>
                  <a:tcPr/>
                </a:tc>
                <a:tc>
                  <a:txBody>
                    <a:bodyPr/>
                    <a:lstStyle/>
                    <a:p>
                      <a:r>
                        <a:rPr lang="en-US" dirty="0"/>
                        <a:t>docker, </a:t>
                      </a:r>
                      <a:r>
                        <a:rPr lang="en-US" dirty="0" err="1"/>
                        <a:t>ps</a:t>
                      </a:r>
                      <a:endParaRPr lang="en-US" dirty="0"/>
                    </a:p>
                  </a:txBody>
                  <a:tcPr anchor="ctr"/>
                </a:tc>
                <a:extLst>
                  <a:ext uri="{0D108BD9-81ED-4DB2-BD59-A6C34878D82A}">
                    <a16:rowId xmlns:a16="http://schemas.microsoft.com/office/drawing/2014/main" val="1730122607"/>
                  </a:ext>
                </a:extLst>
              </a:tr>
              <a:tr h="912067">
                <a:tc>
                  <a:txBody>
                    <a:bodyPr/>
                    <a:lstStyle/>
                    <a:p>
                      <a:r>
                        <a:rPr lang="en-US" sz="2400" dirty="0"/>
                        <a:t>Infrastructure</a:t>
                      </a:r>
                    </a:p>
                    <a:p>
                      <a:r>
                        <a:rPr lang="en-US" sz="2400" dirty="0"/>
                        <a:t>(Platform)</a:t>
                      </a:r>
                    </a:p>
                  </a:txBody>
                  <a:tcPr anchor="ctr"/>
                </a:tc>
                <a:tc>
                  <a:txBody>
                    <a:bodyPr/>
                    <a:lstStyle/>
                    <a:p>
                      <a:r>
                        <a:rPr lang="en-US" dirty="0" err="1"/>
                        <a:t>Journalctl</a:t>
                      </a:r>
                      <a:r>
                        <a:rPr lang="en-US" dirty="0"/>
                        <a:t>, </a:t>
                      </a:r>
                      <a:r>
                        <a:rPr lang="en-US" dirty="0" err="1"/>
                        <a:t>systemctl</a:t>
                      </a:r>
                      <a:r>
                        <a:rPr lang="en-US" dirty="0"/>
                        <a:t>, syslog</a:t>
                      </a:r>
                    </a:p>
                    <a:p>
                      <a:r>
                        <a:rPr lang="en-US" dirty="0"/>
                        <a:t>Host performance/health/capacity</a:t>
                      </a:r>
                    </a:p>
                    <a:p>
                      <a:r>
                        <a:rPr lang="en-US" dirty="0"/>
                        <a:t>networking latency, storage </a:t>
                      </a:r>
                      <a:r>
                        <a:rPr lang="en-US" dirty="0" err="1"/>
                        <a:t>iops</a:t>
                      </a:r>
                      <a:r>
                        <a:rPr lang="en-US" dirty="0"/>
                        <a:t>/bandwidth and capacity</a:t>
                      </a:r>
                    </a:p>
                  </a:txBody>
                  <a:tcPr/>
                </a:tc>
                <a:tc>
                  <a:txBody>
                    <a:bodyPr/>
                    <a:lstStyle/>
                    <a:p>
                      <a:r>
                        <a:rPr lang="en-US" dirty="0"/>
                        <a:t>top, </a:t>
                      </a:r>
                      <a:r>
                        <a:rPr lang="en-US" dirty="0" err="1"/>
                        <a:t>sar</a:t>
                      </a:r>
                      <a:r>
                        <a:rPr lang="en-US" dirty="0"/>
                        <a:t>, </a:t>
                      </a:r>
                      <a:r>
                        <a:rPr lang="en-US" dirty="0" err="1"/>
                        <a:t>iostat</a:t>
                      </a:r>
                      <a:endParaRPr lang="en-US" dirty="0"/>
                    </a:p>
                  </a:txBody>
                  <a:tcPr anchor="ctr"/>
                </a:tc>
                <a:extLst>
                  <a:ext uri="{0D108BD9-81ED-4DB2-BD59-A6C34878D82A}">
                    <a16:rowId xmlns:a16="http://schemas.microsoft.com/office/drawing/2014/main" val="3406433348"/>
                  </a:ext>
                </a:extLst>
              </a:tr>
            </a:tbl>
          </a:graphicData>
        </a:graphic>
      </p:graphicFrame>
    </p:spTree>
    <p:extLst>
      <p:ext uri="{BB962C8B-B14F-4D97-AF65-F5344CB8AC3E}">
        <p14:creationId xmlns:p14="http://schemas.microsoft.com/office/powerpoint/2010/main" val="3429026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5D6C-A96E-4785-9DA8-DAE2A0ED16C4}"/>
              </a:ext>
            </a:extLst>
          </p:cNvPr>
          <p:cNvSpPr>
            <a:spLocks noGrp="1"/>
          </p:cNvSpPr>
          <p:nvPr>
            <p:ph type="title"/>
          </p:nvPr>
        </p:nvSpPr>
        <p:spPr>
          <a:xfrm>
            <a:off x="545945" y="487789"/>
            <a:ext cx="10515600" cy="1325563"/>
          </a:xfrm>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Development Experience</a:t>
            </a:r>
          </a:p>
        </p:txBody>
      </p:sp>
      <p:pic>
        <p:nvPicPr>
          <p:cNvPr id="1026" name="Picture 2" descr="Machine generated alternative text:&#10;Rust &#10;Service &#10;Teams &#10;Infrastructure team &#10;Database &#10;Java &#10;Database ">
            <a:extLst>
              <a:ext uri="{FF2B5EF4-FFF2-40B4-BE49-F238E27FC236}">
                <a16:creationId xmlns:a16="http://schemas.microsoft.com/office/drawing/2014/main" id="{0CF69259-D349-45C3-AD3F-1823A26F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82" y="2337459"/>
            <a:ext cx="5276850" cy="30336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achine generated alternative text:&#10;Containers &#10;Database &#10;VMs &#10;Database ">
            <a:extLst>
              <a:ext uri="{FF2B5EF4-FFF2-40B4-BE49-F238E27FC236}">
                <a16:creationId xmlns:a16="http://schemas.microsoft.com/office/drawing/2014/main" id="{26F27864-6A18-4031-87D3-D6FA244A93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3531" y="2337459"/>
            <a:ext cx="5298588" cy="30336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2F473F-4E19-4121-940F-D159290BB354}"/>
              </a:ext>
            </a:extLst>
          </p:cNvPr>
          <p:cNvSpPr txBox="1"/>
          <p:nvPr/>
        </p:nvSpPr>
        <p:spPr>
          <a:xfrm>
            <a:off x="1535449" y="5509811"/>
            <a:ext cx="2962862" cy="369332"/>
          </a:xfrm>
          <a:prstGeom prst="rect">
            <a:avLst/>
          </a:prstGeom>
          <a:noFill/>
        </p:spPr>
        <p:txBody>
          <a:bodyPr wrap="none" rtlCol="0">
            <a:spAutoFit/>
          </a:bodyPr>
          <a:lstStyle/>
          <a:p>
            <a:r>
              <a:rPr lang="en-US" dirty="0"/>
              <a:t>Services in multiple language </a:t>
            </a:r>
          </a:p>
        </p:txBody>
      </p:sp>
      <p:sp>
        <p:nvSpPr>
          <p:cNvPr id="8" name="TextBox 7">
            <a:extLst>
              <a:ext uri="{FF2B5EF4-FFF2-40B4-BE49-F238E27FC236}">
                <a16:creationId xmlns:a16="http://schemas.microsoft.com/office/drawing/2014/main" id="{5834B6A1-8F49-4D09-8DD2-808E2FE8C9D7}"/>
              </a:ext>
            </a:extLst>
          </p:cNvPr>
          <p:cNvSpPr txBox="1"/>
          <p:nvPr/>
        </p:nvSpPr>
        <p:spPr>
          <a:xfrm>
            <a:off x="7430953" y="5509811"/>
            <a:ext cx="2903744" cy="369332"/>
          </a:xfrm>
          <a:prstGeom prst="rect">
            <a:avLst/>
          </a:prstGeom>
          <a:noFill/>
        </p:spPr>
        <p:txBody>
          <a:bodyPr wrap="none" rtlCol="0">
            <a:spAutoFit/>
          </a:bodyPr>
          <a:lstStyle/>
          <a:p>
            <a:r>
              <a:rPr lang="en-US" dirty="0"/>
              <a:t>Various Service Deployments</a:t>
            </a:r>
          </a:p>
        </p:txBody>
      </p:sp>
      <p:sp>
        <p:nvSpPr>
          <p:cNvPr id="6" name="TextBox 5">
            <a:extLst>
              <a:ext uri="{FF2B5EF4-FFF2-40B4-BE49-F238E27FC236}">
                <a16:creationId xmlns:a16="http://schemas.microsoft.com/office/drawing/2014/main" id="{683C9B2E-9982-4438-B725-B034019607F7}"/>
              </a:ext>
            </a:extLst>
          </p:cNvPr>
          <p:cNvSpPr txBox="1"/>
          <p:nvPr/>
        </p:nvSpPr>
        <p:spPr>
          <a:xfrm>
            <a:off x="545945" y="1681926"/>
            <a:ext cx="5236883" cy="461665"/>
          </a:xfrm>
          <a:prstGeom prst="rect">
            <a:avLst/>
          </a:prstGeom>
          <a:noFill/>
        </p:spPr>
        <p:txBody>
          <a:bodyPr wrap="none" rtlCol="0">
            <a:spAutoFit/>
          </a:bodyPr>
          <a:lstStyle/>
          <a:p>
            <a:r>
              <a:rPr lang="en-US" sz="2400" i="1" dirty="0"/>
              <a:t>Application scope is beyond a platform </a:t>
            </a:r>
          </a:p>
        </p:txBody>
      </p:sp>
    </p:spTree>
    <p:extLst>
      <p:ext uri="{BB962C8B-B14F-4D97-AF65-F5344CB8AC3E}">
        <p14:creationId xmlns:p14="http://schemas.microsoft.com/office/powerpoint/2010/main" val="352413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1826E-ACBD-455C-A8DC-55CDE902421F}"/>
              </a:ext>
            </a:extLst>
          </p:cNvPr>
          <p:cNvSpPr>
            <a:spLocks noGrp="1"/>
          </p:cNvSpPr>
          <p:nvPr>
            <p:ph type="title"/>
          </p:nvPr>
        </p:nvSpPr>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Monitoring Vendors</a:t>
            </a:r>
          </a:p>
        </p:txBody>
      </p:sp>
      <p:sp>
        <p:nvSpPr>
          <p:cNvPr id="12" name="Text Placeholder 11">
            <a:extLst>
              <a:ext uri="{FF2B5EF4-FFF2-40B4-BE49-F238E27FC236}">
                <a16:creationId xmlns:a16="http://schemas.microsoft.com/office/drawing/2014/main" id="{84EB16AA-0041-4757-9A18-2E5E514093B9}"/>
              </a:ext>
            </a:extLst>
          </p:cNvPr>
          <p:cNvSpPr>
            <a:spLocks noGrp="1"/>
          </p:cNvSpPr>
          <p:nvPr>
            <p:ph type="body" idx="1"/>
          </p:nvPr>
        </p:nvSpPr>
        <p:spPr>
          <a:xfrm>
            <a:off x="941941" y="1690688"/>
            <a:ext cx="2996232" cy="823912"/>
          </a:xfrm>
        </p:spPr>
        <p:txBody>
          <a:bodyPr/>
          <a:lstStyle/>
          <a:p>
            <a:r>
              <a:rPr lang="en-US" dirty="0"/>
              <a:t>APM/Tracing</a:t>
            </a:r>
          </a:p>
        </p:txBody>
      </p:sp>
      <p:sp>
        <p:nvSpPr>
          <p:cNvPr id="13" name="Content Placeholder 12">
            <a:extLst>
              <a:ext uri="{FF2B5EF4-FFF2-40B4-BE49-F238E27FC236}">
                <a16:creationId xmlns:a16="http://schemas.microsoft.com/office/drawing/2014/main" id="{F0BA8D02-5891-4021-BB02-330B1FE32039}"/>
              </a:ext>
            </a:extLst>
          </p:cNvPr>
          <p:cNvSpPr>
            <a:spLocks noGrp="1"/>
          </p:cNvSpPr>
          <p:nvPr>
            <p:ph sz="half" idx="2"/>
          </p:nvPr>
        </p:nvSpPr>
        <p:spPr>
          <a:xfrm>
            <a:off x="4129398" y="2657475"/>
            <a:ext cx="2996232" cy="3684588"/>
          </a:xfrm>
          <a:ln>
            <a:solidFill>
              <a:schemeClr val="accent1"/>
            </a:solidFill>
          </a:ln>
        </p:spPr>
        <p:txBody>
          <a:bodyPr>
            <a:normAutofit lnSpcReduction="10000"/>
          </a:bodyPr>
          <a:lstStyle/>
          <a:p>
            <a:pPr marL="0" indent="0">
              <a:buNone/>
            </a:pPr>
            <a:r>
              <a:rPr lang="en-US" sz="2000" dirty="0"/>
              <a:t>Dynatrace</a:t>
            </a:r>
          </a:p>
          <a:p>
            <a:pPr marL="0" indent="0">
              <a:buNone/>
            </a:pPr>
            <a:r>
              <a:rPr lang="en-US" sz="2000" dirty="0"/>
              <a:t>AppDynamics</a:t>
            </a:r>
          </a:p>
          <a:p>
            <a:pPr marL="0" indent="0">
              <a:buNone/>
            </a:pPr>
            <a:r>
              <a:rPr lang="en-US" sz="2000" dirty="0"/>
              <a:t>New Relic</a:t>
            </a:r>
          </a:p>
          <a:p>
            <a:pPr marL="0" indent="0">
              <a:buNone/>
            </a:pPr>
            <a:r>
              <a:rPr lang="en-US" sz="2000" dirty="0"/>
              <a:t>Container Insights</a:t>
            </a:r>
          </a:p>
          <a:p>
            <a:pPr marL="0" indent="0">
              <a:buNone/>
            </a:pPr>
            <a:r>
              <a:rPr lang="en-US" sz="2000" dirty="0"/>
              <a:t>Prometheus/Grafana</a:t>
            </a:r>
          </a:p>
          <a:p>
            <a:pPr marL="0" indent="0">
              <a:buNone/>
            </a:pPr>
            <a:r>
              <a:rPr lang="en-US" sz="2000" dirty="0" err="1"/>
              <a:t>InfluxDB</a:t>
            </a:r>
            <a:endParaRPr lang="en-US" sz="2000" dirty="0"/>
          </a:p>
          <a:p>
            <a:pPr marL="0" indent="0">
              <a:buNone/>
            </a:pPr>
            <a:r>
              <a:rPr lang="en-US" sz="2000" dirty="0" err="1"/>
              <a:t>Sysdig</a:t>
            </a:r>
            <a:endParaRPr lang="en-US" sz="2000" dirty="0"/>
          </a:p>
          <a:p>
            <a:pPr marL="0" indent="0">
              <a:buNone/>
            </a:pPr>
            <a:r>
              <a:rPr lang="en-US" sz="2000" dirty="0"/>
              <a:t>Datadog</a:t>
            </a:r>
          </a:p>
          <a:p>
            <a:pPr marL="0" indent="0">
              <a:buNone/>
            </a:pPr>
            <a:r>
              <a:rPr lang="en-US" sz="2000" dirty="0" err="1"/>
              <a:t>Weavesworks</a:t>
            </a:r>
            <a:endParaRPr lang="en-US" sz="2000" dirty="0"/>
          </a:p>
          <a:p>
            <a:pPr marL="0" indent="0">
              <a:buNone/>
            </a:pPr>
            <a:r>
              <a:rPr lang="en-US" sz="2000" dirty="0"/>
              <a:t>Tanzu</a:t>
            </a:r>
          </a:p>
          <a:p>
            <a:pPr marL="0" indent="0">
              <a:buNone/>
            </a:pPr>
            <a:endParaRPr lang="en-US" sz="2000" dirty="0"/>
          </a:p>
        </p:txBody>
      </p:sp>
      <p:sp>
        <p:nvSpPr>
          <p:cNvPr id="16" name="Text Placeholder 11">
            <a:extLst>
              <a:ext uri="{FF2B5EF4-FFF2-40B4-BE49-F238E27FC236}">
                <a16:creationId xmlns:a16="http://schemas.microsoft.com/office/drawing/2014/main" id="{F8C96ED0-7B96-4FB3-8716-E5D647F97712}"/>
              </a:ext>
            </a:extLst>
          </p:cNvPr>
          <p:cNvSpPr txBox="1">
            <a:spLocks/>
          </p:cNvSpPr>
          <p:nvPr/>
        </p:nvSpPr>
        <p:spPr>
          <a:xfrm>
            <a:off x="4040325" y="1690688"/>
            <a:ext cx="2996232" cy="823912"/>
          </a:xfrm>
          <a:prstGeom prst="rect">
            <a:avLst/>
          </a:prstGeom>
        </p:spPr>
        <p:txBody>
          <a:bodyPr vert="horz" lIns="91440" tIns="45720" rIns="91440" bIns="45720" rtlCol="0" anchor="b">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Kubernetes</a:t>
            </a:r>
          </a:p>
          <a:p>
            <a:r>
              <a:rPr lang="en-US" dirty="0"/>
              <a:t>Infrastructure</a:t>
            </a:r>
          </a:p>
        </p:txBody>
      </p:sp>
      <p:sp>
        <p:nvSpPr>
          <p:cNvPr id="17" name="Content Placeholder 12">
            <a:extLst>
              <a:ext uri="{FF2B5EF4-FFF2-40B4-BE49-F238E27FC236}">
                <a16:creationId xmlns:a16="http://schemas.microsoft.com/office/drawing/2014/main" id="{394FC54D-11C6-4099-B908-C38532E6541D}"/>
              </a:ext>
            </a:extLst>
          </p:cNvPr>
          <p:cNvSpPr txBox="1">
            <a:spLocks/>
          </p:cNvSpPr>
          <p:nvPr/>
        </p:nvSpPr>
        <p:spPr>
          <a:xfrm>
            <a:off x="992189" y="2657475"/>
            <a:ext cx="2996232"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Dynatrace</a:t>
            </a:r>
          </a:p>
          <a:p>
            <a:pPr marL="0" indent="0">
              <a:buFont typeface="Arial" panose="020B0604020202020204" pitchFamily="34" charset="0"/>
              <a:buNone/>
            </a:pPr>
            <a:r>
              <a:rPr lang="en-US" sz="2000" dirty="0"/>
              <a:t>AppDynamics</a:t>
            </a:r>
          </a:p>
          <a:p>
            <a:pPr marL="0" indent="0">
              <a:buFont typeface="Arial" panose="020B0604020202020204" pitchFamily="34" charset="0"/>
              <a:buNone/>
            </a:pPr>
            <a:r>
              <a:rPr lang="en-US" sz="2000" dirty="0" err="1"/>
              <a:t>NewRelic</a:t>
            </a:r>
            <a:endParaRPr lang="en-US" sz="2000" dirty="0"/>
          </a:p>
          <a:p>
            <a:pPr marL="0" indent="0">
              <a:buFont typeface="Arial" panose="020B0604020202020204" pitchFamily="34" charset="0"/>
              <a:buNone/>
            </a:pPr>
            <a:r>
              <a:rPr lang="en-US" sz="2000" dirty="0" err="1"/>
              <a:t>Jaegar</a:t>
            </a:r>
            <a:endParaRPr lang="en-US" sz="2000" dirty="0"/>
          </a:p>
          <a:p>
            <a:pPr marL="0" indent="0">
              <a:buFont typeface="Arial" panose="020B0604020202020204" pitchFamily="34" charset="0"/>
              <a:buNone/>
            </a:pPr>
            <a:r>
              <a:rPr lang="en-US" sz="2000" dirty="0" err="1"/>
              <a:t>Zipkin</a:t>
            </a:r>
            <a:endParaRPr lang="en-US" sz="2000" dirty="0"/>
          </a:p>
          <a:p>
            <a:pPr marL="0" indent="0">
              <a:buFont typeface="Arial" panose="020B0604020202020204" pitchFamily="34" charset="0"/>
              <a:buNone/>
            </a:pPr>
            <a:r>
              <a:rPr lang="en-US" sz="2000" dirty="0"/>
              <a:t>Application Insights</a:t>
            </a:r>
          </a:p>
          <a:p>
            <a:pPr marL="0" indent="0">
              <a:buFont typeface="Arial" panose="020B0604020202020204" pitchFamily="34" charset="0"/>
              <a:buNone/>
            </a:pPr>
            <a:r>
              <a:rPr lang="en-US" sz="2000" dirty="0" err="1"/>
              <a:t>Sysdig</a:t>
            </a:r>
            <a:endParaRPr lang="en-US" sz="2000" dirty="0"/>
          </a:p>
          <a:p>
            <a:pPr marL="0" indent="0">
              <a:buFont typeface="Arial" panose="020B0604020202020204" pitchFamily="34" charset="0"/>
              <a:buNone/>
            </a:pPr>
            <a:r>
              <a:rPr lang="en-US" sz="2000" dirty="0"/>
              <a:t>Datadog</a:t>
            </a:r>
          </a:p>
          <a:p>
            <a:pPr marL="0" indent="0">
              <a:buFont typeface="Arial" panose="020B0604020202020204" pitchFamily="34" charset="0"/>
              <a:buNone/>
            </a:pPr>
            <a:r>
              <a:rPr lang="en-US" sz="2000" dirty="0" err="1"/>
              <a:t>Weavesworks</a:t>
            </a:r>
            <a:endParaRPr lang="en-US" sz="2000" dirty="0"/>
          </a:p>
        </p:txBody>
      </p:sp>
      <p:sp>
        <p:nvSpPr>
          <p:cNvPr id="18" name="Content Placeholder 12">
            <a:extLst>
              <a:ext uri="{FF2B5EF4-FFF2-40B4-BE49-F238E27FC236}">
                <a16:creationId xmlns:a16="http://schemas.microsoft.com/office/drawing/2014/main" id="{A4172A85-6246-45F4-9377-5D4F2427C789}"/>
              </a:ext>
            </a:extLst>
          </p:cNvPr>
          <p:cNvSpPr txBox="1">
            <a:spLocks/>
          </p:cNvSpPr>
          <p:nvPr/>
        </p:nvSpPr>
        <p:spPr>
          <a:xfrm>
            <a:off x="7266607" y="2657475"/>
            <a:ext cx="2996232" cy="3684588"/>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Honeycomb</a:t>
            </a:r>
          </a:p>
          <a:p>
            <a:pPr marL="0" indent="0">
              <a:buFont typeface="Arial" panose="020B0604020202020204" pitchFamily="34" charset="0"/>
              <a:buNone/>
            </a:pPr>
            <a:r>
              <a:rPr lang="en-US" sz="2000" dirty="0" err="1"/>
              <a:t>NewRelic</a:t>
            </a:r>
            <a:endParaRPr lang="en-US" sz="2000" dirty="0"/>
          </a:p>
          <a:p>
            <a:pPr marL="0" indent="0">
              <a:buFont typeface="Arial" panose="020B0604020202020204" pitchFamily="34" charset="0"/>
              <a:buNone/>
            </a:pPr>
            <a:r>
              <a:rPr lang="en-US" sz="2000" dirty="0"/>
              <a:t>Prometheus/Grafana</a:t>
            </a:r>
          </a:p>
          <a:p>
            <a:pPr marL="0" indent="0">
              <a:buFont typeface="Arial" panose="020B0604020202020204" pitchFamily="34" charset="0"/>
              <a:buNone/>
            </a:pPr>
            <a:r>
              <a:rPr lang="en-US" sz="2000" dirty="0"/>
              <a:t>Container Insights</a:t>
            </a:r>
          </a:p>
          <a:p>
            <a:pPr marL="0" indent="0">
              <a:buFont typeface="Arial" panose="020B0604020202020204" pitchFamily="34" charset="0"/>
              <a:buNone/>
            </a:pPr>
            <a:r>
              <a:rPr lang="en-US" sz="2000" dirty="0" err="1"/>
              <a:t>Sysdig</a:t>
            </a:r>
            <a:endParaRPr lang="en-US" sz="2000" dirty="0"/>
          </a:p>
          <a:p>
            <a:pPr marL="0" indent="0">
              <a:buFont typeface="Arial" panose="020B0604020202020204" pitchFamily="34" charset="0"/>
              <a:buNone/>
            </a:pPr>
            <a:r>
              <a:rPr lang="en-US" sz="2000" dirty="0"/>
              <a:t>Datadog</a:t>
            </a:r>
          </a:p>
          <a:p>
            <a:pPr marL="0" indent="0">
              <a:buFont typeface="Arial" panose="020B0604020202020204" pitchFamily="34" charset="0"/>
              <a:buNone/>
            </a:pPr>
            <a:r>
              <a:rPr lang="en-US" sz="2000" dirty="0"/>
              <a:t>Tanzu</a:t>
            </a:r>
          </a:p>
        </p:txBody>
      </p:sp>
      <p:sp>
        <p:nvSpPr>
          <p:cNvPr id="19" name="Text Placeholder 11">
            <a:extLst>
              <a:ext uri="{FF2B5EF4-FFF2-40B4-BE49-F238E27FC236}">
                <a16:creationId xmlns:a16="http://schemas.microsoft.com/office/drawing/2014/main" id="{CC44FE81-2058-4F74-B88A-E5096DF56089}"/>
              </a:ext>
            </a:extLst>
          </p:cNvPr>
          <p:cNvSpPr txBox="1">
            <a:spLocks/>
          </p:cNvSpPr>
          <p:nvPr/>
        </p:nvSpPr>
        <p:spPr>
          <a:xfrm>
            <a:off x="7125630" y="1711132"/>
            <a:ext cx="2996232" cy="82391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Observability</a:t>
            </a:r>
          </a:p>
        </p:txBody>
      </p:sp>
    </p:spTree>
    <p:extLst>
      <p:ext uri="{BB962C8B-B14F-4D97-AF65-F5344CB8AC3E}">
        <p14:creationId xmlns:p14="http://schemas.microsoft.com/office/powerpoint/2010/main" val="2569328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2D4D4-92E5-4C23-A589-FCB79EA8763D}"/>
              </a:ext>
            </a:extLst>
          </p:cNvPr>
          <p:cNvSpPr>
            <a:spLocks noGrp="1"/>
          </p:cNvSpPr>
          <p:nvPr>
            <p:ph type="title"/>
          </p:nvPr>
        </p:nvSpPr>
        <p:spPr>
          <a:xfrm>
            <a:off x="391229" y="248305"/>
            <a:ext cx="11663941" cy="663915"/>
          </a:xfrm>
        </p:spPr>
        <p:txBody>
          <a:bodyPr>
            <a:normAutofit fontScale="90000"/>
          </a:bodyPr>
          <a:lstStyle/>
          <a:p>
            <a:r>
              <a:rPr lang="en-US" dirty="0">
                <a:solidFill>
                  <a:schemeClr val="bg1">
                    <a:lumMod val="65000"/>
                  </a:schemeClr>
                </a:solidFill>
                <a:latin typeface="Segoe UI Semibold" panose="020B0702040204020203" pitchFamily="34" charset="0"/>
                <a:cs typeface="Segoe UI Semibold" panose="020B0702040204020203" pitchFamily="34" charset="0"/>
              </a:rPr>
              <a:t>Container Insights with Prometheus Integration</a:t>
            </a:r>
          </a:p>
        </p:txBody>
      </p:sp>
      <p:sp>
        <p:nvSpPr>
          <p:cNvPr id="4" name="Rectangle: Rounded Corners 3">
            <a:extLst>
              <a:ext uri="{FF2B5EF4-FFF2-40B4-BE49-F238E27FC236}">
                <a16:creationId xmlns:a16="http://schemas.microsoft.com/office/drawing/2014/main" id="{EBDA6494-E9C9-4055-849C-91BCE049BFCE}"/>
              </a:ext>
            </a:extLst>
          </p:cNvPr>
          <p:cNvSpPr/>
          <p:nvPr/>
        </p:nvSpPr>
        <p:spPr>
          <a:xfrm>
            <a:off x="907612" y="2706583"/>
            <a:ext cx="1375611" cy="9068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pod1</a:t>
            </a:r>
          </a:p>
          <a:p>
            <a:pPr algn="ctr"/>
            <a:r>
              <a:rPr lang="en-US" sz="1400">
                <a:solidFill>
                  <a:schemeClr val="tx1"/>
                </a:solidFill>
              </a:rPr>
              <a:t>(application)</a:t>
            </a:r>
          </a:p>
        </p:txBody>
      </p:sp>
      <p:sp>
        <p:nvSpPr>
          <p:cNvPr id="5" name="Rectangle: Rounded Corners 4">
            <a:extLst>
              <a:ext uri="{FF2B5EF4-FFF2-40B4-BE49-F238E27FC236}">
                <a16:creationId xmlns:a16="http://schemas.microsoft.com/office/drawing/2014/main" id="{D3924468-B758-4560-A31A-ADA9B01AB04F}"/>
              </a:ext>
            </a:extLst>
          </p:cNvPr>
          <p:cNvSpPr/>
          <p:nvPr/>
        </p:nvSpPr>
        <p:spPr>
          <a:xfrm>
            <a:off x="907610" y="3939322"/>
            <a:ext cx="1375611" cy="9068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pod2</a:t>
            </a:r>
          </a:p>
          <a:p>
            <a:pPr algn="ctr"/>
            <a:r>
              <a:rPr lang="en-US" sz="1400">
                <a:solidFill>
                  <a:schemeClr val="tx1"/>
                </a:solidFill>
              </a:rPr>
              <a:t>(application)</a:t>
            </a:r>
          </a:p>
        </p:txBody>
      </p:sp>
      <p:cxnSp>
        <p:nvCxnSpPr>
          <p:cNvPr id="8" name="Straight Connector 7">
            <a:extLst>
              <a:ext uri="{FF2B5EF4-FFF2-40B4-BE49-F238E27FC236}">
                <a16:creationId xmlns:a16="http://schemas.microsoft.com/office/drawing/2014/main" id="{1ADA4132-3756-497B-BCD3-AD733DAED502}"/>
              </a:ext>
            </a:extLst>
          </p:cNvPr>
          <p:cNvCxnSpPr>
            <a:stCxn id="4" idx="3"/>
          </p:cNvCxnSpPr>
          <p:nvPr/>
        </p:nvCxnSpPr>
        <p:spPr>
          <a:xfrm flipV="1">
            <a:off x="2283223" y="3160003"/>
            <a:ext cx="317633" cy="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5B8D5EA0-6FBC-42CF-8EDD-ED414E12B733}"/>
              </a:ext>
            </a:extLst>
          </p:cNvPr>
          <p:cNvSpPr/>
          <p:nvPr/>
        </p:nvSpPr>
        <p:spPr>
          <a:xfrm>
            <a:off x="2543106" y="3084435"/>
            <a:ext cx="173255" cy="1794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8A7CC59-198B-4807-9327-E4B98D8CB499}"/>
              </a:ext>
            </a:extLst>
          </p:cNvPr>
          <p:cNvCxnSpPr/>
          <p:nvPr/>
        </p:nvCxnSpPr>
        <p:spPr>
          <a:xfrm flipV="1">
            <a:off x="2270391" y="4372421"/>
            <a:ext cx="317633" cy="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C558EEA0-3CC1-4436-9B90-655C6E5F19B8}"/>
              </a:ext>
            </a:extLst>
          </p:cNvPr>
          <p:cNvSpPr/>
          <p:nvPr/>
        </p:nvSpPr>
        <p:spPr>
          <a:xfrm>
            <a:off x="2530274" y="4277961"/>
            <a:ext cx="173255" cy="1794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76166E-62B5-4016-92E3-29AD687E9F91}"/>
              </a:ext>
            </a:extLst>
          </p:cNvPr>
          <p:cNvSpPr txBox="1"/>
          <p:nvPr/>
        </p:nvSpPr>
        <p:spPr>
          <a:xfrm>
            <a:off x="2346007" y="2812251"/>
            <a:ext cx="1874359" cy="276999"/>
          </a:xfrm>
          <a:prstGeom prst="rect">
            <a:avLst/>
          </a:prstGeom>
          <a:noFill/>
        </p:spPr>
        <p:txBody>
          <a:bodyPr wrap="none" rtlCol="0" anchor="t">
            <a:spAutoFit/>
          </a:bodyPr>
          <a:lstStyle/>
          <a:p>
            <a:r>
              <a:rPr lang="en-US" sz="1200"/>
              <a:t>End point (pod annotation)</a:t>
            </a:r>
          </a:p>
        </p:txBody>
      </p:sp>
      <p:sp>
        <p:nvSpPr>
          <p:cNvPr id="16" name="AutoShape 2" descr="Image result for log analytics icon">
            <a:extLst>
              <a:ext uri="{FF2B5EF4-FFF2-40B4-BE49-F238E27FC236}">
                <a16:creationId xmlns:a16="http://schemas.microsoft.com/office/drawing/2014/main" id="{E3BD3957-EA4C-45AE-9055-A7294FBA6D12}"/>
              </a:ext>
            </a:extLst>
          </p:cNvPr>
          <p:cNvSpPr>
            <a:spLocks noChangeAspect="1" noChangeArrowheads="1"/>
          </p:cNvSpPr>
          <p:nvPr/>
        </p:nvSpPr>
        <p:spPr bwMode="auto">
          <a:xfrm>
            <a:off x="6880328" y="3263930"/>
            <a:ext cx="304800" cy="29913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Graphic 18">
            <a:extLst>
              <a:ext uri="{FF2B5EF4-FFF2-40B4-BE49-F238E27FC236}">
                <a16:creationId xmlns:a16="http://schemas.microsoft.com/office/drawing/2014/main" id="{0C732707-ECAA-4981-B0DA-8B1173166E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89678" y="2853804"/>
            <a:ext cx="393276" cy="381787"/>
          </a:xfrm>
          <a:prstGeom prst="rect">
            <a:avLst/>
          </a:prstGeom>
        </p:spPr>
      </p:pic>
      <p:sp>
        <p:nvSpPr>
          <p:cNvPr id="20" name="Rectangle: Rounded Corners 19">
            <a:extLst>
              <a:ext uri="{FF2B5EF4-FFF2-40B4-BE49-F238E27FC236}">
                <a16:creationId xmlns:a16="http://schemas.microsoft.com/office/drawing/2014/main" id="{34C51692-3170-4D05-8F82-5705E6B52D3E}"/>
              </a:ext>
            </a:extLst>
          </p:cNvPr>
          <p:cNvSpPr/>
          <p:nvPr/>
        </p:nvSpPr>
        <p:spPr>
          <a:xfrm>
            <a:off x="5549432" y="2796731"/>
            <a:ext cx="673768" cy="4959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74D058D-4604-4FD1-9B09-AC6CD72CAAEE}"/>
              </a:ext>
            </a:extLst>
          </p:cNvPr>
          <p:cNvSpPr txBox="1"/>
          <p:nvPr/>
        </p:nvSpPr>
        <p:spPr>
          <a:xfrm>
            <a:off x="5317442" y="3235591"/>
            <a:ext cx="1137747" cy="513490"/>
          </a:xfrm>
          <a:prstGeom prst="rect">
            <a:avLst/>
          </a:prstGeom>
          <a:noFill/>
        </p:spPr>
        <p:txBody>
          <a:bodyPr wrap="none" rtlCol="0">
            <a:spAutoFit/>
          </a:bodyPr>
          <a:lstStyle/>
          <a:p>
            <a:pPr algn="ctr"/>
            <a:r>
              <a:rPr lang="en-US" sz="1400"/>
              <a:t>Log Analytics</a:t>
            </a:r>
          </a:p>
          <a:p>
            <a:pPr algn="ctr"/>
            <a:r>
              <a:rPr lang="en-US" sz="1400"/>
              <a:t>agent</a:t>
            </a:r>
          </a:p>
        </p:txBody>
      </p:sp>
      <p:cxnSp>
        <p:nvCxnSpPr>
          <p:cNvPr id="23" name="Straight Arrow Connector 22">
            <a:extLst>
              <a:ext uri="{FF2B5EF4-FFF2-40B4-BE49-F238E27FC236}">
                <a16:creationId xmlns:a16="http://schemas.microsoft.com/office/drawing/2014/main" id="{816BE2CC-792C-4192-ABF5-0C63FE98196B}"/>
              </a:ext>
            </a:extLst>
          </p:cNvPr>
          <p:cNvCxnSpPr>
            <a:cxnSpLocks/>
            <a:stCxn id="9" idx="6"/>
            <a:endCxn id="20" idx="1"/>
          </p:cNvCxnSpPr>
          <p:nvPr/>
        </p:nvCxnSpPr>
        <p:spPr>
          <a:xfrm flipV="1">
            <a:off x="2716361" y="3044696"/>
            <a:ext cx="2833071" cy="129478"/>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2668908-780D-4AF5-8A08-6FEF174FC1EC}"/>
              </a:ext>
            </a:extLst>
          </p:cNvPr>
          <p:cNvCxnSpPr>
            <a:cxnSpLocks/>
            <a:stCxn id="11" idx="6"/>
            <a:endCxn id="20" idx="1"/>
          </p:cNvCxnSpPr>
          <p:nvPr/>
        </p:nvCxnSpPr>
        <p:spPr>
          <a:xfrm flipV="1">
            <a:off x="2703529" y="3044696"/>
            <a:ext cx="2845903" cy="1323004"/>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09060897-F602-45AF-BE51-42B2925C082A}"/>
              </a:ext>
            </a:extLst>
          </p:cNvPr>
          <p:cNvGrpSpPr/>
          <p:nvPr/>
        </p:nvGrpSpPr>
        <p:grpSpPr>
          <a:xfrm>
            <a:off x="7185128" y="2442626"/>
            <a:ext cx="2204187" cy="1204139"/>
            <a:chOff x="6564428" y="2418480"/>
            <a:chExt cx="2204187" cy="1226955"/>
          </a:xfrm>
        </p:grpSpPr>
        <p:sp>
          <p:nvSpPr>
            <p:cNvPr id="26" name="Rectangle: Rounded Corners 25">
              <a:extLst>
                <a:ext uri="{FF2B5EF4-FFF2-40B4-BE49-F238E27FC236}">
                  <a16:creationId xmlns:a16="http://schemas.microsoft.com/office/drawing/2014/main" id="{C073704A-7A74-4024-9D2D-5BBDD901C5B7}"/>
                </a:ext>
              </a:extLst>
            </p:cNvPr>
            <p:cNvSpPr/>
            <p:nvPr/>
          </p:nvSpPr>
          <p:spPr>
            <a:xfrm>
              <a:off x="6564428" y="2418480"/>
              <a:ext cx="2204187" cy="122695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Azure Monitor </a:t>
              </a:r>
            </a:p>
            <a:p>
              <a:r>
                <a:rPr lang="en-US">
                  <a:solidFill>
                    <a:schemeClr val="tx1"/>
                  </a:solidFill>
                </a:rPr>
                <a:t>for containers</a:t>
              </a:r>
            </a:p>
          </p:txBody>
        </p:sp>
        <p:pic>
          <p:nvPicPr>
            <p:cNvPr id="1030" name="Picture 6" descr="Image result for azure monitor icon">
              <a:extLst>
                <a:ext uri="{FF2B5EF4-FFF2-40B4-BE49-F238E27FC236}">
                  <a16:creationId xmlns:a16="http://schemas.microsoft.com/office/drawing/2014/main" id="{2A39A84A-003C-4B4B-A504-0428E8A756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93375" y="2813633"/>
              <a:ext cx="434091" cy="43409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9" name="Straight Arrow Connector 28">
            <a:extLst>
              <a:ext uri="{FF2B5EF4-FFF2-40B4-BE49-F238E27FC236}">
                <a16:creationId xmlns:a16="http://schemas.microsoft.com/office/drawing/2014/main" id="{D0B8E31E-F5A9-4571-84A4-F63D780F5EE4}"/>
              </a:ext>
            </a:extLst>
          </p:cNvPr>
          <p:cNvCxnSpPr>
            <a:cxnSpLocks/>
            <a:stCxn id="20" idx="3"/>
            <a:endCxn id="26" idx="1"/>
          </p:cNvCxnSpPr>
          <p:nvPr/>
        </p:nvCxnSpPr>
        <p:spPr>
          <a:xfrm>
            <a:off x="6223200" y="3044696"/>
            <a:ext cx="961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334725BE-E69D-45DC-9AB9-5BE009C2D676}"/>
              </a:ext>
            </a:extLst>
          </p:cNvPr>
          <p:cNvGrpSpPr/>
          <p:nvPr/>
        </p:nvGrpSpPr>
        <p:grpSpPr>
          <a:xfrm>
            <a:off x="10531977" y="1509008"/>
            <a:ext cx="986067" cy="906842"/>
            <a:chOff x="9595249" y="1603199"/>
            <a:chExt cx="986067" cy="924025"/>
          </a:xfrm>
        </p:grpSpPr>
        <p:pic>
          <p:nvPicPr>
            <p:cNvPr id="31" name="Graphic 30">
              <a:extLst>
                <a:ext uri="{FF2B5EF4-FFF2-40B4-BE49-F238E27FC236}">
                  <a16:creationId xmlns:a16="http://schemas.microsoft.com/office/drawing/2014/main" id="{CE294B35-9014-45DB-A728-BDAFBB90293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57339" y="1668048"/>
              <a:ext cx="461886" cy="461886"/>
            </a:xfrm>
            <a:prstGeom prst="rect">
              <a:avLst/>
            </a:prstGeom>
          </p:spPr>
        </p:pic>
        <p:sp>
          <p:nvSpPr>
            <p:cNvPr id="32" name="TextBox 31">
              <a:extLst>
                <a:ext uri="{FF2B5EF4-FFF2-40B4-BE49-F238E27FC236}">
                  <a16:creationId xmlns:a16="http://schemas.microsoft.com/office/drawing/2014/main" id="{5ECE1CD2-1AD5-4D72-919A-FD03CDD92D39}"/>
                </a:ext>
              </a:extLst>
            </p:cNvPr>
            <p:cNvSpPr txBox="1"/>
            <p:nvPr/>
          </p:nvSpPr>
          <p:spPr>
            <a:xfrm>
              <a:off x="9595249" y="2128526"/>
              <a:ext cx="986067" cy="343968"/>
            </a:xfrm>
            <a:prstGeom prst="rect">
              <a:avLst/>
            </a:prstGeom>
            <a:noFill/>
          </p:spPr>
          <p:txBody>
            <a:bodyPr wrap="square" lIns="89642" tIns="89642" rIns="89642" bIns="89642" rtlCol="0">
              <a:spAutoFit/>
            </a:bodyPr>
            <a:lstStyle/>
            <a:p>
              <a:pPr marL="0" marR="0" lvl="0" indent="0" algn="ctr" defTabSz="914314" eaLnBrk="1" fontAlgn="auto" latinLnBrk="0" hangingPunct="1">
                <a:lnSpc>
                  <a:spcPct val="90000"/>
                </a:lnSpc>
                <a:spcBef>
                  <a:spcPts val="0"/>
                </a:spcBef>
                <a:spcAft>
                  <a:spcPts val="588"/>
                </a:spcAft>
                <a:buClrTx/>
                <a:buSzTx/>
                <a:buFontTx/>
                <a:buNone/>
                <a:tabLst/>
                <a:defRPr/>
              </a:pPr>
              <a:r>
                <a:rPr kumimoji="0" lang="en-US" sz="1176" b="0" i="0" u="none" strike="noStrike" kern="0" cap="none" spc="0" normalizeH="0" baseline="0" noProof="0">
                  <a:ln>
                    <a:noFill/>
                  </a:ln>
                  <a:solidFill>
                    <a:srgbClr val="000000"/>
                  </a:solidFill>
                  <a:effectLst/>
                  <a:uLnTx/>
                  <a:uFillTx/>
                  <a:latin typeface="Segoe UI Semibold"/>
                </a:rPr>
                <a:t>Dashboards</a:t>
              </a:r>
            </a:p>
          </p:txBody>
        </p:sp>
        <p:sp>
          <p:nvSpPr>
            <p:cNvPr id="30" name="Rectangle: Rounded Corners 29">
              <a:extLst>
                <a:ext uri="{FF2B5EF4-FFF2-40B4-BE49-F238E27FC236}">
                  <a16:creationId xmlns:a16="http://schemas.microsoft.com/office/drawing/2014/main" id="{9471D5A2-0725-4CB9-8337-4AF5DCB08CCF}"/>
                </a:ext>
              </a:extLst>
            </p:cNvPr>
            <p:cNvSpPr/>
            <p:nvPr/>
          </p:nvSpPr>
          <p:spPr>
            <a:xfrm>
              <a:off x="9595249" y="1603199"/>
              <a:ext cx="986067" cy="9240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5" name="Connector: Elbow 34">
            <a:extLst>
              <a:ext uri="{FF2B5EF4-FFF2-40B4-BE49-F238E27FC236}">
                <a16:creationId xmlns:a16="http://schemas.microsoft.com/office/drawing/2014/main" id="{26CA799C-2172-4394-BCD4-7F8DEB90D2E3}"/>
              </a:ext>
            </a:extLst>
          </p:cNvPr>
          <p:cNvCxnSpPr>
            <a:cxnSpLocks/>
            <a:stCxn id="26" idx="3"/>
            <a:endCxn id="30" idx="1"/>
          </p:cNvCxnSpPr>
          <p:nvPr/>
        </p:nvCxnSpPr>
        <p:spPr>
          <a:xfrm flipV="1">
            <a:off x="9389315" y="1962429"/>
            <a:ext cx="1142662" cy="10822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A1E9D09E-648E-430F-A891-E2A86CCDF26D}"/>
              </a:ext>
            </a:extLst>
          </p:cNvPr>
          <p:cNvGrpSpPr/>
          <p:nvPr/>
        </p:nvGrpSpPr>
        <p:grpSpPr>
          <a:xfrm>
            <a:off x="10469193" y="2598757"/>
            <a:ext cx="1124309" cy="906842"/>
            <a:chOff x="9532465" y="2675824"/>
            <a:chExt cx="1124309" cy="924025"/>
          </a:xfrm>
        </p:grpSpPr>
        <p:sp>
          <p:nvSpPr>
            <p:cNvPr id="40" name="Rectangle: Rounded Corners 39">
              <a:extLst>
                <a:ext uri="{FF2B5EF4-FFF2-40B4-BE49-F238E27FC236}">
                  <a16:creationId xmlns:a16="http://schemas.microsoft.com/office/drawing/2014/main" id="{ED93581A-60C3-414E-B5BB-4E2FD7FC766C}"/>
                </a:ext>
              </a:extLst>
            </p:cNvPr>
            <p:cNvSpPr/>
            <p:nvPr/>
          </p:nvSpPr>
          <p:spPr>
            <a:xfrm>
              <a:off x="9595249" y="2675824"/>
              <a:ext cx="986067" cy="9240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c 40">
              <a:extLst>
                <a:ext uri="{FF2B5EF4-FFF2-40B4-BE49-F238E27FC236}">
                  <a16:creationId xmlns:a16="http://schemas.microsoft.com/office/drawing/2014/main" id="{09D0378D-A26F-4193-9B4F-E5DEAC23B2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863676" y="2739926"/>
              <a:ext cx="461886" cy="461886"/>
            </a:xfrm>
            <a:prstGeom prst="rect">
              <a:avLst/>
            </a:prstGeom>
          </p:spPr>
        </p:pic>
        <p:sp>
          <p:nvSpPr>
            <p:cNvPr id="42" name="TextBox 41">
              <a:extLst>
                <a:ext uri="{FF2B5EF4-FFF2-40B4-BE49-F238E27FC236}">
                  <a16:creationId xmlns:a16="http://schemas.microsoft.com/office/drawing/2014/main" id="{53819F5D-3064-4167-99AA-D23926E1135A}"/>
                </a:ext>
              </a:extLst>
            </p:cNvPr>
            <p:cNvSpPr txBox="1"/>
            <p:nvPr/>
          </p:nvSpPr>
          <p:spPr>
            <a:xfrm>
              <a:off x="9532465" y="3183733"/>
              <a:ext cx="1124309" cy="343968"/>
            </a:xfrm>
            <a:prstGeom prst="rect">
              <a:avLst/>
            </a:prstGeom>
            <a:noFill/>
          </p:spPr>
          <p:txBody>
            <a:bodyPr wrap="square" lIns="89642" tIns="89642" rIns="89642" bIns="89642" rtlCol="0">
              <a:spAutoFit/>
            </a:bodyPr>
            <a:lstStyle/>
            <a:p>
              <a:pPr marL="0" marR="0" lvl="0" indent="0" algn="ctr" defTabSz="914314" eaLnBrk="1" fontAlgn="auto" latinLnBrk="0" hangingPunct="1">
                <a:lnSpc>
                  <a:spcPct val="90000"/>
                </a:lnSpc>
                <a:spcBef>
                  <a:spcPts val="0"/>
                </a:spcBef>
                <a:spcAft>
                  <a:spcPts val="588"/>
                </a:spcAft>
                <a:buClrTx/>
                <a:buSzTx/>
                <a:buFontTx/>
                <a:buNone/>
                <a:tabLst/>
                <a:defRPr/>
              </a:pPr>
              <a:r>
                <a:rPr kumimoji="0" lang="en-US" sz="1176" b="0" i="0" u="none" strike="noStrike" kern="0" cap="none" spc="0" normalizeH="0" baseline="0" noProof="0">
                  <a:ln>
                    <a:noFill/>
                  </a:ln>
                  <a:solidFill>
                    <a:srgbClr val="000000"/>
                  </a:solidFill>
                  <a:effectLst/>
                  <a:uLnTx/>
                  <a:uFillTx/>
                  <a:latin typeface="Segoe UI Semibold"/>
                </a:rPr>
                <a:t>Log Analytics</a:t>
              </a:r>
            </a:p>
          </p:txBody>
        </p:sp>
      </p:grpSp>
      <p:grpSp>
        <p:nvGrpSpPr>
          <p:cNvPr id="36" name="Group 35">
            <a:extLst>
              <a:ext uri="{FF2B5EF4-FFF2-40B4-BE49-F238E27FC236}">
                <a16:creationId xmlns:a16="http://schemas.microsoft.com/office/drawing/2014/main" id="{F5FEB878-9509-4DFD-BD43-7626E7F50221}"/>
              </a:ext>
            </a:extLst>
          </p:cNvPr>
          <p:cNvGrpSpPr/>
          <p:nvPr/>
        </p:nvGrpSpPr>
        <p:grpSpPr>
          <a:xfrm>
            <a:off x="10550626" y="3683697"/>
            <a:ext cx="986067" cy="906842"/>
            <a:chOff x="9595249" y="3666689"/>
            <a:chExt cx="986067" cy="924025"/>
          </a:xfrm>
        </p:grpSpPr>
        <p:pic>
          <p:nvPicPr>
            <p:cNvPr id="43" name="Graphic 42">
              <a:extLst>
                <a:ext uri="{FF2B5EF4-FFF2-40B4-BE49-F238E27FC236}">
                  <a16:creationId xmlns:a16="http://schemas.microsoft.com/office/drawing/2014/main" id="{65CFB1AC-87A3-4407-95AE-107E8E45CB0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805" y="3830791"/>
              <a:ext cx="378955" cy="378955"/>
            </a:xfrm>
            <a:prstGeom prst="rect">
              <a:avLst/>
            </a:prstGeom>
          </p:spPr>
        </p:pic>
        <p:sp>
          <p:nvSpPr>
            <p:cNvPr id="44" name="TextBox 43">
              <a:extLst>
                <a:ext uri="{FF2B5EF4-FFF2-40B4-BE49-F238E27FC236}">
                  <a16:creationId xmlns:a16="http://schemas.microsoft.com/office/drawing/2014/main" id="{CF0B0AA4-6AA3-4583-A676-655B6DC51DE8}"/>
                </a:ext>
              </a:extLst>
            </p:cNvPr>
            <p:cNvSpPr txBox="1"/>
            <p:nvPr/>
          </p:nvSpPr>
          <p:spPr>
            <a:xfrm>
              <a:off x="9595249" y="4219665"/>
              <a:ext cx="986067" cy="343968"/>
            </a:xfrm>
            <a:prstGeom prst="rect">
              <a:avLst/>
            </a:prstGeom>
            <a:noFill/>
          </p:spPr>
          <p:txBody>
            <a:bodyPr wrap="square" lIns="89642" tIns="89642" rIns="89642" bIns="89642" rtlCol="0">
              <a:spAutoFit/>
            </a:bodyPr>
            <a:lstStyle/>
            <a:p>
              <a:pPr marL="0" marR="0" lvl="0" indent="0" algn="ctr" defTabSz="914314" eaLnBrk="1" fontAlgn="auto" latinLnBrk="0" hangingPunct="1">
                <a:lnSpc>
                  <a:spcPct val="90000"/>
                </a:lnSpc>
                <a:spcBef>
                  <a:spcPts val="0"/>
                </a:spcBef>
                <a:spcAft>
                  <a:spcPts val="588"/>
                </a:spcAft>
                <a:buClrTx/>
                <a:buSzTx/>
                <a:buFontTx/>
                <a:buNone/>
                <a:tabLst/>
                <a:defRPr/>
              </a:pPr>
              <a:r>
                <a:rPr kumimoji="0" lang="en-US" sz="1176" b="0" i="0" u="none" strike="noStrike" kern="0" cap="none" spc="0" normalizeH="0" baseline="0" noProof="0">
                  <a:ln>
                    <a:noFill/>
                  </a:ln>
                  <a:solidFill>
                    <a:srgbClr val="000000"/>
                  </a:solidFill>
                  <a:effectLst/>
                  <a:uLnTx/>
                  <a:uFillTx/>
                  <a:latin typeface="Segoe UI Semibold"/>
                </a:rPr>
                <a:t>Alerts</a:t>
              </a:r>
            </a:p>
          </p:txBody>
        </p:sp>
        <p:sp>
          <p:nvSpPr>
            <p:cNvPr id="45" name="Rectangle: Rounded Corners 44">
              <a:extLst>
                <a:ext uri="{FF2B5EF4-FFF2-40B4-BE49-F238E27FC236}">
                  <a16:creationId xmlns:a16="http://schemas.microsoft.com/office/drawing/2014/main" id="{9FFDC15E-4EA8-4839-BE4C-FD79B7BE7354}"/>
                </a:ext>
              </a:extLst>
            </p:cNvPr>
            <p:cNvSpPr/>
            <p:nvPr/>
          </p:nvSpPr>
          <p:spPr>
            <a:xfrm>
              <a:off x="9595249" y="3666689"/>
              <a:ext cx="986067" cy="92402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8" name="Connector: Elbow 47">
            <a:extLst>
              <a:ext uri="{FF2B5EF4-FFF2-40B4-BE49-F238E27FC236}">
                <a16:creationId xmlns:a16="http://schemas.microsoft.com/office/drawing/2014/main" id="{0B2B1BD6-0FFC-4B47-9432-9CD99D7B7682}"/>
              </a:ext>
            </a:extLst>
          </p:cNvPr>
          <p:cNvCxnSpPr>
            <a:cxnSpLocks/>
          </p:cNvCxnSpPr>
          <p:nvPr/>
        </p:nvCxnSpPr>
        <p:spPr>
          <a:xfrm>
            <a:off x="9379690" y="3044696"/>
            <a:ext cx="1161311" cy="109242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2FB79C4-F9D8-4CFB-A7DD-0EFDFEDBEC57}"/>
              </a:ext>
            </a:extLst>
          </p:cNvPr>
          <p:cNvCxnSpPr>
            <a:cxnSpLocks/>
            <a:stCxn id="26" idx="3"/>
          </p:cNvCxnSpPr>
          <p:nvPr/>
        </p:nvCxnSpPr>
        <p:spPr>
          <a:xfrm flipV="1">
            <a:off x="9389315" y="3039452"/>
            <a:ext cx="1142662" cy="52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D0352554-F9CA-48AA-BC30-D95D57C17BE0}"/>
              </a:ext>
            </a:extLst>
          </p:cNvPr>
          <p:cNvSpPr/>
          <p:nvPr/>
        </p:nvSpPr>
        <p:spPr>
          <a:xfrm>
            <a:off x="858463" y="1335631"/>
            <a:ext cx="1501542" cy="9068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rPr>
              <a:t>node</a:t>
            </a:r>
          </a:p>
        </p:txBody>
      </p:sp>
      <p:cxnSp>
        <p:nvCxnSpPr>
          <p:cNvPr id="56" name="Straight Connector 55">
            <a:extLst>
              <a:ext uri="{FF2B5EF4-FFF2-40B4-BE49-F238E27FC236}">
                <a16:creationId xmlns:a16="http://schemas.microsoft.com/office/drawing/2014/main" id="{62C46F74-EE45-413F-A90C-B862B352BF56}"/>
              </a:ext>
            </a:extLst>
          </p:cNvPr>
          <p:cNvCxnSpPr/>
          <p:nvPr/>
        </p:nvCxnSpPr>
        <p:spPr>
          <a:xfrm flipV="1">
            <a:off x="2293101" y="1802506"/>
            <a:ext cx="317633" cy="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6DE8C6DF-27BF-46A3-AB78-B45E884B33BC}"/>
              </a:ext>
            </a:extLst>
          </p:cNvPr>
          <p:cNvSpPr/>
          <p:nvPr/>
        </p:nvSpPr>
        <p:spPr>
          <a:xfrm>
            <a:off x="2552984" y="1726937"/>
            <a:ext cx="173255" cy="1794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3DE384D4-43AC-4773-A55B-53C5C7253D6C}"/>
              </a:ext>
            </a:extLst>
          </p:cNvPr>
          <p:cNvSpPr txBox="1"/>
          <p:nvPr/>
        </p:nvSpPr>
        <p:spPr>
          <a:xfrm>
            <a:off x="2355885" y="1443078"/>
            <a:ext cx="1737720" cy="276999"/>
          </a:xfrm>
          <a:prstGeom prst="rect">
            <a:avLst/>
          </a:prstGeom>
          <a:noFill/>
        </p:spPr>
        <p:txBody>
          <a:bodyPr wrap="none" rtlCol="0">
            <a:spAutoFit/>
          </a:bodyPr>
          <a:lstStyle/>
          <a:p>
            <a:r>
              <a:rPr lang="en-US" sz="1200"/>
              <a:t>End point (</a:t>
            </a:r>
            <a:r>
              <a:rPr lang="en-US" sz="1200" err="1"/>
              <a:t>url</a:t>
            </a:r>
            <a:r>
              <a:rPr lang="en-US" sz="1200"/>
              <a:t>/</a:t>
            </a:r>
            <a:r>
              <a:rPr lang="en-US" sz="1200" err="1"/>
              <a:t>ipaddress</a:t>
            </a:r>
            <a:r>
              <a:rPr lang="en-US" sz="1200"/>
              <a:t>)</a:t>
            </a:r>
          </a:p>
        </p:txBody>
      </p:sp>
      <p:cxnSp>
        <p:nvCxnSpPr>
          <p:cNvPr id="59" name="Straight Arrow Connector 58">
            <a:extLst>
              <a:ext uri="{FF2B5EF4-FFF2-40B4-BE49-F238E27FC236}">
                <a16:creationId xmlns:a16="http://schemas.microsoft.com/office/drawing/2014/main" id="{6D57F68F-F716-4559-8D21-546330D64F3F}"/>
              </a:ext>
            </a:extLst>
          </p:cNvPr>
          <p:cNvCxnSpPr>
            <a:stCxn id="57" idx="5"/>
            <a:endCxn id="20" idx="1"/>
          </p:cNvCxnSpPr>
          <p:nvPr/>
        </p:nvCxnSpPr>
        <p:spPr>
          <a:xfrm>
            <a:off x="2700866" y="1880131"/>
            <a:ext cx="2848566" cy="1164565"/>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3FA1BB10-DDD9-4279-A73C-A8F17508A278}"/>
              </a:ext>
            </a:extLst>
          </p:cNvPr>
          <p:cNvSpPr/>
          <p:nvPr/>
        </p:nvSpPr>
        <p:spPr>
          <a:xfrm>
            <a:off x="1508115" y="1570804"/>
            <a:ext cx="782778" cy="50511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Node Exporter</a:t>
            </a:r>
          </a:p>
        </p:txBody>
      </p:sp>
      <p:sp>
        <p:nvSpPr>
          <p:cNvPr id="1025" name="TextBox 1024">
            <a:extLst>
              <a:ext uri="{FF2B5EF4-FFF2-40B4-BE49-F238E27FC236}">
                <a16:creationId xmlns:a16="http://schemas.microsoft.com/office/drawing/2014/main" id="{0F23FAEA-1B53-47E9-9B34-4F57E34F3ACB}"/>
              </a:ext>
            </a:extLst>
          </p:cNvPr>
          <p:cNvSpPr txBox="1"/>
          <p:nvPr/>
        </p:nvSpPr>
        <p:spPr>
          <a:xfrm>
            <a:off x="4234079" y="2344841"/>
            <a:ext cx="923651" cy="253916"/>
          </a:xfrm>
          <a:prstGeom prst="rect">
            <a:avLst/>
          </a:prstGeom>
          <a:noFill/>
        </p:spPr>
        <p:txBody>
          <a:bodyPr wrap="none" rtlCol="0">
            <a:spAutoFit/>
          </a:bodyPr>
          <a:lstStyle/>
          <a:p>
            <a:r>
              <a:rPr lang="en-US" sz="1050"/>
              <a:t>Scrap metrics</a:t>
            </a:r>
          </a:p>
        </p:txBody>
      </p:sp>
      <p:sp>
        <p:nvSpPr>
          <p:cNvPr id="13" name="Rectangle 12">
            <a:extLst>
              <a:ext uri="{FF2B5EF4-FFF2-40B4-BE49-F238E27FC236}">
                <a16:creationId xmlns:a16="http://schemas.microsoft.com/office/drawing/2014/main" id="{8578CCAA-8E9D-434B-B7D1-7A6700725212}"/>
              </a:ext>
            </a:extLst>
          </p:cNvPr>
          <p:cNvSpPr/>
          <p:nvPr/>
        </p:nvSpPr>
        <p:spPr>
          <a:xfrm>
            <a:off x="2816371" y="1738313"/>
            <a:ext cx="1263166" cy="138499"/>
          </a:xfrm>
          <a:prstGeom prst="rect">
            <a:avLst/>
          </a:prstGeom>
          <a:solidFill>
            <a:srgbClr val="F6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r>
              <a:rPr lang="en-US" sz="900">
                <a:solidFill>
                  <a:srgbClr val="008080"/>
                </a:solidFill>
                <a:latin typeface="Arial Unicode MS"/>
              </a:rPr>
              <a:t>http://myurl:9101/metrics</a:t>
            </a:r>
          </a:p>
        </p:txBody>
      </p:sp>
      <p:sp>
        <p:nvSpPr>
          <p:cNvPr id="3" name="Rectangle: Rounded Corners 2">
            <a:extLst>
              <a:ext uri="{FF2B5EF4-FFF2-40B4-BE49-F238E27FC236}">
                <a16:creationId xmlns:a16="http://schemas.microsoft.com/office/drawing/2014/main" id="{60BD8E6E-631D-4D46-9E93-30BCDD11788B}"/>
              </a:ext>
            </a:extLst>
          </p:cNvPr>
          <p:cNvSpPr/>
          <p:nvPr/>
        </p:nvSpPr>
        <p:spPr>
          <a:xfrm>
            <a:off x="837434" y="2617763"/>
            <a:ext cx="1520282" cy="235100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70B0DC11-0761-4FFD-9AEB-65CB15F29A37}"/>
              </a:ext>
            </a:extLst>
          </p:cNvPr>
          <p:cNvSpPr/>
          <p:nvPr/>
        </p:nvSpPr>
        <p:spPr>
          <a:xfrm>
            <a:off x="847312" y="5369469"/>
            <a:ext cx="1501542" cy="90684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a:solidFill>
                  <a:schemeClr val="tx1"/>
                </a:solidFill>
              </a:rPr>
              <a:t>kube</a:t>
            </a:r>
            <a:r>
              <a:rPr lang="en-US">
                <a:solidFill>
                  <a:schemeClr val="tx1"/>
                </a:solidFill>
              </a:rPr>
              <a:t>-service</a:t>
            </a:r>
            <a:endParaRPr lang="en-US" sz="1050">
              <a:solidFill>
                <a:schemeClr val="tx1"/>
              </a:solidFill>
            </a:endParaRPr>
          </a:p>
          <a:p>
            <a:r>
              <a:rPr lang="en-US" sz="1050">
                <a:solidFill>
                  <a:schemeClr val="tx1"/>
                </a:solidFill>
              </a:rPr>
              <a:t>(i.e. -  kube-</a:t>
            </a:r>
            <a:r>
              <a:rPr lang="en-US" sz="1050" err="1">
                <a:solidFill>
                  <a:schemeClr val="tx1"/>
                </a:solidFill>
              </a:rPr>
              <a:t>dns</a:t>
            </a:r>
            <a:r>
              <a:rPr lang="en-US" sz="1050">
                <a:solidFill>
                  <a:schemeClr val="tx1"/>
                </a:solidFill>
              </a:rPr>
              <a:t>, kube-</a:t>
            </a:r>
            <a:r>
              <a:rPr lang="x-none" sz="1050">
                <a:solidFill>
                  <a:schemeClr val="tx1"/>
                </a:solidFill>
              </a:rPr>
              <a:t>state-metrics</a:t>
            </a:r>
            <a:r>
              <a:rPr lang="en-US" sz="1050">
                <a:solidFill>
                  <a:schemeClr val="tx1"/>
                </a:solidFill>
              </a:rPr>
              <a:t>)</a:t>
            </a:r>
          </a:p>
        </p:txBody>
      </p:sp>
      <p:cxnSp>
        <p:nvCxnSpPr>
          <p:cNvPr id="50" name="Straight Connector 49">
            <a:extLst>
              <a:ext uri="{FF2B5EF4-FFF2-40B4-BE49-F238E27FC236}">
                <a16:creationId xmlns:a16="http://schemas.microsoft.com/office/drawing/2014/main" id="{27597085-59D4-4F1D-8631-8D05E728EADA}"/>
              </a:ext>
            </a:extLst>
          </p:cNvPr>
          <p:cNvCxnSpPr/>
          <p:nvPr/>
        </p:nvCxnSpPr>
        <p:spPr>
          <a:xfrm flipV="1">
            <a:off x="2354355" y="5846344"/>
            <a:ext cx="317633" cy="1"/>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63FC5207-63E8-4E9C-A91F-E49FB641CB24}"/>
              </a:ext>
            </a:extLst>
          </p:cNvPr>
          <p:cNvSpPr/>
          <p:nvPr/>
        </p:nvSpPr>
        <p:spPr>
          <a:xfrm>
            <a:off x="2614238" y="5770775"/>
            <a:ext cx="173255" cy="1794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C0D17C83-C050-450F-9AF4-E0AC0107BD42}"/>
              </a:ext>
            </a:extLst>
          </p:cNvPr>
          <p:cNvCxnSpPr>
            <a:cxnSpLocks/>
            <a:stCxn id="52" idx="7"/>
            <a:endCxn id="20" idx="1"/>
          </p:cNvCxnSpPr>
          <p:nvPr/>
        </p:nvCxnSpPr>
        <p:spPr>
          <a:xfrm flipV="1">
            <a:off x="2762120" y="3044696"/>
            <a:ext cx="2787312" cy="2752363"/>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sp>
        <p:nvSpPr>
          <p:cNvPr id="12" name="Rectangle 1">
            <a:extLst>
              <a:ext uri="{FF2B5EF4-FFF2-40B4-BE49-F238E27FC236}">
                <a16:creationId xmlns:a16="http://schemas.microsoft.com/office/drawing/2014/main" id="{52DF88B1-87A6-45A5-9BBF-CC3CF6B4BF36}"/>
              </a:ext>
            </a:extLst>
          </p:cNvPr>
          <p:cNvSpPr>
            <a:spLocks noChangeArrowheads="1"/>
          </p:cNvSpPr>
          <p:nvPr/>
        </p:nvSpPr>
        <p:spPr bwMode="auto">
          <a:xfrm>
            <a:off x="2810773" y="3228191"/>
            <a:ext cx="1885131" cy="692497"/>
          </a:xfrm>
          <a:prstGeom prst="rect">
            <a:avLst/>
          </a:prstGeom>
          <a:solidFill>
            <a:srgbClr val="F6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r>
              <a:rPr kumimoji="0" lang="en-US" altLang="en-US" sz="900" b="0" i="0" u="none" strike="noStrike" cap="none" normalizeH="0" baseline="0">
                <a:ln>
                  <a:noFill/>
                </a:ln>
                <a:solidFill>
                  <a:srgbClr val="008080"/>
                </a:solidFill>
                <a:effectLst/>
                <a:latin typeface="Arial Unicode MS"/>
                <a:ea typeface="SFMono-Regular"/>
              </a:rPr>
              <a:t>annotations</a:t>
            </a:r>
            <a:r>
              <a:rPr kumimoji="0" lang="en-US" altLang="en-US" sz="900" b="0" i="0" u="none" strike="noStrike" cap="none" normalizeH="0" baseline="0">
                <a:ln>
                  <a:noFill/>
                </a:ln>
                <a:solidFill>
                  <a:srgbClr val="24292E"/>
                </a:solidFill>
                <a:effectLst/>
                <a:latin typeface="Arial Unicode MS"/>
                <a:ea typeface="SFMono-Regular"/>
              </a:rPr>
              <a:t>:</a:t>
            </a:r>
            <a:r>
              <a:rPr lang="en-US" altLang="en-US" sz="900">
                <a:solidFill>
                  <a:srgbClr val="24292E"/>
                </a:solidFill>
                <a:latin typeface="Arial Unicode MS"/>
                <a:ea typeface="SFMono-Regular"/>
              </a:rPr>
              <a:t> </a:t>
            </a:r>
            <a:endParaRPr kumimoji="0" lang="en-US" altLang="en-US" sz="900" b="0" i="0" u="none" strike="noStrike" cap="none" normalizeH="0" baseline="0">
              <a:ln>
                <a:noFill/>
              </a:ln>
              <a:solidFill>
                <a:srgbClr val="24292E"/>
              </a:solidFill>
              <a:effectLst/>
              <a:latin typeface="Arial Unicode MS"/>
              <a:ea typeface="SFMono-Regular"/>
            </a:endParaRPr>
          </a:p>
          <a:p>
            <a:pPr eaLnBrk="0" fontAlgn="base" hangingPunct="0">
              <a:spcBef>
                <a:spcPct val="0"/>
              </a:spcBef>
              <a:spcAft>
                <a:spcPct val="0"/>
              </a:spcAft>
            </a:pPr>
            <a:r>
              <a:rPr lang="en-US" altLang="en-US" sz="900">
                <a:solidFill>
                  <a:srgbClr val="24292E"/>
                </a:solidFill>
                <a:latin typeface="Arial Unicode MS"/>
                <a:ea typeface="SFMono-Regular"/>
              </a:rPr>
              <a:t>     </a:t>
            </a:r>
            <a:r>
              <a:rPr kumimoji="0" lang="en-US" altLang="en-US" sz="900" b="0" i="0" u="none" strike="noStrike" cap="none" normalizeH="0" baseline="0">
                <a:ln>
                  <a:noFill/>
                </a:ln>
                <a:solidFill>
                  <a:srgbClr val="385958"/>
                </a:solidFill>
                <a:effectLst/>
                <a:latin typeface="Arial Unicode MS"/>
                <a:ea typeface="SFMono-Regular"/>
              </a:rPr>
              <a:t>prometheus.io/scrape</a:t>
            </a:r>
            <a:r>
              <a:rPr kumimoji="0" lang="en-US" altLang="en-US" sz="900" b="0" i="0" u="none" strike="noStrike" cap="none" normalizeH="0" baseline="0">
                <a:ln>
                  <a:noFill/>
                </a:ln>
                <a:solidFill>
                  <a:srgbClr val="24292E"/>
                </a:solidFill>
                <a:effectLst/>
                <a:latin typeface="Arial Unicode MS"/>
                <a:ea typeface="SFMono-Regular"/>
              </a:rPr>
              <a:t>: </a:t>
            </a:r>
            <a:r>
              <a:rPr kumimoji="0" lang="en-US" altLang="en-US" sz="900" b="0" i="0" u="none" strike="noStrike" cap="none" normalizeH="0" baseline="0">
                <a:ln>
                  <a:noFill/>
                </a:ln>
                <a:solidFill>
                  <a:srgbClr val="385958"/>
                </a:solidFill>
                <a:effectLst/>
                <a:latin typeface="Arial Unicode MS"/>
                <a:ea typeface="SFMono-Regular"/>
              </a:rPr>
              <a:t>"true"</a:t>
            </a:r>
            <a:r>
              <a:rPr lang="en-US" altLang="en-US" sz="900">
                <a:solidFill>
                  <a:srgbClr val="24292E"/>
                </a:solidFill>
                <a:latin typeface="Arial Unicode MS"/>
                <a:ea typeface="SFMono-Regular"/>
              </a:rPr>
              <a:t> </a:t>
            </a:r>
            <a:endParaRPr lang="en-US" altLang="en-US" sz="900" b="0" i="0" u="none" strike="noStrike" cap="none" normalizeH="0" baseline="0">
              <a:ln>
                <a:noFill/>
              </a:ln>
              <a:solidFill>
                <a:srgbClr val="24292E"/>
              </a:solidFill>
              <a:effectLst/>
              <a:latin typeface="Arial Unicode MS"/>
              <a:ea typeface="SFMono-Regular"/>
              <a:cs typeface="Arial Unicode MS"/>
            </a:endParaRPr>
          </a:p>
          <a:p>
            <a:pPr eaLnBrk="0" fontAlgn="base" hangingPunct="0">
              <a:spcBef>
                <a:spcPct val="0"/>
              </a:spcBef>
              <a:spcAft>
                <a:spcPct val="0"/>
              </a:spcAft>
            </a:pPr>
            <a:r>
              <a:rPr lang="en-US" altLang="en-US" sz="900">
                <a:solidFill>
                  <a:srgbClr val="24292E"/>
                </a:solidFill>
                <a:latin typeface="Arial Unicode MS"/>
                <a:ea typeface="SFMono-Regular"/>
              </a:rPr>
              <a:t>     </a:t>
            </a:r>
            <a:r>
              <a:rPr kumimoji="0" lang="en-US" altLang="en-US" sz="900" b="0" i="0" u="none" strike="noStrike" cap="none" normalizeH="0" baseline="0">
                <a:ln>
                  <a:noFill/>
                </a:ln>
                <a:solidFill>
                  <a:srgbClr val="385958"/>
                </a:solidFill>
                <a:effectLst/>
                <a:latin typeface="Arial Unicode MS"/>
                <a:ea typeface="SFMono-Regular"/>
              </a:rPr>
              <a:t>prometheus.io/path</a:t>
            </a:r>
            <a:r>
              <a:rPr kumimoji="0" lang="en-US" altLang="en-US" sz="900" b="0" i="0" u="none" strike="noStrike" cap="none" normalizeH="0" baseline="0">
                <a:ln>
                  <a:noFill/>
                </a:ln>
                <a:solidFill>
                  <a:srgbClr val="24292E"/>
                </a:solidFill>
                <a:effectLst/>
                <a:latin typeface="Arial Unicode MS"/>
                <a:ea typeface="SFMono-Regular"/>
              </a:rPr>
              <a:t>: </a:t>
            </a:r>
            <a:r>
              <a:rPr lang="en-US" altLang="en-US" sz="900">
                <a:solidFill>
                  <a:srgbClr val="385958"/>
                </a:solidFill>
                <a:latin typeface="Arial Unicode MS"/>
                <a:ea typeface="SFMono-Regular"/>
              </a:rPr>
              <a:t>"/</a:t>
            </a:r>
            <a:r>
              <a:rPr lang="en-US" altLang="en-US" sz="900" err="1">
                <a:solidFill>
                  <a:srgbClr val="385958"/>
                </a:solidFill>
                <a:latin typeface="Arial Unicode MS"/>
                <a:ea typeface="SFMono-Regular"/>
              </a:rPr>
              <a:t>mymetrics</a:t>
            </a:r>
            <a:r>
              <a:rPr lang="en-US" altLang="en-US" sz="900">
                <a:solidFill>
                  <a:srgbClr val="385958"/>
                </a:solidFill>
                <a:latin typeface="Arial Unicode MS"/>
                <a:ea typeface="SFMono-Regular"/>
              </a:rPr>
              <a:t>"</a:t>
            </a:r>
            <a:r>
              <a:rPr lang="en-US" altLang="en-US" sz="900">
                <a:solidFill>
                  <a:srgbClr val="24292E"/>
                </a:solidFill>
                <a:latin typeface="Arial Unicode MS"/>
                <a:ea typeface="SFMono-Regular"/>
              </a:rPr>
              <a:t> </a:t>
            </a:r>
            <a:endParaRPr lang="en-US" altLang="en-US" sz="900" b="0" i="0" u="none" strike="noStrike" cap="none" normalizeH="0" baseline="0">
              <a:ln>
                <a:noFill/>
              </a:ln>
              <a:solidFill>
                <a:srgbClr val="24292E"/>
              </a:solidFill>
              <a:effectLst/>
              <a:latin typeface="Arial Unicode MS"/>
              <a:ea typeface="SFMono-Regular"/>
              <a:cs typeface="Arial Unicode MS"/>
            </a:endParaRPr>
          </a:p>
          <a:p>
            <a:pPr eaLnBrk="0" fontAlgn="base" hangingPunct="0">
              <a:spcBef>
                <a:spcPct val="0"/>
              </a:spcBef>
              <a:spcAft>
                <a:spcPct val="0"/>
              </a:spcAft>
            </a:pPr>
            <a:r>
              <a:rPr lang="en-US" altLang="en-US" sz="900">
                <a:solidFill>
                  <a:srgbClr val="24292E"/>
                </a:solidFill>
                <a:latin typeface="Arial Unicode MS"/>
                <a:ea typeface="SFMono-Regular"/>
              </a:rPr>
              <a:t>     </a:t>
            </a:r>
            <a:r>
              <a:rPr kumimoji="0" lang="en-US" altLang="en-US" sz="900" b="0" i="0" u="none" strike="noStrike" cap="none" normalizeH="0" baseline="0">
                <a:ln>
                  <a:noFill/>
                </a:ln>
                <a:solidFill>
                  <a:srgbClr val="385958"/>
                </a:solidFill>
                <a:effectLst/>
                <a:latin typeface="Arial Unicode MS"/>
                <a:ea typeface="SFMono-Regular"/>
              </a:rPr>
              <a:t>prometheus.io/port</a:t>
            </a:r>
            <a:r>
              <a:rPr kumimoji="0" lang="en-US" altLang="en-US" sz="900" b="0" i="0" u="none" strike="noStrike" cap="none" normalizeH="0" baseline="0">
                <a:ln>
                  <a:noFill/>
                </a:ln>
                <a:solidFill>
                  <a:srgbClr val="24292E"/>
                </a:solidFill>
                <a:effectLst/>
                <a:latin typeface="Arial Unicode MS"/>
                <a:ea typeface="SFMono-Regular"/>
              </a:rPr>
              <a:t>: </a:t>
            </a:r>
            <a:r>
              <a:rPr kumimoji="0" lang="en-US" altLang="en-US" sz="900" b="0" i="0" u="none" strike="noStrike" cap="none" normalizeH="0" baseline="0">
                <a:ln>
                  <a:noFill/>
                </a:ln>
                <a:solidFill>
                  <a:srgbClr val="385958"/>
                </a:solidFill>
                <a:effectLst/>
                <a:latin typeface="Arial Unicode MS"/>
                <a:ea typeface="SFMono-Regular"/>
              </a:rPr>
              <a:t>"8000"</a:t>
            </a:r>
            <a:r>
              <a:rPr lang="en-US" altLang="en-US" sz="800"/>
              <a:t> </a:t>
            </a:r>
          </a:p>
          <a:p>
            <a:pPr>
              <a:spcBef>
                <a:spcPct val="0"/>
              </a:spcBef>
              <a:spcAft>
                <a:spcPct val="0"/>
              </a:spcAft>
            </a:pPr>
            <a:r>
              <a:rPr lang="en-US" altLang="en-US" sz="800">
                <a:latin typeface="Calibri"/>
                <a:cs typeface="Calibri"/>
              </a:rPr>
              <a:t>       </a:t>
            </a:r>
            <a:r>
              <a:rPr lang="en-US" altLang="en-US" sz="900">
                <a:solidFill>
                  <a:srgbClr val="385958"/>
                </a:solidFill>
                <a:latin typeface="Arial Unicode MS"/>
              </a:rPr>
              <a:t>prometheus.io/scheme: "http"</a:t>
            </a:r>
          </a:p>
        </p:txBody>
      </p:sp>
      <p:sp>
        <p:nvSpPr>
          <p:cNvPr id="22" name="Rectangle 21">
            <a:extLst>
              <a:ext uri="{FF2B5EF4-FFF2-40B4-BE49-F238E27FC236}">
                <a16:creationId xmlns:a16="http://schemas.microsoft.com/office/drawing/2014/main" id="{B52AC6C9-5F9D-42E3-AD04-2E2DE8452D58}"/>
              </a:ext>
            </a:extLst>
          </p:cNvPr>
          <p:cNvSpPr/>
          <p:nvPr/>
        </p:nvSpPr>
        <p:spPr>
          <a:xfrm>
            <a:off x="2846084" y="5811753"/>
            <a:ext cx="3013646" cy="276999"/>
          </a:xfrm>
          <a:prstGeom prst="rect">
            <a:avLst/>
          </a:prstGeom>
          <a:solidFill>
            <a:srgbClr val="F6F8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r>
              <a:rPr lang="x-none" sz="900">
                <a:solidFill>
                  <a:srgbClr val="008080"/>
                </a:solidFill>
                <a:latin typeface="Arial Unicode MS"/>
                <a:hlinkClick r:id="rId12">
                  <a:extLst>
                    <a:ext uri="{A12FA001-AC4F-418D-AE19-62706E023703}">
                      <ahyp:hlinkClr xmlns:ahyp="http://schemas.microsoft.com/office/drawing/2018/hyperlinkcolor" val="tx"/>
                    </a:ext>
                  </a:extLst>
                </a:hlinkClick>
              </a:rPr>
              <a:t>http://my-service-dns.my-namespace:9100/metrics</a:t>
            </a:r>
            <a:r>
              <a:rPr lang="x-none" sz="900">
                <a:solidFill>
                  <a:srgbClr val="008080"/>
                </a:solidFill>
                <a:latin typeface="Arial Unicode MS"/>
              </a:rPr>
              <a:t> </a:t>
            </a:r>
            <a:endParaRPr lang="en-US" sz="900">
              <a:solidFill>
                <a:srgbClr val="008080"/>
              </a:solidFill>
              <a:latin typeface="Arial Unicode MS"/>
            </a:endParaRPr>
          </a:p>
          <a:p>
            <a:pPr eaLnBrk="0" fontAlgn="base" hangingPunct="0">
              <a:spcBef>
                <a:spcPct val="0"/>
              </a:spcBef>
              <a:spcAft>
                <a:spcPct val="0"/>
              </a:spcAft>
            </a:pPr>
            <a:r>
              <a:rPr lang="en-US" sz="900">
                <a:solidFill>
                  <a:srgbClr val="008080"/>
                </a:solidFill>
                <a:latin typeface="Arial Unicode MS"/>
                <a:hlinkClick r:id="rId13">
                  <a:extLst>
                    <a:ext uri="{A12FA001-AC4F-418D-AE19-62706E023703}">
                      <ahyp:hlinkClr xmlns:ahyp="http://schemas.microsoft.com/office/drawing/2018/hyperlinkcolor" val="tx"/>
                    </a:ext>
                  </a:extLst>
                </a:hlinkClick>
              </a:rPr>
              <a:t>https://metrics-server.kube-system.svc.cluster.local/metrics</a:t>
            </a:r>
            <a:endParaRPr lang="en-US" sz="900">
              <a:solidFill>
                <a:srgbClr val="008080"/>
              </a:solidFill>
              <a:latin typeface="Arial Unicode MS"/>
            </a:endParaRPr>
          </a:p>
        </p:txBody>
      </p:sp>
      <p:sp>
        <p:nvSpPr>
          <p:cNvPr id="61" name="TextBox 60">
            <a:extLst>
              <a:ext uri="{FF2B5EF4-FFF2-40B4-BE49-F238E27FC236}">
                <a16:creationId xmlns:a16="http://schemas.microsoft.com/office/drawing/2014/main" id="{BB6CAA5A-D3BD-4052-A4C1-74EFB536F35E}"/>
              </a:ext>
            </a:extLst>
          </p:cNvPr>
          <p:cNvSpPr txBox="1"/>
          <p:nvPr/>
        </p:nvSpPr>
        <p:spPr>
          <a:xfrm>
            <a:off x="2396104" y="5465884"/>
            <a:ext cx="2087816" cy="276999"/>
          </a:xfrm>
          <a:prstGeom prst="rect">
            <a:avLst/>
          </a:prstGeom>
          <a:solidFill>
            <a:schemeClr val="bg1"/>
          </a:solidFill>
        </p:spPr>
        <p:txBody>
          <a:bodyPr wrap="none" rtlCol="0">
            <a:spAutoFit/>
          </a:bodyPr>
          <a:lstStyle/>
          <a:p>
            <a:r>
              <a:rPr lang="en-US" sz="1200"/>
              <a:t>End point (Kubernetes service)</a:t>
            </a:r>
          </a:p>
        </p:txBody>
      </p:sp>
      <p:sp>
        <p:nvSpPr>
          <p:cNvPr id="15" name="TextBox 14">
            <a:extLst>
              <a:ext uri="{FF2B5EF4-FFF2-40B4-BE49-F238E27FC236}">
                <a16:creationId xmlns:a16="http://schemas.microsoft.com/office/drawing/2014/main" id="{36082C32-04AD-4585-BAA6-CAD3CE61708A}"/>
              </a:ext>
            </a:extLst>
          </p:cNvPr>
          <p:cNvSpPr txBox="1"/>
          <p:nvPr/>
        </p:nvSpPr>
        <p:spPr>
          <a:xfrm>
            <a:off x="2368867" y="3997958"/>
            <a:ext cx="1874359" cy="276999"/>
          </a:xfrm>
          <a:prstGeom prst="rect">
            <a:avLst/>
          </a:prstGeom>
          <a:solidFill>
            <a:schemeClr val="bg1"/>
          </a:solidFill>
        </p:spPr>
        <p:txBody>
          <a:bodyPr wrap="none" rtlCol="0">
            <a:spAutoFit/>
          </a:bodyPr>
          <a:lstStyle/>
          <a:p>
            <a:r>
              <a:rPr lang="en-US" sz="1200"/>
              <a:t>End point (pod annotation)</a:t>
            </a:r>
          </a:p>
        </p:txBody>
      </p:sp>
    </p:spTree>
    <p:extLst>
      <p:ext uri="{BB962C8B-B14F-4D97-AF65-F5344CB8AC3E}">
        <p14:creationId xmlns:p14="http://schemas.microsoft.com/office/powerpoint/2010/main" val="3410027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57C54-F3F9-4D00-88ED-A4FF4846D349}"/>
              </a:ext>
            </a:extLst>
          </p:cNvPr>
          <p:cNvSpPr>
            <a:spLocks noGrp="1"/>
          </p:cNvSpPr>
          <p:nvPr>
            <p:ph type="title"/>
          </p:nvPr>
        </p:nvSpPr>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Microservice is Distributed System</a:t>
            </a:r>
          </a:p>
        </p:txBody>
      </p:sp>
      <p:sp>
        <p:nvSpPr>
          <p:cNvPr id="3" name="Content Placeholder 2">
            <a:extLst>
              <a:ext uri="{FF2B5EF4-FFF2-40B4-BE49-F238E27FC236}">
                <a16:creationId xmlns:a16="http://schemas.microsoft.com/office/drawing/2014/main" id="{E28292F7-AF09-41F2-817E-2DF47C174DBC}"/>
              </a:ext>
            </a:extLst>
          </p:cNvPr>
          <p:cNvSpPr>
            <a:spLocks noGrp="1"/>
          </p:cNvSpPr>
          <p:nvPr>
            <p:ph idx="1"/>
          </p:nvPr>
        </p:nvSpPr>
        <p:spPr/>
        <p:txBody>
          <a:bodyPr/>
          <a:lstStyle/>
          <a:p>
            <a:r>
              <a:rPr lang="en-US" dirty="0"/>
              <a:t>Reliability and Availability </a:t>
            </a:r>
          </a:p>
          <a:p>
            <a:r>
              <a:rPr lang="en-US" dirty="0"/>
              <a:t>Performance and Capacity </a:t>
            </a:r>
          </a:p>
          <a:p>
            <a:r>
              <a:rPr lang="en-US" dirty="0"/>
              <a:t>Application Model and Application Lifecycle</a:t>
            </a:r>
          </a:p>
          <a:p>
            <a:pPr marL="0" indent="0">
              <a:buNone/>
            </a:pPr>
            <a:endParaRPr lang="en-US" dirty="0"/>
          </a:p>
        </p:txBody>
      </p:sp>
    </p:spTree>
    <p:extLst>
      <p:ext uri="{BB962C8B-B14F-4D97-AF65-F5344CB8AC3E}">
        <p14:creationId xmlns:p14="http://schemas.microsoft.com/office/powerpoint/2010/main" val="30438588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00A9-903F-4348-B950-0A5E1EF5EE8C}"/>
              </a:ext>
            </a:extLst>
          </p:cNvPr>
          <p:cNvSpPr>
            <a:spLocks noGrp="1"/>
          </p:cNvSpPr>
          <p:nvPr>
            <p:ph type="title"/>
          </p:nvPr>
        </p:nvSpPr>
        <p:spPr>
          <a:xfrm>
            <a:off x="622169" y="365125"/>
            <a:ext cx="11033537" cy="1325563"/>
          </a:xfrm>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What to see in monitoring/observability tools? </a:t>
            </a:r>
          </a:p>
        </p:txBody>
      </p:sp>
      <p:sp>
        <p:nvSpPr>
          <p:cNvPr id="3" name="Content Placeholder 2">
            <a:extLst>
              <a:ext uri="{FF2B5EF4-FFF2-40B4-BE49-F238E27FC236}">
                <a16:creationId xmlns:a16="http://schemas.microsoft.com/office/drawing/2014/main" id="{71A88F1D-B696-4E56-B4A0-A49F6F511BF4}"/>
              </a:ext>
            </a:extLst>
          </p:cNvPr>
          <p:cNvSpPr>
            <a:spLocks noGrp="1"/>
          </p:cNvSpPr>
          <p:nvPr>
            <p:ph idx="1"/>
          </p:nvPr>
        </p:nvSpPr>
        <p:spPr/>
        <p:txBody>
          <a:bodyPr/>
          <a:lstStyle/>
          <a:p>
            <a:r>
              <a:rPr lang="en-US" dirty="0"/>
              <a:t>Application Lifecycle with platform</a:t>
            </a:r>
          </a:p>
          <a:p>
            <a:r>
              <a:rPr lang="en-US" dirty="0"/>
              <a:t>Cohesiveness among platform services</a:t>
            </a:r>
          </a:p>
          <a:p>
            <a:r>
              <a:rPr lang="en-US" dirty="0"/>
              <a:t>Correlation among platform to application</a:t>
            </a:r>
          </a:p>
          <a:p>
            <a:r>
              <a:rPr lang="en-US" dirty="0"/>
              <a:t>Metric Cardinality</a:t>
            </a:r>
          </a:p>
          <a:p>
            <a:r>
              <a:rPr lang="en-US" dirty="0"/>
              <a:t>Aggregated Insights and Interpretation (application model)</a:t>
            </a:r>
          </a:p>
          <a:p>
            <a:r>
              <a:rPr lang="en-US" dirty="0"/>
              <a:t>Serverless vs Managed Kubernetes</a:t>
            </a:r>
          </a:p>
          <a:p>
            <a:pPr marL="0" indent="0">
              <a:buNone/>
            </a:pPr>
            <a:endParaRPr lang="en-US" dirty="0"/>
          </a:p>
        </p:txBody>
      </p:sp>
    </p:spTree>
    <p:extLst>
      <p:ext uri="{BB962C8B-B14F-4D97-AF65-F5344CB8AC3E}">
        <p14:creationId xmlns:p14="http://schemas.microsoft.com/office/powerpoint/2010/main" val="2436178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DF5225-7227-4425-8C20-AC334B02BC77}"/>
              </a:ext>
            </a:extLst>
          </p:cNvPr>
          <p:cNvSpPr>
            <a:spLocks noGrp="1"/>
          </p:cNvSpPr>
          <p:nvPr>
            <p:ph type="title"/>
          </p:nvPr>
        </p:nvSpPr>
        <p:spPr/>
        <p:txBody>
          <a:bodyPr>
            <a:normAutofit/>
          </a:bodyPr>
          <a:lstStyle/>
          <a:p>
            <a:r>
              <a:rPr lang="en-US" b="1" dirty="0">
                <a:solidFill>
                  <a:schemeClr val="accent3"/>
                </a:solidFill>
                <a:latin typeface="Segoe UI Semibold" panose="020B0502040204020203" pitchFamily="34" charset="0"/>
                <a:ea typeface="+mn-ea"/>
                <a:cs typeface="Segoe UI Semibold" panose="020B0502040204020203" pitchFamily="34" charset="0"/>
              </a:rPr>
              <a:t>Thank you</a:t>
            </a:r>
          </a:p>
        </p:txBody>
      </p:sp>
    </p:spTree>
    <p:extLst>
      <p:ext uri="{BB962C8B-B14F-4D97-AF65-F5344CB8AC3E}">
        <p14:creationId xmlns:p14="http://schemas.microsoft.com/office/powerpoint/2010/main" val="1780225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AF0F6-0FA0-478D-A8F6-BA748ECAC8FD}"/>
              </a:ext>
            </a:extLst>
          </p:cNvPr>
          <p:cNvSpPr>
            <a:spLocks noGrp="1"/>
          </p:cNvSpPr>
          <p:nvPr>
            <p:ph type="title"/>
          </p:nvPr>
        </p:nvSpPr>
        <p:spPr/>
        <p:txBody>
          <a:bodyPr/>
          <a:lstStyle/>
          <a:p>
            <a:r>
              <a:rPr lang="en-US" sz="4000" b="1" dirty="0">
                <a:solidFill>
                  <a:schemeClr val="accent3"/>
                </a:solidFill>
                <a:latin typeface="Segoe UI Semibold" panose="020B0502040204020203" pitchFamily="34" charset="0"/>
                <a:ea typeface="+mn-ea"/>
                <a:cs typeface="Segoe UI Semibold" panose="020B0502040204020203" pitchFamily="34" charset="0"/>
              </a:rPr>
              <a:t>Questions: </a:t>
            </a:r>
          </a:p>
        </p:txBody>
      </p:sp>
      <p:sp>
        <p:nvSpPr>
          <p:cNvPr id="3" name="Content Placeholder 2">
            <a:extLst>
              <a:ext uri="{FF2B5EF4-FFF2-40B4-BE49-F238E27FC236}">
                <a16:creationId xmlns:a16="http://schemas.microsoft.com/office/drawing/2014/main" id="{B1D6A1C8-CE5A-4FA2-8444-E8B5B9EBCB64}"/>
              </a:ext>
            </a:extLst>
          </p:cNvPr>
          <p:cNvSpPr>
            <a:spLocks noGrp="1"/>
          </p:cNvSpPr>
          <p:nvPr>
            <p:ph idx="1"/>
          </p:nvPr>
        </p:nvSpPr>
        <p:spPr/>
        <p:txBody>
          <a:bodyPr/>
          <a:lstStyle/>
          <a:p>
            <a:r>
              <a:rPr lang="en-US" dirty="0"/>
              <a:t>What tools do you use today? </a:t>
            </a:r>
          </a:p>
          <a:p>
            <a:endParaRPr lang="en-US" dirty="0"/>
          </a:p>
          <a:p>
            <a:r>
              <a:rPr lang="en-US" dirty="0"/>
              <a:t>What would you like to see in observability? </a:t>
            </a:r>
          </a:p>
          <a:p>
            <a:endParaRPr lang="en-US" dirty="0"/>
          </a:p>
          <a:p>
            <a:r>
              <a:rPr lang="en-US" dirty="0"/>
              <a:t>Does it make sense to have a simple observability in the platform? </a:t>
            </a:r>
          </a:p>
          <a:p>
            <a:pPr marL="0" indent="0">
              <a:buNone/>
            </a:pPr>
            <a:r>
              <a:rPr lang="en-US" dirty="0"/>
              <a:t>   (or something like NPDs?)</a:t>
            </a:r>
          </a:p>
        </p:txBody>
      </p:sp>
    </p:spTree>
    <p:extLst>
      <p:ext uri="{BB962C8B-B14F-4D97-AF65-F5344CB8AC3E}">
        <p14:creationId xmlns:p14="http://schemas.microsoft.com/office/powerpoint/2010/main" val="1840262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18BD-EE50-4936-8A79-115DAEA2316B}"/>
              </a:ext>
            </a:extLst>
          </p:cNvPr>
          <p:cNvSpPr>
            <a:spLocks noGrp="1"/>
          </p:cNvSpPr>
          <p:nvPr>
            <p:ph type="title"/>
          </p:nvPr>
        </p:nvSpPr>
        <p:spPr/>
        <p:txBody>
          <a:bodyPr/>
          <a:lstStyle/>
          <a:p>
            <a:endParaRPr lang="en-US"/>
          </a:p>
        </p:txBody>
      </p:sp>
      <p:pic>
        <p:nvPicPr>
          <p:cNvPr id="4" name="Online Media 3" title="How to use Prometheus to monitor containers in Azure Monitor | Azure Friday">
            <a:hlinkClick r:id="" action="ppaction://media"/>
            <a:extLst>
              <a:ext uri="{FF2B5EF4-FFF2-40B4-BE49-F238E27FC236}">
                <a16:creationId xmlns:a16="http://schemas.microsoft.com/office/drawing/2014/main" id="{0E5ABCC8-F6D8-4839-9956-80CAAA463EEC}"/>
              </a:ext>
            </a:extLst>
          </p:cNvPr>
          <p:cNvPicPr>
            <a:picLocks noGrp="1" noRot="1" noChangeAspect="1"/>
          </p:cNvPicPr>
          <p:nvPr>
            <p:ph idx="1"/>
            <a:videoFile r:link="rId1"/>
          </p:nvPr>
        </p:nvPicPr>
        <p:blipFill>
          <a:blip r:embed="rId3"/>
          <a:stretch>
            <a:fillRect/>
          </a:stretch>
        </p:blipFill>
        <p:spPr>
          <a:xfrm>
            <a:off x="535132" y="365125"/>
            <a:ext cx="11121736" cy="6255834"/>
          </a:xfrm>
          <a:prstGeom prst="rect">
            <a:avLst/>
          </a:prstGeom>
        </p:spPr>
      </p:pic>
    </p:spTree>
    <p:extLst>
      <p:ext uri="{BB962C8B-B14F-4D97-AF65-F5344CB8AC3E}">
        <p14:creationId xmlns:p14="http://schemas.microsoft.com/office/powerpoint/2010/main" val="199245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AA54C-91B1-4394-9BA9-F5978CF5451D}"/>
              </a:ext>
            </a:extLst>
          </p:cNvPr>
          <p:cNvSpPr>
            <a:spLocks noGrp="1"/>
          </p:cNvSpPr>
          <p:nvPr>
            <p:ph type="title"/>
          </p:nvPr>
        </p:nvSpPr>
        <p:spPr/>
        <p:txBody>
          <a:bodyPr/>
          <a:lstStyle/>
          <a:p>
            <a:endParaRPr lang="en-US"/>
          </a:p>
        </p:txBody>
      </p:sp>
      <p:grpSp>
        <p:nvGrpSpPr>
          <p:cNvPr id="4" name="Group 3">
            <a:extLst>
              <a:ext uri="{FF2B5EF4-FFF2-40B4-BE49-F238E27FC236}">
                <a16:creationId xmlns:a16="http://schemas.microsoft.com/office/drawing/2014/main" id="{14321313-FEBD-4095-89E4-41973A095CBF}"/>
              </a:ext>
            </a:extLst>
          </p:cNvPr>
          <p:cNvGrpSpPr/>
          <p:nvPr/>
        </p:nvGrpSpPr>
        <p:grpSpPr>
          <a:xfrm>
            <a:off x="1522420" y="3433944"/>
            <a:ext cx="1991278" cy="1960484"/>
            <a:chOff x="2963751" y="2032529"/>
            <a:chExt cx="1991278" cy="1960484"/>
          </a:xfrm>
        </p:grpSpPr>
        <p:sp>
          <p:nvSpPr>
            <p:cNvPr id="5" name="Rectangle: Rounded Corners 4">
              <a:extLst>
                <a:ext uri="{FF2B5EF4-FFF2-40B4-BE49-F238E27FC236}">
                  <a16:creationId xmlns:a16="http://schemas.microsoft.com/office/drawing/2014/main" id="{BD825627-01DC-4EC5-B0CC-B20C3C49DBF5}"/>
                </a:ext>
              </a:extLst>
            </p:cNvPr>
            <p:cNvSpPr/>
            <p:nvPr/>
          </p:nvSpPr>
          <p:spPr>
            <a:xfrm>
              <a:off x="2963751" y="2032529"/>
              <a:ext cx="1991278" cy="196048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DEEFFC57-76A7-4F48-82FA-092D15073057}"/>
                </a:ext>
              </a:extLst>
            </p:cNvPr>
            <p:cNvGrpSpPr/>
            <p:nvPr/>
          </p:nvGrpSpPr>
          <p:grpSpPr>
            <a:xfrm>
              <a:off x="3597896" y="2684814"/>
              <a:ext cx="722987" cy="542785"/>
              <a:chOff x="3919396" y="3007306"/>
              <a:chExt cx="722987" cy="542785"/>
            </a:xfrm>
          </p:grpSpPr>
          <p:pic>
            <p:nvPicPr>
              <p:cNvPr id="8" name="Picture 7">
                <a:extLst>
                  <a:ext uri="{FF2B5EF4-FFF2-40B4-BE49-F238E27FC236}">
                    <a16:creationId xmlns:a16="http://schemas.microsoft.com/office/drawing/2014/main" id="{38E6A16E-A7C0-46C4-BD0F-865BECB26839}"/>
                  </a:ext>
                </a:extLst>
              </p:cNvPr>
              <p:cNvPicPr>
                <a:picLocks noChangeAspect="1"/>
              </p:cNvPicPr>
              <p:nvPr/>
            </p:nvPicPr>
            <p:blipFill>
              <a:blip r:embed="rId2"/>
              <a:stretch>
                <a:fillRect/>
              </a:stretch>
            </p:blipFill>
            <p:spPr>
              <a:xfrm>
                <a:off x="3919396" y="3023240"/>
                <a:ext cx="418263" cy="526851"/>
              </a:xfrm>
              <a:prstGeom prst="rect">
                <a:avLst/>
              </a:prstGeom>
            </p:spPr>
          </p:pic>
          <p:pic>
            <p:nvPicPr>
              <p:cNvPr id="9" name="Picture 8">
                <a:extLst>
                  <a:ext uri="{FF2B5EF4-FFF2-40B4-BE49-F238E27FC236}">
                    <a16:creationId xmlns:a16="http://schemas.microsoft.com/office/drawing/2014/main" id="{A3324201-D408-4000-A50B-CDB4D348D71F}"/>
                  </a:ext>
                </a:extLst>
              </p:cNvPr>
              <p:cNvPicPr>
                <a:picLocks noChangeAspect="1"/>
              </p:cNvPicPr>
              <p:nvPr/>
            </p:nvPicPr>
            <p:blipFill>
              <a:blip r:embed="rId3"/>
              <a:stretch>
                <a:fillRect/>
              </a:stretch>
            </p:blipFill>
            <p:spPr>
              <a:xfrm>
                <a:off x="4259219" y="3007306"/>
                <a:ext cx="383164" cy="526851"/>
              </a:xfrm>
              <a:prstGeom prst="rect">
                <a:avLst/>
              </a:prstGeom>
            </p:spPr>
          </p:pic>
        </p:grpSp>
        <p:sp>
          <p:nvSpPr>
            <p:cNvPr id="7" name="TextBox 6">
              <a:extLst>
                <a:ext uri="{FF2B5EF4-FFF2-40B4-BE49-F238E27FC236}">
                  <a16:creationId xmlns:a16="http://schemas.microsoft.com/office/drawing/2014/main" id="{F2A714CB-9F44-4F43-BA2F-B737BB84D0D0}"/>
                </a:ext>
              </a:extLst>
            </p:cNvPr>
            <p:cNvSpPr txBox="1"/>
            <p:nvPr/>
          </p:nvSpPr>
          <p:spPr>
            <a:xfrm>
              <a:off x="3637995" y="3137016"/>
              <a:ext cx="671466" cy="369332"/>
            </a:xfrm>
            <a:prstGeom prst="rect">
              <a:avLst/>
            </a:prstGeom>
            <a:noFill/>
          </p:spPr>
          <p:txBody>
            <a:bodyPr wrap="none" rtlCol="0">
              <a:spAutoFit/>
            </a:bodyPr>
            <a:lstStyle/>
            <a:p>
              <a:r>
                <a:rPr lang="en-US"/>
                <a:t>ITPro</a:t>
              </a:r>
            </a:p>
          </p:txBody>
        </p:sp>
      </p:grpSp>
      <p:sp>
        <p:nvSpPr>
          <p:cNvPr id="10" name="TextBox 9">
            <a:extLst>
              <a:ext uri="{FF2B5EF4-FFF2-40B4-BE49-F238E27FC236}">
                <a16:creationId xmlns:a16="http://schemas.microsoft.com/office/drawing/2014/main" id="{2025A0E1-0120-4C10-9387-E1C0D8124594}"/>
              </a:ext>
            </a:extLst>
          </p:cNvPr>
          <p:cNvSpPr txBox="1"/>
          <p:nvPr/>
        </p:nvSpPr>
        <p:spPr>
          <a:xfrm>
            <a:off x="1759071" y="3089709"/>
            <a:ext cx="1474634" cy="369332"/>
          </a:xfrm>
          <a:prstGeom prst="rect">
            <a:avLst/>
          </a:prstGeom>
          <a:noFill/>
        </p:spPr>
        <p:txBody>
          <a:bodyPr wrap="none" rtlCol="0">
            <a:spAutoFit/>
          </a:bodyPr>
          <a:lstStyle/>
          <a:p>
            <a:r>
              <a:rPr lang="en-US" dirty="0"/>
              <a:t>Infrastructure</a:t>
            </a:r>
          </a:p>
        </p:txBody>
      </p:sp>
      <p:sp>
        <p:nvSpPr>
          <p:cNvPr id="12" name="Rectangle: Rounded Corners 11">
            <a:extLst>
              <a:ext uri="{FF2B5EF4-FFF2-40B4-BE49-F238E27FC236}">
                <a16:creationId xmlns:a16="http://schemas.microsoft.com/office/drawing/2014/main" id="{DE01A49A-1095-4C68-82C6-AEF323CFFD0F}"/>
              </a:ext>
            </a:extLst>
          </p:cNvPr>
          <p:cNvSpPr/>
          <p:nvPr/>
        </p:nvSpPr>
        <p:spPr>
          <a:xfrm>
            <a:off x="6217920" y="2204185"/>
            <a:ext cx="2252312" cy="8855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Cluster Security</a:t>
            </a:r>
          </a:p>
        </p:txBody>
      </p:sp>
      <p:sp>
        <p:nvSpPr>
          <p:cNvPr id="13" name="Rectangle: Rounded Corners 12">
            <a:extLst>
              <a:ext uri="{FF2B5EF4-FFF2-40B4-BE49-F238E27FC236}">
                <a16:creationId xmlns:a16="http://schemas.microsoft.com/office/drawing/2014/main" id="{D2C0D98A-72FA-478F-806C-B5C55A01556B}"/>
              </a:ext>
            </a:extLst>
          </p:cNvPr>
          <p:cNvSpPr/>
          <p:nvPr/>
        </p:nvSpPr>
        <p:spPr>
          <a:xfrm>
            <a:off x="6217920" y="3389212"/>
            <a:ext cx="2252312" cy="8855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DevOps</a:t>
            </a:r>
          </a:p>
        </p:txBody>
      </p:sp>
      <p:sp>
        <p:nvSpPr>
          <p:cNvPr id="14" name="Rectangle: Rounded Corners 13">
            <a:extLst>
              <a:ext uri="{FF2B5EF4-FFF2-40B4-BE49-F238E27FC236}">
                <a16:creationId xmlns:a16="http://schemas.microsoft.com/office/drawing/2014/main" id="{93342000-91E4-4ED3-BDE5-1610BCA6D98E}"/>
              </a:ext>
            </a:extLst>
          </p:cNvPr>
          <p:cNvSpPr/>
          <p:nvPr/>
        </p:nvSpPr>
        <p:spPr>
          <a:xfrm>
            <a:off x="6217920" y="4574239"/>
            <a:ext cx="2252312" cy="8855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Cloud Operator</a:t>
            </a:r>
          </a:p>
        </p:txBody>
      </p:sp>
      <p:sp>
        <p:nvSpPr>
          <p:cNvPr id="15" name="Rectangle: Rounded Corners 14">
            <a:extLst>
              <a:ext uri="{FF2B5EF4-FFF2-40B4-BE49-F238E27FC236}">
                <a16:creationId xmlns:a16="http://schemas.microsoft.com/office/drawing/2014/main" id="{83722FD8-0198-4BBD-9CE9-7BF3AD965835}"/>
              </a:ext>
            </a:extLst>
          </p:cNvPr>
          <p:cNvSpPr/>
          <p:nvPr/>
        </p:nvSpPr>
        <p:spPr>
          <a:xfrm>
            <a:off x="6217920" y="5759266"/>
            <a:ext cx="2252312" cy="8855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Central IT</a:t>
            </a:r>
          </a:p>
        </p:txBody>
      </p:sp>
      <p:grpSp>
        <p:nvGrpSpPr>
          <p:cNvPr id="25" name="Group 24">
            <a:extLst>
              <a:ext uri="{FF2B5EF4-FFF2-40B4-BE49-F238E27FC236}">
                <a16:creationId xmlns:a16="http://schemas.microsoft.com/office/drawing/2014/main" id="{465060AE-D132-47AC-B602-814C1D7321B1}"/>
              </a:ext>
            </a:extLst>
          </p:cNvPr>
          <p:cNvGrpSpPr/>
          <p:nvPr/>
        </p:nvGrpSpPr>
        <p:grpSpPr>
          <a:xfrm>
            <a:off x="3772516" y="2665042"/>
            <a:ext cx="1893240" cy="1622880"/>
            <a:chOff x="3772516" y="2665042"/>
            <a:chExt cx="1893240" cy="1622880"/>
          </a:xfrm>
        </p:grpSpPr>
        <mc:AlternateContent xmlns:mc="http://schemas.openxmlformats.org/markup-compatibility/2006">
          <mc:Choice xmlns:p14="http://schemas.microsoft.com/office/powerpoint/2010/main" Requires="p14">
            <p:contentPart p14:bwMode="auto" r:id="rId4">
              <p14:nvContentPartPr>
                <p14:cNvPr id="16" name="Ink 15">
                  <a:extLst>
                    <a:ext uri="{FF2B5EF4-FFF2-40B4-BE49-F238E27FC236}">
                      <a16:creationId xmlns:a16="http://schemas.microsoft.com/office/drawing/2014/main" id="{77AA3032-53AD-49FD-B37D-2669FD8D18F5}"/>
                    </a:ext>
                  </a:extLst>
                </p14:cNvPr>
                <p14:cNvContentPartPr/>
                <p14:nvPr/>
              </p14:nvContentPartPr>
              <p14:xfrm>
                <a:off x="3772516" y="2777002"/>
                <a:ext cx="1631520" cy="1240200"/>
              </p14:xfrm>
            </p:contentPart>
          </mc:Choice>
          <mc:Fallback>
            <p:pic>
              <p:nvPicPr>
                <p:cNvPr id="16" name="Ink 15">
                  <a:extLst>
                    <a:ext uri="{FF2B5EF4-FFF2-40B4-BE49-F238E27FC236}">
                      <a16:creationId xmlns:a16="http://schemas.microsoft.com/office/drawing/2014/main" id="{77AA3032-53AD-49FD-B37D-2669FD8D18F5}"/>
                    </a:ext>
                  </a:extLst>
                </p:cNvPr>
                <p:cNvPicPr/>
                <p:nvPr/>
              </p:nvPicPr>
              <p:blipFill>
                <a:blip r:embed="rId5"/>
                <a:stretch>
                  <a:fillRect/>
                </a:stretch>
              </p:blipFill>
              <p:spPr>
                <a:xfrm>
                  <a:off x="3736516" y="2741002"/>
                  <a:ext cx="1703160" cy="13118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7" name="Ink 16">
                  <a:extLst>
                    <a:ext uri="{FF2B5EF4-FFF2-40B4-BE49-F238E27FC236}">
                      <a16:creationId xmlns:a16="http://schemas.microsoft.com/office/drawing/2014/main" id="{FD771D34-D876-451B-A7B0-43E503EAF3C0}"/>
                    </a:ext>
                  </a:extLst>
                </p14:cNvPr>
                <p14:cNvContentPartPr/>
                <p14:nvPr/>
              </p14:nvContentPartPr>
              <p14:xfrm>
                <a:off x="5011996" y="2665042"/>
                <a:ext cx="389880" cy="415800"/>
              </p14:xfrm>
            </p:contentPart>
          </mc:Choice>
          <mc:Fallback>
            <p:pic>
              <p:nvPicPr>
                <p:cNvPr id="17" name="Ink 16">
                  <a:extLst>
                    <a:ext uri="{FF2B5EF4-FFF2-40B4-BE49-F238E27FC236}">
                      <a16:creationId xmlns:a16="http://schemas.microsoft.com/office/drawing/2014/main" id="{FD771D34-D876-451B-A7B0-43E503EAF3C0}"/>
                    </a:ext>
                  </a:extLst>
                </p:cNvPr>
                <p:cNvPicPr/>
                <p:nvPr/>
              </p:nvPicPr>
              <p:blipFill>
                <a:blip r:embed="rId7"/>
                <a:stretch>
                  <a:fillRect/>
                </a:stretch>
              </p:blipFill>
              <p:spPr>
                <a:xfrm>
                  <a:off x="4975996" y="2629011"/>
                  <a:ext cx="461520" cy="487502"/>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8" name="Ink 17">
                  <a:extLst>
                    <a:ext uri="{FF2B5EF4-FFF2-40B4-BE49-F238E27FC236}">
                      <a16:creationId xmlns:a16="http://schemas.microsoft.com/office/drawing/2014/main" id="{53D4A94A-B458-41D8-9F61-0A56C8B4691B}"/>
                    </a:ext>
                  </a:extLst>
                </p14:cNvPr>
                <p14:cNvContentPartPr/>
                <p14:nvPr/>
              </p14:nvContentPartPr>
              <p14:xfrm>
                <a:off x="3843436" y="4059322"/>
                <a:ext cx="1526040" cy="228600"/>
              </p14:xfrm>
            </p:contentPart>
          </mc:Choice>
          <mc:Fallback>
            <p:pic>
              <p:nvPicPr>
                <p:cNvPr id="18" name="Ink 17">
                  <a:extLst>
                    <a:ext uri="{FF2B5EF4-FFF2-40B4-BE49-F238E27FC236}">
                      <a16:creationId xmlns:a16="http://schemas.microsoft.com/office/drawing/2014/main" id="{53D4A94A-B458-41D8-9F61-0A56C8B4691B}"/>
                    </a:ext>
                  </a:extLst>
                </p:cNvPr>
                <p:cNvPicPr/>
                <p:nvPr/>
              </p:nvPicPr>
              <p:blipFill>
                <a:blip r:embed="rId9"/>
                <a:stretch>
                  <a:fillRect/>
                </a:stretch>
              </p:blipFill>
              <p:spPr>
                <a:xfrm>
                  <a:off x="3807436" y="4023322"/>
                  <a:ext cx="159768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9" name="Ink 18">
                  <a:extLst>
                    <a:ext uri="{FF2B5EF4-FFF2-40B4-BE49-F238E27FC236}">
                      <a16:creationId xmlns:a16="http://schemas.microsoft.com/office/drawing/2014/main" id="{FAA1E7FE-118F-4411-8705-7FC992C0AA7C}"/>
                    </a:ext>
                  </a:extLst>
                </p14:cNvPr>
                <p14:cNvContentPartPr/>
                <p14:nvPr/>
              </p14:nvContentPartPr>
              <p14:xfrm>
                <a:off x="5198836" y="3823882"/>
                <a:ext cx="466920" cy="372240"/>
              </p14:xfrm>
            </p:contentPart>
          </mc:Choice>
          <mc:Fallback>
            <p:pic>
              <p:nvPicPr>
                <p:cNvPr id="19" name="Ink 18">
                  <a:extLst>
                    <a:ext uri="{FF2B5EF4-FFF2-40B4-BE49-F238E27FC236}">
                      <a16:creationId xmlns:a16="http://schemas.microsoft.com/office/drawing/2014/main" id="{FAA1E7FE-118F-4411-8705-7FC992C0AA7C}"/>
                    </a:ext>
                  </a:extLst>
                </p:cNvPr>
                <p:cNvPicPr/>
                <p:nvPr/>
              </p:nvPicPr>
              <p:blipFill>
                <a:blip r:embed="rId11"/>
                <a:stretch>
                  <a:fillRect/>
                </a:stretch>
              </p:blipFill>
              <p:spPr>
                <a:xfrm>
                  <a:off x="5162836" y="3787882"/>
                  <a:ext cx="538560" cy="443880"/>
                </a:xfrm>
                <a:prstGeom prst="rect">
                  <a:avLst/>
                </a:prstGeom>
              </p:spPr>
            </p:pic>
          </mc:Fallback>
        </mc:AlternateContent>
      </p:grpSp>
      <p:grpSp>
        <p:nvGrpSpPr>
          <p:cNvPr id="24" name="Group 23">
            <a:extLst>
              <a:ext uri="{FF2B5EF4-FFF2-40B4-BE49-F238E27FC236}">
                <a16:creationId xmlns:a16="http://schemas.microsoft.com/office/drawing/2014/main" id="{C1CCF9AF-80C7-47BE-98AE-2779007A7C1A}"/>
              </a:ext>
            </a:extLst>
          </p:cNvPr>
          <p:cNvGrpSpPr/>
          <p:nvPr/>
        </p:nvGrpSpPr>
        <p:grpSpPr>
          <a:xfrm>
            <a:off x="3878716" y="4651522"/>
            <a:ext cx="1804320" cy="1703160"/>
            <a:chOff x="3878716" y="4651522"/>
            <a:chExt cx="1804320" cy="1703160"/>
          </a:xfrm>
        </p:grpSpPr>
        <mc:AlternateContent xmlns:mc="http://schemas.openxmlformats.org/markup-compatibility/2006">
          <mc:Choice xmlns:p14="http://schemas.microsoft.com/office/powerpoint/2010/main" Requires="p14">
            <p:contentPart p14:bwMode="auto" r:id="rId12">
              <p14:nvContentPartPr>
                <p14:cNvPr id="20" name="Ink 19">
                  <a:extLst>
                    <a:ext uri="{FF2B5EF4-FFF2-40B4-BE49-F238E27FC236}">
                      <a16:creationId xmlns:a16="http://schemas.microsoft.com/office/drawing/2014/main" id="{9D46CD42-6C47-47CC-A49B-18E543DA3DFD}"/>
                    </a:ext>
                  </a:extLst>
                </p14:cNvPr>
                <p14:cNvContentPartPr/>
                <p14:nvPr/>
              </p14:nvContentPartPr>
              <p14:xfrm>
                <a:off x="3925516" y="4651522"/>
                <a:ext cx="1560240" cy="477720"/>
              </p14:xfrm>
            </p:contentPart>
          </mc:Choice>
          <mc:Fallback>
            <p:pic>
              <p:nvPicPr>
                <p:cNvPr id="20" name="Ink 19">
                  <a:extLst>
                    <a:ext uri="{FF2B5EF4-FFF2-40B4-BE49-F238E27FC236}">
                      <a16:creationId xmlns:a16="http://schemas.microsoft.com/office/drawing/2014/main" id="{9D46CD42-6C47-47CC-A49B-18E543DA3DFD}"/>
                    </a:ext>
                  </a:extLst>
                </p:cNvPr>
                <p:cNvPicPr/>
                <p:nvPr/>
              </p:nvPicPr>
              <p:blipFill>
                <a:blip r:embed="rId13"/>
                <a:stretch>
                  <a:fillRect/>
                </a:stretch>
              </p:blipFill>
              <p:spPr>
                <a:xfrm>
                  <a:off x="3889516" y="4615495"/>
                  <a:ext cx="1631880" cy="549414"/>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1" name="Ink 20">
                  <a:extLst>
                    <a:ext uri="{FF2B5EF4-FFF2-40B4-BE49-F238E27FC236}">
                      <a16:creationId xmlns:a16="http://schemas.microsoft.com/office/drawing/2014/main" id="{E6821EAD-0E25-4DDE-AD79-648BA7D81E11}"/>
                    </a:ext>
                  </a:extLst>
                </p14:cNvPr>
                <p14:cNvContentPartPr/>
                <p14:nvPr/>
              </p14:nvContentPartPr>
              <p14:xfrm>
                <a:off x="5272276" y="4806322"/>
                <a:ext cx="410760" cy="436680"/>
              </p14:xfrm>
            </p:contentPart>
          </mc:Choice>
          <mc:Fallback>
            <p:pic>
              <p:nvPicPr>
                <p:cNvPr id="21" name="Ink 20">
                  <a:extLst>
                    <a:ext uri="{FF2B5EF4-FFF2-40B4-BE49-F238E27FC236}">
                      <a16:creationId xmlns:a16="http://schemas.microsoft.com/office/drawing/2014/main" id="{E6821EAD-0E25-4DDE-AD79-648BA7D81E11}"/>
                    </a:ext>
                  </a:extLst>
                </p:cNvPr>
                <p:cNvPicPr/>
                <p:nvPr/>
              </p:nvPicPr>
              <p:blipFill>
                <a:blip r:embed="rId15"/>
                <a:stretch>
                  <a:fillRect/>
                </a:stretch>
              </p:blipFill>
              <p:spPr>
                <a:xfrm>
                  <a:off x="5236276" y="4770322"/>
                  <a:ext cx="482400" cy="5083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2" name="Ink 21">
                  <a:extLst>
                    <a:ext uri="{FF2B5EF4-FFF2-40B4-BE49-F238E27FC236}">
                      <a16:creationId xmlns:a16="http://schemas.microsoft.com/office/drawing/2014/main" id="{0358BA54-0176-4F9F-B8E1-1B08071C5D39}"/>
                    </a:ext>
                  </a:extLst>
                </p14:cNvPr>
                <p14:cNvContentPartPr/>
                <p14:nvPr/>
              </p14:nvContentPartPr>
              <p14:xfrm>
                <a:off x="3878716" y="5254522"/>
                <a:ext cx="1515240" cy="877320"/>
              </p14:xfrm>
            </p:contentPart>
          </mc:Choice>
          <mc:Fallback>
            <p:pic>
              <p:nvPicPr>
                <p:cNvPr id="22" name="Ink 21">
                  <a:extLst>
                    <a:ext uri="{FF2B5EF4-FFF2-40B4-BE49-F238E27FC236}">
                      <a16:creationId xmlns:a16="http://schemas.microsoft.com/office/drawing/2014/main" id="{0358BA54-0176-4F9F-B8E1-1B08071C5D39}"/>
                    </a:ext>
                  </a:extLst>
                </p:cNvPr>
                <p:cNvPicPr/>
                <p:nvPr/>
              </p:nvPicPr>
              <p:blipFill>
                <a:blip r:embed="rId17"/>
                <a:stretch>
                  <a:fillRect/>
                </a:stretch>
              </p:blipFill>
              <p:spPr>
                <a:xfrm>
                  <a:off x="3842716" y="5218522"/>
                  <a:ext cx="1586880" cy="948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3" name="Ink 22">
                  <a:extLst>
                    <a:ext uri="{FF2B5EF4-FFF2-40B4-BE49-F238E27FC236}">
                      <a16:creationId xmlns:a16="http://schemas.microsoft.com/office/drawing/2014/main" id="{142E34FD-4917-47F0-9EE7-6CEC35C0C189}"/>
                    </a:ext>
                  </a:extLst>
                </p14:cNvPr>
                <p14:cNvContentPartPr/>
                <p14:nvPr/>
              </p14:nvContentPartPr>
              <p14:xfrm>
                <a:off x="4872316" y="5792362"/>
                <a:ext cx="651240" cy="562320"/>
              </p14:xfrm>
            </p:contentPart>
          </mc:Choice>
          <mc:Fallback>
            <p:pic>
              <p:nvPicPr>
                <p:cNvPr id="23" name="Ink 22">
                  <a:extLst>
                    <a:ext uri="{FF2B5EF4-FFF2-40B4-BE49-F238E27FC236}">
                      <a16:creationId xmlns:a16="http://schemas.microsoft.com/office/drawing/2014/main" id="{142E34FD-4917-47F0-9EE7-6CEC35C0C189}"/>
                    </a:ext>
                  </a:extLst>
                </p:cNvPr>
                <p:cNvPicPr/>
                <p:nvPr/>
              </p:nvPicPr>
              <p:blipFill>
                <a:blip r:embed="rId19"/>
                <a:stretch>
                  <a:fillRect/>
                </a:stretch>
              </p:blipFill>
              <p:spPr>
                <a:xfrm>
                  <a:off x="4836296" y="5756362"/>
                  <a:ext cx="722920" cy="633960"/>
                </a:xfrm>
                <a:prstGeom prst="rect">
                  <a:avLst/>
                </a:prstGeom>
              </p:spPr>
            </p:pic>
          </mc:Fallback>
        </mc:AlternateContent>
      </p:grpSp>
    </p:spTree>
    <p:extLst>
      <p:ext uri="{BB962C8B-B14F-4D97-AF65-F5344CB8AC3E}">
        <p14:creationId xmlns:p14="http://schemas.microsoft.com/office/powerpoint/2010/main" val="40510852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1085</Words>
  <Application>Microsoft Office PowerPoint</Application>
  <PresentationFormat>Widescreen</PresentationFormat>
  <Paragraphs>272</Paragraphs>
  <Slides>24</Slides>
  <Notes>5</Notes>
  <HiddenSlides>3</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 Unicode MS</vt:lpstr>
      <vt:lpstr>Merriweather</vt:lpstr>
      <vt:lpstr>Arial</vt:lpstr>
      <vt:lpstr>Calibri</vt:lpstr>
      <vt:lpstr>Calibri Light</vt:lpstr>
      <vt:lpstr>Segoe UI Semibold</vt:lpstr>
      <vt:lpstr>Office Theme</vt:lpstr>
      <vt:lpstr>Container Observability and Monitoring</vt:lpstr>
      <vt:lpstr>About … </vt:lpstr>
      <vt:lpstr>Agenda</vt:lpstr>
      <vt:lpstr>Monitoring Paradigm Shift with Microservice and Containers</vt:lpstr>
      <vt:lpstr>What is Observability? </vt:lpstr>
      <vt:lpstr>Observability </vt:lpstr>
      <vt:lpstr>Observability Example) Application Digital Footprints</vt:lpstr>
      <vt:lpstr>PowerPoint Presentation</vt:lpstr>
      <vt:lpstr>Gap in Stack </vt:lpstr>
      <vt:lpstr>Who would monitor containers?</vt:lpstr>
      <vt:lpstr>Container bringing changes to IT Organization</vt:lpstr>
      <vt:lpstr>Container bringing changes to IT Organization</vt:lpstr>
      <vt:lpstr>Troubleshooting Example</vt:lpstr>
      <vt:lpstr>Personas and Stacks</vt:lpstr>
      <vt:lpstr>PowerPoint Presentation</vt:lpstr>
      <vt:lpstr>Development Experience</vt:lpstr>
      <vt:lpstr>Monitoring Vendors</vt:lpstr>
      <vt:lpstr>Container Insights with Prometheus Integration</vt:lpstr>
      <vt:lpstr>Microservice is Distributed System</vt:lpstr>
      <vt:lpstr>What to see in monitoring/observability tools? </vt:lpstr>
      <vt:lpstr>Thank you</vt:lpstr>
      <vt:lpstr>Questions: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Container Observability and Monitoring</dc:title>
  <dc:creator>Keiko Harada</dc:creator>
  <cp:lastModifiedBy>Keiko Harada</cp:lastModifiedBy>
  <cp:revision>3</cp:revision>
  <dcterms:created xsi:type="dcterms:W3CDTF">2020-04-23T12:22:25Z</dcterms:created>
  <dcterms:modified xsi:type="dcterms:W3CDTF">2020-04-23T16:57:18Z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keikhara@microsoft.com</vt:lpwstr>
  </property>
  <property fmtid="{D5CDD505-2E9C-101B-9397-08002B2CF9AE}" pid="5" name="MSIP_Label_f42aa342-8706-4288-bd11-ebb85995028c_SetDate">
    <vt:lpwstr>2020-04-23T13:18:05.3890477Z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b3104566-9074-453c-b7c2-f45ca21dce00</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